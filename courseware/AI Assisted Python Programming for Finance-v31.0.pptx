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921240" y="658368"/>
            <a:ext cx="155448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21240" y="749808"/>
            <a:ext cx="1554480" cy="457200"/>
          </a:xfrm>
          <a:prstGeom prst="rect">
            <a:avLst/>
          </a:prstGeom>
          <a:noFill/>
        </p:spPr>
        <p:txBody>
          <a:bodyPr wrap="square" anchor="t">
            <a:spAutoFit/>
          </a:bodyPr>
          <a:lstStyle/>
          <a:p>
            <a:pPr algn="ctr">
              <a:spcAft>
                <a:spcPts val="400"/>
              </a:spcAft>
            </a:pPr>
            <a:r>
              <a:rPr sz="1700" b="1">
                <a:solidFill>
                  <a:srgbClr val="FFFFFF"/>
                </a:solidFill>
                <a:latin typeface="Arial"/>
              </a:rPr>
              <a:t>IBF-STS</a:t>
            </a:r>
          </a:p>
        </p:txBody>
      </p:sp>
      <p:sp>
        <p:nvSpPr>
          <p:cNvPr id="8" name="TextBox 7"/>
          <p:cNvSpPr txBox="1"/>
          <p:nvPr/>
        </p:nvSpPr>
        <p:spPr>
          <a:xfrm>
            <a:off x="9921240" y="1152144"/>
            <a:ext cx="1554480" cy="365760"/>
          </a:xfrm>
          <a:prstGeom prst="rect">
            <a:avLst/>
          </a:prstGeom>
          <a:noFill/>
        </p:spPr>
        <p:txBody>
          <a:bodyPr wrap="square" anchor="t">
            <a:spAutoFit/>
          </a:bodyPr>
          <a:lstStyle/>
          <a:p>
            <a:pPr algn="ctr">
              <a:spcAft>
                <a:spcPts val="400"/>
              </a:spcAft>
            </a:pPr>
            <a:r>
              <a:rPr sz="800" b="1">
                <a:solidFill>
                  <a:srgbClr val="FFFFFF"/>
                </a:solidFill>
                <a:latin typeface="Arial"/>
              </a:rPr>
              <a:t>ACCREDITED</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IBF-STS ACCREDITED</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Assisted Python Programming for Finance</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TGS-2025052659   ·   IBF Standard: FSE-DIT-3018-1.1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v31.0  ·  20 July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DIGITAL ATTENDANCE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It is mandatory to take the AM, PM and Assessment digital attendance for this funded course.</a:t>
            </a:r>
          </a:p>
          <a:p>
            <a:pPr>
              <a:spcAft>
                <a:spcPts val="1000"/>
              </a:spcAft>
            </a:pPr>
            <a:r>
              <a:rPr sz="2000" b="0">
                <a:solidFill>
                  <a:srgbClr val="161B26"/>
                </a:solidFill>
                <a:latin typeface="Arial"/>
              </a:rPr>
              <a:t>•  The trainer/administrator displays the digital attendance QR code from the training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IBF-STS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28216"/>
            <a:ext cx="6949440" cy="592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28216"/>
            <a:ext cx="91440" cy="592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28216"/>
            <a:ext cx="6400800" cy="592836"/>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03932"/>
            <a:ext cx="6949440" cy="592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03932"/>
            <a:ext cx="91440" cy="592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03932"/>
            <a:ext cx="6400800" cy="592836"/>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9648"/>
            <a:ext cx="6949440" cy="592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9648"/>
            <a:ext cx="91440" cy="592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9648"/>
            <a:ext cx="6400800" cy="592836"/>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55364"/>
            <a:ext cx="6949440" cy="592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55364"/>
            <a:ext cx="91440" cy="592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55364"/>
            <a:ext cx="6400800" cy="592836"/>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831080"/>
            <a:ext cx="6949440" cy="592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831080"/>
            <a:ext cx="91440" cy="592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831080"/>
            <a:ext cx="6400800" cy="592836"/>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606796"/>
            <a:ext cx="6949440" cy="592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606796"/>
            <a:ext cx="91440" cy="592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606796"/>
            <a:ext cx="6400800" cy="592836"/>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28216"/>
            <a:ext cx="6949440" cy="980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28216"/>
            <a:ext cx="91440" cy="98069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28216"/>
            <a:ext cx="6400800" cy="980694"/>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891790"/>
            <a:ext cx="6949440" cy="980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891790"/>
            <a:ext cx="91440" cy="98069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891790"/>
            <a:ext cx="6400800" cy="980694"/>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Python programming, data analytics and AI-assisted software development for financial services.</a:t>
            </a:r>
          </a:p>
        </p:txBody>
      </p:sp>
      <p:sp>
        <p:nvSpPr>
          <p:cNvPr id="19" name="Rectangle 18"/>
          <p:cNvSpPr/>
          <p:nvPr/>
        </p:nvSpPr>
        <p:spPr>
          <a:xfrm>
            <a:off x="4480560" y="4055364"/>
            <a:ext cx="6949440" cy="980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55364"/>
            <a:ext cx="91440" cy="98069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55364"/>
            <a:ext cx="6400800" cy="980694"/>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IBF-accredited and WSQ courses on Python, data analytics, machine learning and AI.</a:t>
            </a:r>
          </a:p>
        </p:txBody>
      </p:sp>
      <p:sp>
        <p:nvSpPr>
          <p:cNvPr id="22" name="Rectangle 21"/>
          <p:cNvSpPr/>
          <p:nvPr/>
        </p:nvSpPr>
        <p:spPr>
          <a:xfrm>
            <a:off x="4480560" y="5218938"/>
            <a:ext cx="6949440" cy="980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218938"/>
            <a:ext cx="91440" cy="98069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218938"/>
            <a:ext cx="6400800" cy="980694"/>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Your name, organisation and role in financial services.</a:t>
            </a:r>
          </a:p>
          <a:p>
            <a:pPr>
              <a:spcAft>
                <a:spcPts val="1000"/>
              </a:spcAft>
            </a:pPr>
            <a:r>
              <a:rPr sz="2000" b="0">
                <a:solidFill>
                  <a:srgbClr val="161B26"/>
                </a:solidFill>
                <a:latin typeface="Arial"/>
              </a:rPr>
              <a:t>•  Your experience with Python, Excel or data analysis (if any).</a:t>
            </a:r>
          </a:p>
          <a:p>
            <a:pPr>
              <a:spcAft>
                <a:spcPts val="1000"/>
              </a:spcAft>
            </a:pPr>
            <a:r>
              <a:rPr sz="2000" b="0">
                <a:solidFill>
                  <a:srgbClr val="161B26"/>
                </a:solidFill>
                <a:latin typeface="Arial"/>
              </a:rPr>
              <a:t>•  The financial analysis or reporting task you most want to automate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6765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59096"/>
            <a:ext cx="3973068" cy="1185672"/>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Access your slides, Learner Guide, lab files and assessment on the LMS/TMS portal.</a:t>
            </a:r>
          </a:p>
          <a:p>
            <a:pPr>
              <a:spcAft>
                <a:spcPts val="1000"/>
              </a:spcAft>
            </a:pPr>
            <a:r>
              <a:rPr sz="2000" b="0">
                <a:solidFill>
                  <a:srgbClr val="161B26"/>
                </a:solidFill>
                <a:latin typeface="Arial"/>
              </a:rPr>
              <a:t>•  Portal: https://lms-tms.tertiaryinfotech.com</a:t>
            </a:r>
          </a:p>
          <a:p>
            <a:pPr>
              <a:spcAft>
                <a:spcPts val="1000"/>
              </a:spcAft>
            </a:pPr>
            <a:r>
              <a:rPr sz="2000" b="0">
                <a:solidFill>
                  <a:srgbClr val="161B26"/>
                </a:solidFill>
                <a:latin typeface="Arial"/>
              </a:rPr>
              <a:t>•  Download the slides and Learner Guide — you may use them during the open-book assessment.</a:t>
            </a:r>
          </a:p>
          <a:p>
            <a:pPr>
              <a:spcAft>
                <a:spcPts val="1000"/>
              </a:spcAft>
            </a:pPr>
            <a:r>
              <a:rPr sz="2000" b="0">
                <a:solidFill>
                  <a:srgbClr val="161B26"/>
                </a:solidFill>
                <a:latin typeface="Arial"/>
              </a:rPr>
              <a:t>•  The lab source files and the combined Jupyter notebook are in the Activities folder.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ACCREDITATION &amp; FUNDING</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About IBF-STS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0594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059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Accreditation</a:t>
            </a:r>
          </a:p>
          <a:p>
            <a:pPr algn="l">
              <a:spcAft>
                <a:spcPts val="300"/>
              </a:spcAft>
            </a:pPr>
            <a:r>
              <a:rPr sz="1200" b="0">
                <a:solidFill>
                  <a:srgbClr val="5B6372"/>
                </a:solidFill>
                <a:latin typeface="Arial"/>
              </a:rPr>
              <a:t>Accredited under the Skills Framework for Financial Services, IBF Standard FSE-DIT-3018-1.1.</a:t>
            </a:r>
          </a:p>
        </p:txBody>
      </p:sp>
      <p:sp>
        <p:nvSpPr>
          <p:cNvPr id="12" name="Rectangle 11"/>
          <p:cNvSpPr/>
          <p:nvPr/>
        </p:nvSpPr>
        <p:spPr>
          <a:xfrm>
            <a:off x="777240" y="2670048"/>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0048"/>
            <a:ext cx="91440" cy="7040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4777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477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798064"/>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Funding</a:t>
            </a:r>
          </a:p>
          <a:p>
            <a:pPr algn="l">
              <a:spcAft>
                <a:spcPts val="300"/>
              </a:spcAft>
            </a:pPr>
            <a:r>
              <a:rPr sz="1200" b="0">
                <a:solidFill>
                  <a:srgbClr val="5B6372"/>
                </a:solidFill>
                <a:latin typeface="Arial"/>
              </a:rPr>
              <a:t>Eligible for the IBF Standards Training Scheme (IBF-STS), subject to all eligibility criteria being met.</a:t>
            </a:r>
          </a:p>
        </p:txBody>
      </p:sp>
      <p:sp>
        <p:nvSpPr>
          <p:cNvPr id="17" name="Rectangle 16"/>
          <p:cNvSpPr/>
          <p:nvPr/>
        </p:nvSpPr>
        <p:spPr>
          <a:xfrm>
            <a:off x="777240" y="3611880"/>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1880"/>
            <a:ext cx="91440" cy="7040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39896"/>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Subsidy</a:t>
            </a:r>
          </a:p>
          <a:p>
            <a:pPr algn="l">
              <a:spcAft>
                <a:spcPts val="300"/>
              </a:spcAft>
            </a:pPr>
            <a:r>
              <a:rPr sz="1200" b="0">
                <a:solidFill>
                  <a:srgbClr val="5B6372"/>
                </a:solidFill>
                <a:latin typeface="Arial"/>
              </a:rPr>
              <a:t>IBF-STS provides 50%–70% course fee subsidy for direct training costs, capped at S$3,000 per candidate per course.</a:t>
            </a:r>
          </a:p>
        </p:txBody>
      </p:sp>
      <p:sp>
        <p:nvSpPr>
          <p:cNvPr id="22" name="Rectangle 21"/>
          <p:cNvSpPr/>
          <p:nvPr/>
        </p:nvSpPr>
        <p:spPr>
          <a:xfrm>
            <a:off x="777240" y="4553712"/>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53712"/>
            <a:ext cx="91440" cy="7040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3143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314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81728"/>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Suitability</a:t>
            </a:r>
          </a:p>
          <a:p>
            <a:pPr algn="l">
              <a:spcAft>
                <a:spcPts val="300"/>
              </a:spcAft>
            </a:pPr>
            <a:r>
              <a:rPr sz="1200" b="0">
                <a:solidFill>
                  <a:srgbClr val="5B6372"/>
                </a:solidFill>
                <a:latin typeface="Arial"/>
              </a:rPr>
              <a:t>Participants should assess the suitability of the course and its relevance to their business activities or job roles.</a:t>
            </a:r>
          </a:p>
        </p:txBody>
      </p:sp>
      <p:sp>
        <p:nvSpPr>
          <p:cNvPr id="27" name="Rectangle 26"/>
          <p:cNvSpPr/>
          <p:nvPr/>
        </p:nvSpPr>
        <p:spPr>
          <a:xfrm>
            <a:off x="777240" y="5495544"/>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95544"/>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732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732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623560"/>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Find out more</a:t>
            </a:r>
          </a:p>
          <a:p>
            <a:pPr algn="l">
              <a:spcAft>
                <a:spcPts val="300"/>
              </a:spcAft>
            </a:pPr>
            <a:r>
              <a:rPr sz="1200" b="0">
                <a:solidFill>
                  <a:srgbClr val="5B6372"/>
                </a:solidFill>
                <a:latin typeface="Arial"/>
              </a:rPr>
              <a:t>Visit www.ibf.org.sg for the full eligibility criteria and quantum.</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21208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28216"/>
            <a:ext cx="507492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11096"/>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11096"/>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1" name="TextBox 10"/>
          <p:cNvSpPr txBox="1"/>
          <p:nvPr/>
        </p:nvSpPr>
        <p:spPr>
          <a:xfrm>
            <a:off x="1005840" y="2340864"/>
            <a:ext cx="4754880" cy="3721608"/>
          </a:xfrm>
          <a:prstGeom prst="rect">
            <a:avLst/>
          </a:prstGeom>
          <a:noFill/>
        </p:spPr>
        <p:txBody>
          <a:bodyPr wrap="square">
            <a:normAutofit fontScale="60000" lnSpcReduction="10000"/>
          </a:bodyPr>
          <a:lstStyle/>
          <a:p>
            <a:pPr>
              <a:spcAft>
                <a:spcPts val="500"/>
              </a:spcAft>
            </a:pPr>
            <a:r>
              <a:rPr sz="1300" b="0">
                <a:solidFill>
                  <a:srgbClr val="161B26"/>
                </a:solidFill>
                <a:latin typeface="Arial"/>
              </a:rPr>
              <a:t>•  Day 1 — Python Foundations for Finance — environment, data types and control structures</a:t>
            </a:r>
          </a:p>
          <a:p>
            <a:pPr>
              <a:spcAft>
                <a:spcPts val="500"/>
              </a:spcAft>
            </a:pPr>
            <a:r>
              <a:rPr sz="1100" b="0">
                <a:solidFill>
                  <a:srgbClr val="5B6372"/>
                </a:solidFill>
                <a:latin typeface="Arial"/>
              </a:rPr>
              <a:t>–  Topic 1: Introduction to Python Programming (Labs 1–4)</a:t>
            </a:r>
          </a:p>
          <a:p>
            <a:pPr>
              <a:spcAft>
                <a:spcPts val="500"/>
              </a:spcAft>
            </a:pPr>
            <a:r>
              <a:rPr sz="1100" b="0">
                <a:solidFill>
                  <a:srgbClr val="5B6372"/>
                </a:solidFill>
                <a:latin typeface="Arial"/>
              </a:rPr>
              <a:t>–  Topic 2: Data Types and Operators (Labs 5–12)</a:t>
            </a:r>
          </a:p>
          <a:p>
            <a:pPr>
              <a:spcAft>
                <a:spcPts val="500"/>
              </a:spcAft>
            </a:pPr>
            <a:r>
              <a:rPr sz="1100" b="0">
                <a:solidFill>
                  <a:srgbClr val="5B6372"/>
                </a:solidFill>
                <a:latin typeface="Arial"/>
              </a:rPr>
              <a:t>–  Topic 3: Problem Solving with Control Structures (Labs 13–20)</a:t>
            </a:r>
          </a:p>
          <a:p>
            <a:pPr>
              <a:spcAft>
                <a:spcPts val="500"/>
              </a:spcAft>
            </a:pPr>
            <a:r>
              <a:rPr sz="1300" b="0">
                <a:solidFill>
                  <a:srgbClr val="161B26"/>
                </a:solidFill>
                <a:latin typeface="Arial"/>
              </a:rPr>
              <a:t>•  Day 2 — Reusable and Robust Code — functions, lambda and exception handling</a:t>
            </a:r>
          </a:p>
          <a:p>
            <a:pPr>
              <a:spcAft>
                <a:spcPts val="500"/>
              </a:spcAft>
            </a:pPr>
            <a:r>
              <a:rPr sz="1100" b="0">
                <a:solidFill>
                  <a:srgbClr val="5B6372"/>
                </a:solidFill>
                <a:latin typeface="Arial"/>
              </a:rPr>
              <a:t>–  Topic 4: Scripting with Function and Lambda (Labs 21–28)</a:t>
            </a:r>
          </a:p>
          <a:p>
            <a:pPr>
              <a:spcAft>
                <a:spcPts val="500"/>
              </a:spcAft>
            </a:pPr>
            <a:r>
              <a:rPr sz="1100" b="0">
                <a:solidFill>
                  <a:srgbClr val="5B6372"/>
                </a:solidFill>
                <a:latin typeface="Arial"/>
              </a:rPr>
              <a:t>–  Topic 5: Error Handling Using Exception (Labs 29–34)</a:t>
            </a:r>
          </a:p>
        </p:txBody>
      </p:sp>
      <p:sp>
        <p:nvSpPr>
          <p:cNvPr id="12" name="TextBox 11"/>
          <p:cNvSpPr txBox="1"/>
          <p:nvPr/>
        </p:nvSpPr>
        <p:spPr>
          <a:xfrm>
            <a:off x="6583680" y="2340864"/>
            <a:ext cx="4617720" cy="3721608"/>
          </a:xfrm>
          <a:prstGeom prst="rect">
            <a:avLst/>
          </a:prstGeom>
          <a:noFill/>
        </p:spPr>
        <p:txBody>
          <a:bodyPr wrap="square">
            <a:normAutofit fontScale="60000" lnSpcReduction="10000"/>
          </a:bodyPr>
          <a:lstStyle/>
          <a:p>
            <a:pPr>
              <a:spcAft>
                <a:spcPts val="500"/>
              </a:spcAft>
            </a:pPr>
            <a:r>
              <a:rPr sz="1300" b="0">
                <a:solidFill>
                  <a:srgbClr val="161B26"/>
                </a:solidFill>
                <a:latin typeface="Arial"/>
              </a:rPr>
              <a:t>•  Day 3 — Financial Data Analysis — pandas, aggregation, visualisation and Streamlit</a:t>
            </a:r>
          </a:p>
          <a:p>
            <a:pPr>
              <a:spcAft>
                <a:spcPts val="500"/>
              </a:spcAft>
            </a:pPr>
            <a:r>
              <a:rPr sz="1100" b="0">
                <a:solidFill>
                  <a:srgbClr val="5B6372"/>
                </a:solidFill>
                <a:latin typeface="Arial"/>
              </a:rPr>
              <a:t>–  Topic 6: Import and Process Finance Data (Labs 35–42)</a:t>
            </a:r>
          </a:p>
          <a:p>
            <a:pPr>
              <a:spcAft>
                <a:spcPts val="500"/>
              </a:spcAft>
            </a:pPr>
            <a:r>
              <a:rPr sz="1100" b="0">
                <a:solidFill>
                  <a:srgbClr val="5B6372"/>
                </a:solidFill>
                <a:latin typeface="Arial"/>
              </a:rPr>
              <a:t>–  Topic 7: Aggregate and Visualize Finance Data (Labs 43–50)</a:t>
            </a:r>
          </a:p>
          <a:p>
            <a:pPr>
              <a:spcAft>
                <a:spcPts val="500"/>
              </a:spcAft>
            </a:pPr>
            <a:r>
              <a:rPr sz="1300" b="0">
                <a:solidFill>
                  <a:srgbClr val="161B26"/>
                </a:solidFill>
                <a:latin typeface="Arial"/>
              </a:rPr>
              <a:t>•  Day 4 — Object-Oriented Finance and Analysis — OOP, apply/pipe, capstone and assessment</a:t>
            </a:r>
          </a:p>
          <a:p>
            <a:pPr>
              <a:spcAft>
                <a:spcPts val="500"/>
              </a:spcAft>
            </a:pPr>
            <a:r>
              <a:rPr sz="1100" b="0">
                <a:solidFill>
                  <a:srgbClr val="5B6372"/>
                </a:solidFill>
                <a:latin typeface="Arial"/>
              </a:rPr>
              <a:t>–  Topic 8: Object Oriented Programming (Labs 51–56)</a:t>
            </a:r>
          </a:p>
          <a:p>
            <a:pPr>
              <a:spcAft>
                <a:spcPts val="500"/>
              </a:spcAft>
            </a:pPr>
            <a:r>
              <a:rPr sz="1100" b="0">
                <a:solidFill>
                  <a:srgbClr val="5B6372"/>
                </a:solidFill>
                <a:latin typeface="Arial"/>
              </a:rPr>
              <a:t>–  Topic 9: Analyze Finance Data (Labs 57–62)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
        <p:nvSpPr>
          <p:cNvPr id="16" name="TextBox 15"/>
          <p:cNvSpPr txBox="1"/>
          <p:nvPr/>
        </p:nvSpPr>
        <p:spPr>
          <a:xfrm>
            <a:off x="777240" y="6144768"/>
            <a:ext cx="10634472" cy="274320"/>
          </a:xfrm>
          <a:prstGeom prst="rect">
            <a:avLst/>
          </a:prstGeom>
          <a:noFill/>
        </p:spPr>
        <p:txBody>
          <a:bodyPr wrap="square" anchor="t">
            <a:spAutoFit/>
          </a:bodyPr>
          <a:lstStyle/>
          <a:p>
            <a:pPr algn="l">
              <a:spcAft>
                <a:spcPts val="400"/>
              </a:spcAft>
            </a:pPr>
            <a:r>
              <a:rPr sz="1200" b="1">
                <a:solidFill>
                  <a:srgbClr val="1F6FEB"/>
                </a:solidFill>
                <a:latin typeface="Arial"/>
              </a:rPr>
              <a:t>Daily timing:  </a:t>
            </a:r>
            <a:r>
              <a:rPr sz="1200" b="0">
                <a:solidFill>
                  <a:srgbClr val="5B6372"/>
                </a:solidFill>
                <a:latin typeface="Arial"/>
              </a:rPr>
              <a:t>9:30am–6:30pm  ·  1-hour lunch break  ·  tea breaks counted within training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9395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23669"/>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2366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LO1</a:t>
            </a:r>
          </a:p>
          <a:p>
            <a:pPr algn="l">
              <a:spcAft>
                <a:spcPts val="300"/>
              </a:spcAft>
            </a:pPr>
            <a:r>
              <a:rPr sz="900" b="0">
                <a:solidFill>
                  <a:srgbClr val="5B6372"/>
                </a:solidFill>
                <a:latin typeface="Arial"/>
              </a:rPr>
              <a:t>Translate business requirements in financial services into Python programming objectives, and set up an AI-assisted…</a:t>
            </a:r>
          </a:p>
        </p:txBody>
      </p:sp>
      <p:sp>
        <p:nvSpPr>
          <p:cNvPr id="12" name="Rectangle 11"/>
          <p:cNvSpPr/>
          <p:nvPr/>
        </p:nvSpPr>
        <p:spPr>
          <a:xfrm>
            <a:off x="6231636" y="172821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9395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23669"/>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2366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LO2</a:t>
            </a:r>
          </a:p>
          <a:p>
            <a:pPr algn="l">
              <a:spcAft>
                <a:spcPts val="300"/>
              </a:spcAft>
            </a:pPr>
            <a:r>
              <a:rPr sz="900" b="0">
                <a:solidFill>
                  <a:srgbClr val="5B6372"/>
                </a:solidFill>
                <a:latin typeface="Arial"/>
              </a:rPr>
              <a:t>Apply Python data types, operators and control structures to solve financial calculation and classification problems.</a:t>
            </a:r>
          </a:p>
        </p:txBody>
      </p:sp>
      <p:sp>
        <p:nvSpPr>
          <p:cNvPr id="17" name="Rectangle 16"/>
          <p:cNvSpPr/>
          <p:nvPr/>
        </p:nvSpPr>
        <p:spPr>
          <a:xfrm>
            <a:off x="777240" y="290550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05506"/>
            <a:ext cx="91440" cy="9395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00959"/>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0095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3352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LO3</a:t>
            </a:r>
          </a:p>
          <a:p>
            <a:pPr algn="l">
              <a:spcAft>
                <a:spcPts val="300"/>
              </a:spcAft>
            </a:pPr>
            <a:r>
              <a:rPr sz="900" b="0">
                <a:solidFill>
                  <a:srgbClr val="5B6372"/>
                </a:solidFill>
                <a:latin typeface="Arial"/>
              </a:rPr>
              <a:t>Construct reusable functions and lambda expressions to compute financial ratios and metrics for business use cases.</a:t>
            </a:r>
          </a:p>
        </p:txBody>
      </p:sp>
      <p:sp>
        <p:nvSpPr>
          <p:cNvPr id="22" name="Rectangle 21"/>
          <p:cNvSpPr/>
          <p:nvPr/>
        </p:nvSpPr>
        <p:spPr>
          <a:xfrm>
            <a:off x="6231636" y="290550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05506"/>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00959"/>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0095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3352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LO4</a:t>
            </a:r>
          </a:p>
          <a:p>
            <a:pPr algn="l">
              <a:spcAft>
                <a:spcPts val="300"/>
              </a:spcAft>
            </a:pPr>
            <a:r>
              <a:rPr sz="900" b="0">
                <a:solidFill>
                  <a:srgbClr val="5B6372"/>
                </a:solidFill>
                <a:latin typeface="Arial"/>
              </a:rPr>
              <a:t>Implement error handling to build robust financial programs that survive missing, zero or malformed market data.</a:t>
            </a:r>
          </a:p>
        </p:txBody>
      </p:sp>
      <p:sp>
        <p:nvSpPr>
          <p:cNvPr id="27" name="Rectangle 26"/>
          <p:cNvSpPr/>
          <p:nvPr/>
        </p:nvSpPr>
        <p:spPr>
          <a:xfrm>
            <a:off x="777240" y="408279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2796"/>
            <a:ext cx="91440" cy="9395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8249"/>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824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081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LO5</a:t>
            </a:r>
          </a:p>
          <a:p>
            <a:pPr algn="l">
              <a:spcAft>
                <a:spcPts val="300"/>
              </a:spcAft>
            </a:pPr>
            <a:r>
              <a:rPr sz="900" b="0">
                <a:solidFill>
                  <a:srgbClr val="5B6372"/>
                </a:solidFill>
                <a:latin typeface="Arial"/>
              </a:rPr>
              <a:t>Import, clean, filter and process financial data using the pandas package.</a:t>
            </a:r>
          </a:p>
        </p:txBody>
      </p:sp>
      <p:sp>
        <p:nvSpPr>
          <p:cNvPr id="32" name="Rectangle 31"/>
          <p:cNvSpPr/>
          <p:nvPr/>
        </p:nvSpPr>
        <p:spPr>
          <a:xfrm>
            <a:off x="6231636" y="408279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2796"/>
            <a:ext cx="91440" cy="9395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8249"/>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824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081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LO6</a:t>
            </a:r>
          </a:p>
          <a:p>
            <a:pPr algn="l">
              <a:spcAft>
                <a:spcPts val="300"/>
              </a:spcAft>
            </a:pPr>
            <a:r>
              <a:rPr sz="900" b="0">
                <a:solidFill>
                  <a:srgbClr val="5B6372"/>
                </a:solidFill>
                <a:latin typeface="Arial"/>
              </a:rPr>
              <a:t>Aggregate and visualise financial data with groupby, pivot tables and charts, and publish the results as an…</a:t>
            </a:r>
          </a:p>
        </p:txBody>
      </p:sp>
      <p:sp>
        <p:nvSpPr>
          <p:cNvPr id="37" name="Rectangle 36"/>
          <p:cNvSpPr/>
          <p:nvPr/>
        </p:nvSpPr>
        <p:spPr>
          <a:xfrm>
            <a:off x="777240" y="526008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60086"/>
            <a:ext cx="91440" cy="9395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55539"/>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5553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8810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LO7</a:t>
            </a:r>
          </a:p>
          <a:p>
            <a:pPr algn="l">
              <a:spcAft>
                <a:spcPts val="300"/>
              </a:spcAft>
            </a:pPr>
            <a:r>
              <a:rPr sz="900" b="0">
                <a:solidFill>
                  <a:srgbClr val="5B6372"/>
                </a:solidFill>
                <a:latin typeface="Arial"/>
              </a:rPr>
              <a:t>Apply object-oriented programming to model financial instruments and analysers.</a:t>
            </a:r>
          </a:p>
        </p:txBody>
      </p:sp>
      <p:sp>
        <p:nvSpPr>
          <p:cNvPr id="42" name="Rectangle 41"/>
          <p:cNvSpPr/>
          <p:nvPr/>
        </p:nvSpPr>
        <p:spPr>
          <a:xfrm>
            <a:off x="6231636" y="526008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60086"/>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55539"/>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5553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8810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LO8</a:t>
            </a:r>
          </a:p>
          <a:p>
            <a:pPr algn="l">
              <a:spcAft>
                <a:spcPts val="300"/>
              </a:spcAft>
            </a:pPr>
            <a:r>
              <a:rPr sz="900" b="0">
                <a:solidFill>
                  <a:srgbClr val="5B6372"/>
                </a:solidFill>
                <a:latin typeface="Arial"/>
              </a:rPr>
              <a:t>Analyse financial data using apply and pipe pipelines, assess code to identify gaps, and test the results.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Agenda — The Nine Topics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0594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059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1: Introduction to Python Programming</a:t>
            </a:r>
          </a:p>
          <a:p>
            <a:pPr algn="l">
              <a:spcAft>
                <a:spcPts val="300"/>
              </a:spcAft>
            </a:pPr>
            <a:r>
              <a:rPr sz="900" b="0">
                <a:solidFill>
                  <a:srgbClr val="5B6372"/>
                </a:solidFill>
                <a:latin typeface="Arial"/>
              </a:rPr>
              <a:t>Business requirements · Applications in financial services · AI-assisted Python IDE setup with uv</a:t>
            </a:r>
          </a:p>
        </p:txBody>
      </p:sp>
      <p:sp>
        <p:nvSpPr>
          <p:cNvPr id="12" name="Rectangle 11"/>
          <p:cNvSpPr/>
          <p:nvPr/>
        </p:nvSpPr>
        <p:spPr>
          <a:xfrm>
            <a:off x="6231636" y="1728216"/>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7040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059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059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2: Data Types and Operators</a:t>
            </a:r>
          </a:p>
          <a:p>
            <a:pPr algn="l">
              <a:spcAft>
                <a:spcPts val="300"/>
              </a:spcAft>
            </a:pPr>
            <a:r>
              <a:rPr sz="900" b="0">
                <a:solidFill>
                  <a:srgbClr val="5B6372"/>
                </a:solidFill>
                <a:latin typeface="Arial"/>
              </a:rPr>
              <a:t>Numbers · Strings · List · Tuple · …</a:t>
            </a:r>
          </a:p>
        </p:txBody>
      </p:sp>
      <p:sp>
        <p:nvSpPr>
          <p:cNvPr id="17" name="Rectangle 16"/>
          <p:cNvSpPr/>
          <p:nvPr/>
        </p:nvSpPr>
        <p:spPr>
          <a:xfrm>
            <a:off x="777240" y="2670048"/>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670048"/>
            <a:ext cx="91440" cy="7040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4777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477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798064"/>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3: Problem Solving with Control Structures</a:t>
            </a:r>
          </a:p>
          <a:p>
            <a:pPr algn="l">
              <a:spcAft>
                <a:spcPts val="300"/>
              </a:spcAft>
            </a:pPr>
            <a:r>
              <a:rPr sz="900" b="0">
                <a:solidFill>
                  <a:srgbClr val="5B6372"/>
                </a:solidFill>
                <a:latin typeface="Arial"/>
              </a:rPr>
              <a:t>If-Else · If-Elif · Ternary · While · …</a:t>
            </a:r>
          </a:p>
        </p:txBody>
      </p:sp>
      <p:sp>
        <p:nvSpPr>
          <p:cNvPr id="22" name="Rectangle 21"/>
          <p:cNvSpPr/>
          <p:nvPr/>
        </p:nvSpPr>
        <p:spPr>
          <a:xfrm>
            <a:off x="6231636" y="2670048"/>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670048"/>
            <a:ext cx="91440" cy="7040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4777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477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798064"/>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4: Scripting with Function and Lambda</a:t>
            </a:r>
          </a:p>
          <a:p>
            <a:pPr algn="l">
              <a:spcAft>
                <a:spcPts val="300"/>
              </a:spcAft>
            </a:pPr>
            <a:r>
              <a:rPr sz="900" b="0">
                <a:solidFill>
                  <a:srgbClr val="5B6372"/>
                </a:solidFill>
                <a:latin typeface="Arial"/>
              </a:rPr>
              <a:t>Functions · Return values · Argument styles · Lambda · …</a:t>
            </a:r>
          </a:p>
        </p:txBody>
      </p:sp>
      <p:sp>
        <p:nvSpPr>
          <p:cNvPr id="27" name="Rectangle 26"/>
          <p:cNvSpPr/>
          <p:nvPr/>
        </p:nvSpPr>
        <p:spPr>
          <a:xfrm>
            <a:off x="777240" y="3611880"/>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11880"/>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89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39896"/>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5: Error Handling Using Exception</a:t>
            </a:r>
          </a:p>
          <a:p>
            <a:pPr algn="l">
              <a:spcAft>
                <a:spcPts val="300"/>
              </a:spcAft>
            </a:pPr>
            <a:r>
              <a:rPr sz="900" b="0">
                <a:solidFill>
                  <a:srgbClr val="5B6372"/>
                </a:solidFill>
                <a:latin typeface="Arial"/>
              </a:rPr>
              <a:t>Exceptions versus syntax errors · Try and Except · Else clause · Finally</a:t>
            </a:r>
          </a:p>
        </p:txBody>
      </p:sp>
      <p:sp>
        <p:nvSpPr>
          <p:cNvPr id="32" name="Rectangle 31"/>
          <p:cNvSpPr/>
          <p:nvPr/>
        </p:nvSpPr>
        <p:spPr>
          <a:xfrm>
            <a:off x="6231636" y="3611880"/>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11880"/>
            <a:ext cx="91440" cy="7040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89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39896"/>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6: Import and Process Finance Data</a:t>
            </a:r>
          </a:p>
          <a:p>
            <a:pPr algn="l">
              <a:spcAft>
                <a:spcPts val="300"/>
              </a:spcAft>
            </a:pPr>
            <a:r>
              <a:rPr sz="900" b="0">
                <a:solidFill>
                  <a:srgbClr val="5B6372"/>
                </a:solidFill>
                <a:latin typeface="Arial"/>
              </a:rPr>
              <a:t>Pandas package · DataFrame and Series · Import · Filter and slice · …</a:t>
            </a:r>
          </a:p>
        </p:txBody>
      </p:sp>
      <p:sp>
        <p:nvSpPr>
          <p:cNvPr id="37" name="Rectangle 36"/>
          <p:cNvSpPr/>
          <p:nvPr/>
        </p:nvSpPr>
        <p:spPr>
          <a:xfrm>
            <a:off x="777240" y="4553712"/>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53712"/>
            <a:ext cx="91440" cy="7040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3143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314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81728"/>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7: Aggregate and Visualize Finance Data</a:t>
            </a:r>
          </a:p>
          <a:p>
            <a:pPr algn="l">
              <a:spcAft>
                <a:spcPts val="300"/>
              </a:spcAft>
            </a:pPr>
            <a:r>
              <a:rPr sz="900" b="0">
                <a:solidFill>
                  <a:srgbClr val="5B6372"/>
                </a:solidFill>
                <a:latin typeface="Arial"/>
              </a:rPr>
              <a:t>Concat, append and merge · Groupby · Pivot table · Assess code for gaps · …</a:t>
            </a:r>
          </a:p>
        </p:txBody>
      </p:sp>
      <p:sp>
        <p:nvSpPr>
          <p:cNvPr id="42" name="Rectangle 41"/>
          <p:cNvSpPr/>
          <p:nvPr/>
        </p:nvSpPr>
        <p:spPr>
          <a:xfrm>
            <a:off x="6231636" y="4553712"/>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53712"/>
            <a:ext cx="91440" cy="7040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3143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314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81728"/>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8: Object Oriented Programming</a:t>
            </a:r>
          </a:p>
          <a:p>
            <a:pPr algn="l">
              <a:spcAft>
                <a:spcPts val="300"/>
              </a:spcAft>
            </a:pPr>
            <a:r>
              <a:rPr sz="900" b="0">
                <a:solidFill>
                  <a:srgbClr val="5B6372"/>
                </a:solidFill>
                <a:latin typeface="Arial"/>
              </a:rPr>
              <a:t>Classes and objects · Methods and overloading · Initializer and destructor · Inheritance · …</a:t>
            </a:r>
          </a:p>
        </p:txBody>
      </p:sp>
      <p:sp>
        <p:nvSpPr>
          <p:cNvPr id="47" name="Rectangle 46"/>
          <p:cNvSpPr/>
          <p:nvPr/>
        </p:nvSpPr>
        <p:spPr>
          <a:xfrm>
            <a:off x="777240" y="5495544"/>
            <a:ext cx="5180076"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95544"/>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732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732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623560"/>
            <a:ext cx="3973068" cy="521208"/>
          </a:xfrm>
          <a:prstGeom prst="rect">
            <a:avLst/>
          </a:prstGeom>
          <a:noFill/>
        </p:spPr>
        <p:txBody>
          <a:bodyPr wrap="square" anchor="ctr">
            <a:spAutoFit/>
          </a:bodyPr>
          <a:lstStyle/>
          <a:p>
            <a:pPr algn="l">
              <a:spcAft>
                <a:spcPts val="300"/>
              </a:spcAft>
            </a:pPr>
            <a:r>
              <a:rPr sz="1300" b="1">
                <a:solidFill>
                  <a:srgbClr val="161B26"/>
                </a:solidFill>
                <a:latin typeface="Arial"/>
              </a:rPr>
              <a:t>Topic 9: Analyze Finance Data</a:t>
            </a:r>
          </a:p>
          <a:p>
            <a:pPr algn="l">
              <a:spcAft>
                <a:spcPts val="300"/>
              </a:spcAft>
            </a:pPr>
            <a:r>
              <a:rPr sz="900" b="0">
                <a:solidFill>
                  <a:srgbClr val="5B6372"/>
                </a:solidFill>
                <a:latin typeface="Arial"/>
              </a:rPr>
              <a:t>Improve code with apply and pipe · Applications of statistics · Analyse finance data to track changes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START</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Place phones and other materials under the table or on the floor.</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 correction tape.</a:t>
            </a:r>
          </a:p>
          <a:p>
            <a:pPr>
              <a:spcAft>
                <a:spcPts val="1000"/>
              </a:spcAft>
            </a:pPr>
            <a:r>
              <a:rPr sz="2000" b="0">
                <a:solidFill>
                  <a:srgbClr val="161B26"/>
                </a:solidFill>
                <a:latin typeface="Arial"/>
              </a:rPr>
              <a:t>•  Scripts are collected when time is 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Written Assessment (WA) — Short-Answer Questions (SAQ), open-ended, 1 hour, open book.</a:t>
            </a:r>
          </a:p>
          <a:p>
            <a:pPr>
              <a:spcAft>
                <a:spcPts val="1000"/>
              </a:spcAft>
            </a:pPr>
            <a:r>
              <a:rPr sz="2000" b="0">
                <a:solidFill>
                  <a:srgbClr val="161B26"/>
                </a:solidFill>
                <a:latin typeface="Arial"/>
              </a:rPr>
              <a:t>•  Practical Test (PP) — 7 open-ended practical tasks based on the Financial Data Solutions Inc. scenario, mapped to abilities A1.1–A1.9, 120 minutes, open book.</a:t>
            </a:r>
          </a:p>
          <a:p>
            <a:pPr>
              <a:spcAft>
                <a:spcPts val="1000"/>
              </a:spcAft>
            </a:pPr>
            <a:r>
              <a:rPr sz="2000" b="0">
                <a:solidFill>
                  <a:srgbClr val="161B26"/>
                </a:solidFill>
                <a:latin typeface="Arial"/>
              </a:rPr>
              <a:t>•  Passing score: 80%.</a:t>
            </a:r>
          </a:p>
          <a:p>
            <a:pPr>
              <a:spcAft>
                <a:spcPts val="1000"/>
              </a:spcAft>
            </a:pPr>
            <a:r>
              <a:rPr sz="2000" b="0">
                <a:solidFill>
                  <a:srgbClr val="161B26"/>
                </a:solidFill>
                <a:latin typeface="Arial"/>
              </a:rPr>
              <a:t>•  Format: Open Book — slides, Learner Guide and lab files only.</a:t>
            </a:r>
          </a:p>
          <a:p>
            <a:pPr>
              <a:spcAft>
                <a:spcPts val="1000"/>
              </a:spcAft>
            </a:pPr>
            <a:r>
              <a:rPr sz="2000" b="0">
                <a:solidFill>
                  <a:srgbClr val="161B26"/>
                </a:solidFill>
                <a:latin typeface="Arial"/>
              </a:rPr>
              <a:t>•  A minimum of 75% attendance is required to be eligible for assessment and IBF-STS funding. Open book assessment includes the slides, Learner Guide and lab files only.</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QR code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the Practical Test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and code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Python and AI in Financial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Why Python for Finance?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1231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123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The #1 language</a:t>
            </a:r>
          </a:p>
          <a:p>
            <a:pPr algn="l">
              <a:spcAft>
                <a:spcPts val="300"/>
              </a:spcAft>
            </a:pPr>
            <a:r>
              <a:rPr sz="1200" b="0">
                <a:solidFill>
                  <a:srgbClr val="5B6372"/>
                </a:solidFill>
                <a:latin typeface="Arial"/>
              </a:rPr>
              <a:t>Python is consistently ranked the leading programming language, and is the default choice across financial services.</a:t>
            </a:r>
          </a:p>
        </p:txBody>
      </p:sp>
      <p:sp>
        <p:nvSpPr>
          <p:cNvPr id="12" name="Rectangle 11"/>
          <p:cNvSpPr/>
          <p:nvPr/>
        </p:nvSpPr>
        <p:spPr>
          <a:xfrm>
            <a:off x="6231636" y="172821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1231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123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Readable and fast to write</a:t>
            </a:r>
          </a:p>
          <a:p>
            <a:pPr algn="l">
              <a:spcAft>
                <a:spcPts val="300"/>
              </a:spcAft>
            </a:pPr>
            <a:r>
              <a:rPr sz="1200" b="0">
                <a:solidFill>
                  <a:srgbClr val="5B6372"/>
                </a:solidFill>
                <a:latin typeface="Arial"/>
              </a:rPr>
              <a:t>Clear syntax means a financial analyst can read, audit and maintain the code — not just the developer who wrote it.</a:t>
            </a:r>
          </a:p>
        </p:txBody>
      </p:sp>
      <p:sp>
        <p:nvSpPr>
          <p:cNvPr id="17" name="Rectangle 16"/>
          <p:cNvSpPr/>
          <p:nvPr/>
        </p:nvSpPr>
        <p:spPr>
          <a:xfrm>
            <a:off x="777240" y="408279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2796"/>
            <a:ext cx="91440"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6689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6689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081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A vast finance ecosystem</a:t>
            </a:r>
          </a:p>
          <a:p>
            <a:pPr algn="l">
              <a:spcAft>
                <a:spcPts val="300"/>
              </a:spcAft>
            </a:pPr>
            <a:r>
              <a:rPr sz="1200" b="0">
                <a:solidFill>
                  <a:srgbClr val="5B6372"/>
                </a:solidFill>
                <a:latin typeface="Arial"/>
              </a:rPr>
              <a:t>pandas, NumPy, matplotlib, yfinance, scikit-learn and Streamlit cover the entire analysis-to-application pipeline.</a:t>
            </a:r>
          </a:p>
        </p:txBody>
      </p:sp>
      <p:sp>
        <p:nvSpPr>
          <p:cNvPr id="22" name="Rectangle 21"/>
          <p:cNvSpPr/>
          <p:nvPr/>
        </p:nvSpPr>
        <p:spPr>
          <a:xfrm>
            <a:off x="6231636" y="408279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2796"/>
            <a:ext cx="91440"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6689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6689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081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Free and open source</a:t>
            </a:r>
          </a:p>
          <a:p>
            <a:pPr algn="l">
              <a:spcAft>
                <a:spcPts val="300"/>
              </a:spcAft>
            </a:pPr>
            <a:r>
              <a:rPr sz="1200" b="0">
                <a:solidFill>
                  <a:srgbClr val="5B6372"/>
                </a:solidFill>
                <a:latin typeface="Arial"/>
              </a:rPr>
              <a:t>No licence cost, and it runs everywhere — laptop, server, or a browser tab via Google Colab.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IT IS USED</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Use Cases of Python in Financial Services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1149096"/>
          </a:xfrm>
          <a:prstGeom prst="rect">
            <a:avLst/>
          </a:prstGeom>
          <a:noFill/>
        </p:spPr>
        <p:txBody>
          <a:bodyPr wrap="square" anchor="ctr">
            <a:spAutoFit/>
          </a:bodyPr>
          <a:lstStyle/>
          <a:p>
            <a:pPr algn="l">
              <a:spcAft>
                <a:spcPts val="300"/>
              </a:spcAft>
            </a:pPr>
            <a:r>
              <a:rPr sz="1500" b="1">
                <a:solidFill>
                  <a:srgbClr val="161B26"/>
                </a:solidFill>
                <a:latin typeface="Arial"/>
              </a:rPr>
              <a:t>Algorithmic Trading</a:t>
            </a:r>
          </a:p>
          <a:p>
            <a:pPr algn="l">
              <a:spcAft>
                <a:spcPts val="300"/>
              </a:spcAft>
            </a:pPr>
            <a:r>
              <a:rPr sz="1100" b="0">
                <a:solidFill>
                  <a:srgbClr val="5B6372"/>
                </a:solidFill>
                <a:latin typeface="Arial"/>
              </a:rPr>
              <a:t>Developing and backtesting algorithms for stocks, forex and commodities.</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1149096"/>
          </a:xfrm>
          <a:prstGeom prst="rect">
            <a:avLst/>
          </a:prstGeom>
          <a:noFill/>
        </p:spPr>
        <p:txBody>
          <a:bodyPr wrap="square" anchor="ctr">
            <a:spAutoFit/>
          </a:bodyPr>
          <a:lstStyle/>
          <a:p>
            <a:pPr algn="l">
              <a:spcAft>
                <a:spcPts val="300"/>
              </a:spcAft>
            </a:pPr>
            <a:r>
              <a:rPr sz="1500" b="1">
                <a:solidFill>
                  <a:srgbClr val="161B26"/>
                </a:solidFill>
                <a:latin typeface="Arial"/>
              </a:rPr>
              <a:t>Financial Analysis &amp; Modelling</a:t>
            </a:r>
          </a:p>
          <a:p>
            <a:pPr algn="l">
              <a:spcAft>
                <a:spcPts val="300"/>
              </a:spcAft>
            </a:pPr>
            <a:r>
              <a:rPr sz="1100" b="0">
                <a:solidFill>
                  <a:srgbClr val="5B6372"/>
                </a:solidFill>
                <a:latin typeface="Arial"/>
              </a:rPr>
              <a:t>pandas and NumPy for analysis; matplotlib and seaborn for visualisation.</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25952"/>
            <a:ext cx="3973068" cy="1149096"/>
          </a:xfrm>
          <a:prstGeom prst="rect">
            <a:avLst/>
          </a:prstGeom>
          <a:noFill/>
        </p:spPr>
        <p:txBody>
          <a:bodyPr wrap="square" anchor="ctr">
            <a:spAutoFit/>
          </a:bodyPr>
          <a:lstStyle/>
          <a:p>
            <a:pPr algn="l">
              <a:spcAft>
                <a:spcPts val="300"/>
              </a:spcAft>
            </a:pPr>
            <a:r>
              <a:rPr sz="1500" b="1">
                <a:solidFill>
                  <a:srgbClr val="161B26"/>
                </a:solidFill>
                <a:latin typeface="Arial"/>
              </a:rPr>
              <a:t>Portfolio Management</a:t>
            </a:r>
          </a:p>
          <a:p>
            <a:pPr algn="l">
              <a:spcAft>
                <a:spcPts val="300"/>
              </a:spcAft>
            </a:pPr>
            <a:r>
              <a:rPr sz="1100" b="0">
                <a:solidFill>
                  <a:srgbClr val="5B6372"/>
                </a:solidFill>
                <a:latin typeface="Arial"/>
              </a:rPr>
              <a:t>Construction, analysis and optimisation of portfolios against risk and return targets.</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25952"/>
            <a:ext cx="3973068" cy="1149096"/>
          </a:xfrm>
          <a:prstGeom prst="rect">
            <a:avLst/>
          </a:prstGeom>
          <a:noFill/>
        </p:spPr>
        <p:txBody>
          <a:bodyPr wrap="square" anchor="ctr">
            <a:spAutoFit/>
          </a:bodyPr>
          <a:lstStyle/>
          <a:p>
            <a:pPr algn="l">
              <a:spcAft>
                <a:spcPts val="300"/>
              </a:spcAft>
            </a:pPr>
            <a:r>
              <a:rPr sz="1500" b="1">
                <a:solidFill>
                  <a:srgbClr val="161B26"/>
                </a:solidFill>
                <a:latin typeface="Arial"/>
              </a:rPr>
              <a:t>Fraud Detection</a:t>
            </a:r>
          </a:p>
          <a:p>
            <a:pPr algn="l">
              <a:spcAft>
                <a:spcPts val="300"/>
              </a:spcAft>
            </a:pPr>
            <a:r>
              <a:rPr sz="1100" b="0">
                <a:solidFill>
                  <a:srgbClr val="5B6372"/>
                </a:solidFill>
                <a:latin typeface="Arial"/>
              </a:rPr>
              <a:t>Machine-learning libraries such as scikit-learn and TensorFlow to detect anomalous transactions.</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95672"/>
            <a:ext cx="3973068" cy="1149096"/>
          </a:xfrm>
          <a:prstGeom prst="rect">
            <a:avLst/>
          </a:prstGeom>
          <a:noFill/>
        </p:spPr>
        <p:txBody>
          <a:bodyPr wrap="square" anchor="ctr">
            <a:spAutoFit/>
          </a:bodyPr>
          <a:lstStyle/>
          <a:p>
            <a:pPr algn="l">
              <a:spcAft>
                <a:spcPts val="300"/>
              </a:spcAft>
            </a:pPr>
            <a:r>
              <a:rPr sz="1500" b="1">
                <a:solidFill>
                  <a:srgbClr val="161B26"/>
                </a:solidFill>
                <a:latin typeface="Arial"/>
              </a:rPr>
              <a:t>Risk Management</a:t>
            </a:r>
          </a:p>
          <a:p>
            <a:pPr algn="l">
              <a:spcAft>
                <a:spcPts val="300"/>
              </a:spcAft>
            </a:pPr>
            <a:r>
              <a:rPr sz="1100" b="0">
                <a:solidFill>
                  <a:srgbClr val="5B6372"/>
                </a:solidFill>
                <a:latin typeface="Arial"/>
              </a:rPr>
              <a:t>Quantifying credit, market and operational risk, and stress-testing the results.</a:t>
            </a:r>
          </a:p>
        </p:txBody>
      </p:sp>
      <p:sp>
        <p:nvSpPr>
          <p:cNvPr id="32" name="Rectangle 31"/>
          <p:cNvSpPr/>
          <p:nvPr/>
        </p:nvSpPr>
        <p:spPr>
          <a:xfrm>
            <a:off x="6231636"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6765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95672"/>
            <a:ext cx="3973068" cy="1149096"/>
          </a:xfrm>
          <a:prstGeom prst="rect">
            <a:avLst/>
          </a:prstGeom>
          <a:noFill/>
        </p:spPr>
        <p:txBody>
          <a:bodyPr wrap="square" anchor="ctr">
            <a:spAutoFit/>
          </a:bodyPr>
          <a:lstStyle/>
          <a:p>
            <a:pPr algn="l">
              <a:spcAft>
                <a:spcPts val="300"/>
              </a:spcAft>
            </a:pPr>
            <a:r>
              <a:rPr sz="1500" b="1">
                <a:solidFill>
                  <a:srgbClr val="161B26"/>
                </a:solidFill>
                <a:latin typeface="Arial"/>
              </a:rPr>
              <a:t>Reporting &amp; Automation</a:t>
            </a:r>
          </a:p>
          <a:p>
            <a:pPr algn="l">
              <a:spcAft>
                <a:spcPts val="300"/>
              </a:spcAft>
            </a:pPr>
            <a:r>
              <a:rPr sz="1100" b="0">
                <a:solidFill>
                  <a:srgbClr val="5B6372"/>
                </a:solidFill>
                <a:latin typeface="Arial"/>
              </a:rPr>
              <a:t>Replacing manual spreadsheet work with reproducible, auditable scripts.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METHODOLOGY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From Business Requirement to Working Code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1. Understand</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Clarify the business requirement</a:t>
            </a:r>
          </a:p>
          <a:p>
            <a:pPr>
              <a:spcAft>
                <a:spcPts val="900"/>
              </a:spcAft>
            </a:pPr>
            <a:r>
              <a:rPr sz="1400" b="0">
                <a:solidFill>
                  <a:srgbClr val="161B26"/>
                </a:solidFill>
                <a:latin typeface="Arial"/>
              </a:rPr>
              <a:t>•  Identify inputs, outputs and rules</a:t>
            </a:r>
          </a:p>
          <a:p>
            <a:pPr>
              <a:spcAft>
                <a:spcPts val="900"/>
              </a:spcAft>
            </a:pPr>
            <a:r>
              <a:rPr sz="1400" b="0">
                <a:solidFill>
                  <a:srgbClr val="161B26"/>
                </a:solidFill>
                <a:latin typeface="Arial"/>
              </a:rPr>
              <a:t>•  Define what 'correct' means</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2. Build</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Break it into functions</a:t>
            </a:r>
          </a:p>
          <a:p>
            <a:pPr>
              <a:spcAft>
                <a:spcPts val="900"/>
              </a:spcAft>
            </a:pPr>
            <a:r>
              <a:rPr sz="1400" b="0">
                <a:solidFill>
                  <a:srgbClr val="161B26"/>
                </a:solidFill>
                <a:latin typeface="Arial"/>
              </a:rPr>
              <a:t>•  Prompt an AI tool for a first draft</a:t>
            </a:r>
          </a:p>
          <a:p>
            <a:pPr>
              <a:spcAft>
                <a:spcPts val="900"/>
              </a:spcAft>
            </a:pPr>
            <a:r>
              <a:rPr sz="1400" b="0">
                <a:solidFill>
                  <a:srgbClr val="161B26"/>
                </a:solidFill>
                <a:latin typeface="Arial"/>
              </a:rPr>
              <a:t>•  Review, test and correct the code</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3. Deliver</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Handle errors and edge cases</a:t>
            </a:r>
          </a:p>
          <a:p>
            <a:pPr>
              <a:spcAft>
                <a:spcPts val="900"/>
              </a:spcAft>
            </a:pPr>
            <a:r>
              <a:rPr sz="1400" b="0">
                <a:solidFill>
                  <a:srgbClr val="161B26"/>
                </a:solidFill>
                <a:latin typeface="Arial"/>
              </a:rPr>
              <a:t>•  Document for business users</a:t>
            </a:r>
          </a:p>
          <a:p>
            <a:pPr>
              <a:spcAft>
                <a:spcPts val="900"/>
              </a:spcAft>
            </a:pPr>
            <a:r>
              <a:rPr sz="1400" b="0">
                <a:solidFill>
                  <a:srgbClr val="161B26"/>
                </a:solidFill>
                <a:latin typeface="Arial"/>
              </a:rPr>
              <a:t>•  Publish as a report or Streamlit app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GOLDEN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writes the first draft. You are accountable for the result.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Generated code must be read, tested and understood before it touches a financial system — a plausible-looking error in a risk model is worse than no model at 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TOOLS YOU WILL USE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Your AI-Assisted Toolkit</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1231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123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Google Colab</a:t>
            </a:r>
          </a:p>
          <a:p>
            <a:pPr algn="l">
              <a:spcAft>
                <a:spcPts val="300"/>
              </a:spcAft>
            </a:pPr>
            <a:r>
              <a:rPr sz="1200" b="0">
                <a:solidFill>
                  <a:srgbClr val="5B6372"/>
                </a:solidFill>
                <a:latin typeface="Arial"/>
              </a:rPr>
              <a:t>Browser-based notebooks with a built-in Gemini assistant — nothing to install, ideal for the classroom.</a:t>
            </a:r>
          </a:p>
        </p:txBody>
      </p:sp>
      <p:sp>
        <p:nvSpPr>
          <p:cNvPr id="12" name="Rectangle 11"/>
          <p:cNvSpPr/>
          <p:nvPr/>
        </p:nvSpPr>
        <p:spPr>
          <a:xfrm>
            <a:off x="6231636" y="172821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1231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123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Visual Studio Code</a:t>
            </a:r>
          </a:p>
          <a:p>
            <a:pPr algn="l">
              <a:spcAft>
                <a:spcPts val="300"/>
              </a:spcAft>
            </a:pPr>
            <a:r>
              <a:rPr sz="1200" b="0">
                <a:solidFill>
                  <a:srgbClr val="5B6372"/>
                </a:solidFill>
                <a:latin typeface="Arial"/>
              </a:rPr>
              <a:t>The industry-standard editor, with GitHub Copilot for inline AI completion.</a:t>
            </a:r>
          </a:p>
        </p:txBody>
      </p:sp>
      <p:sp>
        <p:nvSpPr>
          <p:cNvPr id="17" name="Rectangle 16"/>
          <p:cNvSpPr/>
          <p:nvPr/>
        </p:nvSpPr>
        <p:spPr>
          <a:xfrm>
            <a:off x="777240" y="408279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2796"/>
            <a:ext cx="91440"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6689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6689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081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Cursor</a:t>
            </a:r>
          </a:p>
          <a:p>
            <a:pPr algn="l">
              <a:spcAft>
                <a:spcPts val="300"/>
              </a:spcAft>
            </a:pPr>
            <a:r>
              <a:rPr sz="1200" b="0">
                <a:solidFill>
                  <a:srgbClr val="5B6372"/>
                </a:solidFill>
                <a:latin typeface="Arial"/>
              </a:rPr>
              <a:t>An AI-first editor that edits across a whole project from a natural-language instruction.</a:t>
            </a:r>
          </a:p>
        </p:txBody>
      </p:sp>
      <p:sp>
        <p:nvSpPr>
          <p:cNvPr id="22" name="Rectangle 21"/>
          <p:cNvSpPr/>
          <p:nvPr/>
        </p:nvSpPr>
        <p:spPr>
          <a:xfrm>
            <a:off x="6231636" y="408279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2796"/>
            <a:ext cx="91440"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6689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6689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081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AntiGravity</a:t>
            </a:r>
          </a:p>
          <a:p>
            <a:pPr algn="l">
              <a:spcAft>
                <a:spcPts val="300"/>
              </a:spcAft>
            </a:pPr>
            <a:r>
              <a:rPr sz="1200" b="0">
                <a:solidFill>
                  <a:srgbClr val="5B6372"/>
                </a:solidFill>
                <a:latin typeface="Arial"/>
              </a:rPr>
              <a:t>Google's agentic development environment for larger, multi-step builds.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EVERY LAB USES uv</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Managing Python Projects with uv</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0594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059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What uv is</a:t>
            </a:r>
          </a:p>
          <a:p>
            <a:pPr algn="l">
              <a:spcAft>
                <a:spcPts val="300"/>
              </a:spcAft>
            </a:pPr>
            <a:r>
              <a:rPr sz="1200" b="0">
                <a:solidFill>
                  <a:srgbClr val="5B6372"/>
                </a:solidFill>
                <a:latin typeface="Arial"/>
              </a:rPr>
              <a:t>A single, very fast tool that replaces pip, virtualenv and pyenv for creating and managing Python projects.</a:t>
            </a:r>
          </a:p>
        </p:txBody>
      </p:sp>
      <p:sp>
        <p:nvSpPr>
          <p:cNvPr id="12" name="Rectangle 11"/>
          <p:cNvSpPr/>
          <p:nvPr/>
        </p:nvSpPr>
        <p:spPr>
          <a:xfrm>
            <a:off x="777240" y="2670048"/>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0048"/>
            <a:ext cx="91440" cy="7040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4777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477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798064"/>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uv init</a:t>
            </a:r>
          </a:p>
          <a:p>
            <a:pPr algn="l">
              <a:spcAft>
                <a:spcPts val="300"/>
              </a:spcAft>
            </a:pPr>
            <a:r>
              <a:rPr sz="1200" b="0">
                <a:solidFill>
                  <a:srgbClr val="5B6372"/>
                </a:solidFill>
                <a:latin typeface="Arial"/>
              </a:rPr>
              <a:t>Creates a new project folder with a pyproject.toml and an isolated environment.</a:t>
            </a:r>
          </a:p>
        </p:txBody>
      </p:sp>
      <p:sp>
        <p:nvSpPr>
          <p:cNvPr id="17" name="Rectangle 16"/>
          <p:cNvSpPr/>
          <p:nvPr/>
        </p:nvSpPr>
        <p:spPr>
          <a:xfrm>
            <a:off x="777240" y="3611880"/>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1880"/>
            <a:ext cx="91440" cy="7040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39896"/>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uv add</a:t>
            </a:r>
          </a:p>
          <a:p>
            <a:pPr algn="l">
              <a:spcAft>
                <a:spcPts val="300"/>
              </a:spcAft>
            </a:pPr>
            <a:r>
              <a:rPr sz="1200" b="0">
                <a:solidFill>
                  <a:srgbClr val="5B6372"/>
                </a:solidFill>
                <a:latin typeface="Arial"/>
              </a:rPr>
              <a:t>Installs a dependency and records it, so the project is reproducible on any machine.</a:t>
            </a:r>
          </a:p>
        </p:txBody>
      </p:sp>
      <p:sp>
        <p:nvSpPr>
          <p:cNvPr id="22" name="Rectangle 21"/>
          <p:cNvSpPr/>
          <p:nvPr/>
        </p:nvSpPr>
        <p:spPr>
          <a:xfrm>
            <a:off x="777240" y="4553712"/>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53712"/>
            <a:ext cx="91440" cy="7040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3143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314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81728"/>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uv run</a:t>
            </a:r>
          </a:p>
          <a:p>
            <a:pPr algn="l">
              <a:spcAft>
                <a:spcPts val="300"/>
              </a:spcAft>
            </a:pPr>
            <a:r>
              <a:rPr sz="1200" b="0">
                <a:solidFill>
                  <a:srgbClr val="5B6372"/>
                </a:solidFill>
                <a:latin typeface="Arial"/>
              </a:rPr>
              <a:t>Runs your script inside the project environment — no manual activation step.</a:t>
            </a:r>
          </a:p>
        </p:txBody>
      </p:sp>
      <p:sp>
        <p:nvSpPr>
          <p:cNvPr id="27" name="Rectangle 26"/>
          <p:cNvSpPr/>
          <p:nvPr/>
        </p:nvSpPr>
        <p:spPr>
          <a:xfrm>
            <a:off x="777240" y="5495544"/>
            <a:ext cx="10634472" cy="704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95544"/>
            <a:ext cx="91440" cy="704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732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732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623560"/>
            <a:ext cx="9427464" cy="52120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Reproducibility is an audit requirement in finance: the same code and the same versions must give the same numbers.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EVERY LAB RUNS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The Lab Workflow</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uv init — create the project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uv add — install pandas, yfinance, streamlit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Prompt the AI tool for a first draft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correct and run with uv run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against the expected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Python Programming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Business requirements · Applications in financial services · AI-assisted Python IDE setup with uv</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8%</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Introduction to Python Programming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Python is the leading language in financial services for algorithmic trading, financial analysis and modelling, portfolio management, fraud detection and risk management.</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Business requirements are translated into programming objectives before any code is written.</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AI-assisted development tools — Google Colab, VS Code, Cursor and AntiGravity — generate, explain and refactor Python code from natural-language prompts.</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uv is the modern Python project manager: `uv init` creates a project, `uv add` installs dependencies, and `uv run` executes scripts in a reproducible environment.</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Every prompt-generated snippet must be reviewed, tested and understood before it enters a production financial system.</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Introduction to Python Programming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Set Up an AI-Assisted Python Environment with uv</a:t>
            </a:r>
          </a:p>
          <a:p>
            <a:pPr>
              <a:spcAft>
                <a:spcPts val="900"/>
              </a:spcAft>
            </a:pPr>
            <a:r>
              <a:rPr sz="1400" b="0">
                <a:solidFill>
                  <a:srgbClr val="161B26"/>
                </a:solidFill>
                <a:latin typeface="Arial"/>
              </a:rPr>
              <a:t>•  Hello World — Your First Finance Script</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CPF Contribution Calculator</a:t>
            </a:r>
          </a:p>
          <a:p>
            <a:pPr>
              <a:spcAft>
                <a:spcPts val="900"/>
              </a:spcAft>
            </a:pPr>
            <a:r>
              <a:rPr sz="1400" b="0">
                <a:solidFill>
                  <a:srgbClr val="161B26"/>
                </a:solidFill>
                <a:latin typeface="Arial"/>
              </a:rPr>
              <a:t>•  From Business Requirement to Programming Objective — SGX Price Fetcher</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Set Up an AI-Assisted Python Environment with uv</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installs uv, creates the first finance project, adds the market-data and analysis dependencies used throughout the course, and confirms that the AI assistant in Google Colab / VS Code / Cursor can generate and explain Python code. The learner then writes the environment check as a short finance script that prints the SGX tickers the course will analyse.</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working uv project `lab-01-hello-finance` with yfinance and pandas installed, and an environment-check script that prints the course SGX watchlist.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yfinance, pandas,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Set Up an AI-Assisted Python Environment with uv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96392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6392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business requirement: a Singapore bank's analyst team needs a repeatable Python environment so that every desk runs the same library versions when valuing SGX equities. Write the requirement as one programming objective.</a:t>
            </a:r>
          </a:p>
        </p:txBody>
      </p:sp>
      <p:sp>
        <p:nvSpPr>
          <p:cNvPr id="11" name="Rectangle 10"/>
          <p:cNvSpPr/>
          <p:nvPr/>
        </p:nvSpPr>
        <p:spPr>
          <a:xfrm>
            <a:off x="777240" y="2711704"/>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9474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474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748280"/>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Install uv, the fast Python package and project manager used for every lab in this course.</a:t>
            </a:r>
          </a:p>
        </p:txBody>
      </p:sp>
      <p:sp>
        <p:nvSpPr>
          <p:cNvPr id="15" name="Rectangle 14"/>
          <p:cNvSpPr/>
          <p:nvPr/>
        </p:nvSpPr>
        <p:spPr>
          <a:xfrm>
            <a:off x="7452360" y="28742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28742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curl -LsSf https://astral.sh/uv/install.sh | sh</a:t>
            </a:r>
          </a:p>
        </p:txBody>
      </p:sp>
      <p:sp>
        <p:nvSpPr>
          <p:cNvPr id="17" name="Rectangle 16"/>
          <p:cNvSpPr/>
          <p:nvPr/>
        </p:nvSpPr>
        <p:spPr>
          <a:xfrm>
            <a:off x="777240" y="3695192"/>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40912"/>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40912"/>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731768"/>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uv is on the PATH and note the version for your lab record.</a:t>
            </a:r>
          </a:p>
        </p:txBody>
      </p:sp>
      <p:sp>
        <p:nvSpPr>
          <p:cNvPr id="21" name="Rectangle 20"/>
          <p:cNvSpPr/>
          <p:nvPr/>
        </p:nvSpPr>
        <p:spPr>
          <a:xfrm>
            <a:off x="7452360" y="3750056"/>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750056"/>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--version</a:t>
            </a:r>
          </a:p>
        </p:txBody>
      </p:sp>
      <p:sp>
        <p:nvSpPr>
          <p:cNvPr id="23" name="Rectangle 22"/>
          <p:cNvSpPr/>
          <p:nvPr/>
        </p:nvSpPr>
        <p:spPr>
          <a:xfrm>
            <a:off x="777240" y="4232656"/>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278376"/>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278376"/>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269232"/>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first project for this topic.</a:t>
            </a:r>
          </a:p>
        </p:txBody>
      </p:sp>
      <p:sp>
        <p:nvSpPr>
          <p:cNvPr id="27" name="Rectangle 26"/>
          <p:cNvSpPr/>
          <p:nvPr/>
        </p:nvSpPr>
        <p:spPr>
          <a:xfrm>
            <a:off x="7452360" y="4287520"/>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287520"/>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lab-01-hello-finance</a:t>
            </a:r>
          </a:p>
        </p:txBody>
      </p:sp>
      <p:sp>
        <p:nvSpPr>
          <p:cNvPr id="29" name="Rectangle 28"/>
          <p:cNvSpPr/>
          <p:nvPr/>
        </p:nvSpPr>
        <p:spPr>
          <a:xfrm>
            <a:off x="777240" y="4770120"/>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815840"/>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15840"/>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806696"/>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Move into the project and pin the Python version the course standardises on.</a:t>
            </a:r>
          </a:p>
        </p:txBody>
      </p:sp>
      <p:sp>
        <p:nvSpPr>
          <p:cNvPr id="33" name="Rectangle 32"/>
          <p:cNvSpPr/>
          <p:nvPr/>
        </p:nvSpPr>
        <p:spPr>
          <a:xfrm>
            <a:off x="7452360" y="4824984"/>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824984"/>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cd lab-01-hello-finance &amp;&amp; uv python pin 3.12</a:t>
            </a:r>
          </a:p>
        </p:txBody>
      </p:sp>
      <p:sp>
        <p:nvSpPr>
          <p:cNvPr id="35" name="Rectangle 34"/>
          <p:cNvSpPr/>
          <p:nvPr/>
        </p:nvSpPr>
        <p:spPr>
          <a:xfrm>
            <a:off x="777240" y="5307584"/>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5432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5432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344160"/>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market-data and analysis dependencies. uv resolves and locks them into pyproject.toml and uv.lock.</a:t>
            </a:r>
          </a:p>
        </p:txBody>
      </p:sp>
      <p:sp>
        <p:nvSpPr>
          <p:cNvPr id="39" name="Rectangle 38"/>
          <p:cNvSpPr/>
          <p:nvPr/>
        </p:nvSpPr>
        <p:spPr>
          <a:xfrm>
            <a:off x="7452360" y="54701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4701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add yfinance pandas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Set Up an AI-Assisted Python Environment with uv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7437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88979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8979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6706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the locked dependency tree — reproducibility is an audit requirement in financial services.</a:t>
            </a:r>
          </a:p>
        </p:txBody>
      </p:sp>
      <p:sp>
        <p:nvSpPr>
          <p:cNvPr id="11" name="Rectangle 10"/>
          <p:cNvSpPr/>
          <p:nvPr/>
        </p:nvSpPr>
        <p:spPr>
          <a:xfrm>
            <a:off x="7452360" y="181664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81664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tree</a:t>
            </a:r>
          </a:p>
        </p:txBody>
      </p:sp>
      <p:sp>
        <p:nvSpPr>
          <p:cNvPr id="13" name="Rectangle 12"/>
          <p:cNvSpPr/>
          <p:nvPr/>
        </p:nvSpPr>
        <p:spPr>
          <a:xfrm>
            <a:off x="777240" y="2563437"/>
            <a:ext cx="10634472" cy="1490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982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982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00013"/>
            <a:ext cx="9692640" cy="141711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(Colab Gemini / Cursor / Copilot chat) with: 'Write a Python script named env_check.py that prints the Python version, the installed yfinance and pandas versions, and then prints a numbered watchlist of these SGX tickers with their company names: D05.SI DBS, U11.SI UOB, O39.SI OCBC, Z74.SI Singtel, C38U.SI CapitaLand Integrated Commercial Trust. Use f-strings and no external API calls.' Save the generated code as env_check.py.</a:t>
            </a:r>
          </a:p>
        </p:txBody>
      </p:sp>
      <p:sp>
        <p:nvSpPr>
          <p:cNvPr id="17" name="Rectangle 16"/>
          <p:cNvSpPr/>
          <p:nvPr/>
        </p:nvSpPr>
        <p:spPr>
          <a:xfrm>
            <a:off x="777240" y="4145141"/>
            <a:ext cx="10634472" cy="7437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3067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0671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181717"/>
            <a:ext cx="9692640" cy="6706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before running it: check that it imports only yfinance and pandas, makes no network call, and that all five tickers carry the correct .SI suffix. Correct anything the assistant got wrong.</a:t>
            </a:r>
          </a:p>
        </p:txBody>
      </p:sp>
      <p:sp>
        <p:nvSpPr>
          <p:cNvPr id="21" name="Rectangle 20"/>
          <p:cNvSpPr/>
          <p:nvPr/>
        </p:nvSpPr>
        <p:spPr>
          <a:xfrm>
            <a:off x="777240" y="498036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02608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02608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01693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 inside the uv-managed environment.</a:t>
            </a:r>
          </a:p>
        </p:txBody>
      </p:sp>
      <p:sp>
        <p:nvSpPr>
          <p:cNvPr id="25" name="Rectangle 24"/>
          <p:cNvSpPr/>
          <p:nvPr/>
        </p:nvSpPr>
        <p:spPr>
          <a:xfrm>
            <a:off x="7452360" y="503522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03522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env_check.py</a:t>
            </a:r>
          </a:p>
        </p:txBody>
      </p:sp>
      <p:sp>
        <p:nvSpPr>
          <p:cNvPr id="27" name="Rectangle 26"/>
          <p:cNvSpPr/>
          <p:nvPr/>
        </p:nvSpPr>
        <p:spPr>
          <a:xfrm>
            <a:off x="777240" y="5455850"/>
            <a:ext cx="10634472" cy="7437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1742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1742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492426"/>
            <a:ext cx="9692640" cy="6706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Record in your lab notes one thing the AI assistant got wrong or left out — this habit of verification is the core discipline of AI-assisted development in a regulated environment.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Set Up an AI-Assisted Python Environment with uv</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`uv run python env_check.py` prints the Python version, the yfinance and pandas versions, and all five SGX tickers with their company names, with no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Hello World — Your First Finance Script</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276856"/>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writes and runs the classic first program, then immediately upgrades it into a finance-relevant script: a trading-desk banner that prints the desk name, the reporting currency, the valuation date and a formatted portfolio value. The lab establishes the prompt-review-test cycle used for every later lab.</a:t>
            </a:r>
          </a:p>
        </p:txBody>
      </p:sp>
      <p:sp>
        <p:nvSpPr>
          <p:cNvPr id="10" name="Rectangle 9"/>
          <p:cNvSpPr/>
          <p:nvPr/>
        </p:nvSpPr>
        <p:spPr>
          <a:xfrm>
            <a:off x="777240" y="3392424"/>
            <a:ext cx="10698480" cy="2807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5701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3904488"/>
            <a:ext cx="10241280" cy="175564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`hello_finance.py` that prints a formatted trading-desk banner with a currency-formatted portfolio value.</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Hello World — Your First Finance Script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and enter the project for this lab.</a:t>
            </a:r>
          </a:p>
        </p:txBody>
      </p:sp>
      <p:sp>
        <p:nvSpPr>
          <p:cNvPr id="11" name="Rectangle 10"/>
          <p:cNvSpPr/>
          <p:nvPr/>
        </p:nvSpPr>
        <p:spPr>
          <a:xfrm>
            <a:off x="7452360" y="1783080"/>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lab-02-hello-world &amp;&amp; cd lab-02-hello-world</a:t>
            </a:r>
          </a:p>
        </p:txBody>
      </p:sp>
      <p:sp>
        <p:nvSpPr>
          <p:cNvPr id="13" name="Rectangle 12"/>
          <p:cNvSpPr/>
          <p:nvPr/>
        </p:nvSpPr>
        <p:spPr>
          <a:xfrm>
            <a:off x="777240" y="2321433"/>
            <a:ext cx="10634472" cy="10035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6128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128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58009"/>
            <a:ext cx="5806440" cy="9304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hello_finance.py containing the single classic line, then run it to prove the toolchain works end to end.</a:t>
            </a:r>
          </a:p>
        </p:txBody>
      </p:sp>
      <p:sp>
        <p:nvSpPr>
          <p:cNvPr id="17" name="Rectangle 16"/>
          <p:cNvSpPr/>
          <p:nvPr/>
        </p:nvSpPr>
        <p:spPr>
          <a:xfrm>
            <a:off x="7452360" y="253974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53974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print('hello world')</a:t>
            </a:r>
          </a:p>
        </p:txBody>
      </p:sp>
      <p:sp>
        <p:nvSpPr>
          <p:cNvPr id="19" name="Rectangle 18"/>
          <p:cNvSpPr/>
          <p:nvPr/>
        </p:nvSpPr>
        <p:spPr>
          <a:xfrm>
            <a:off x="777240" y="3416427"/>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62147"/>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62147"/>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53003"/>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Execute the script with uv.</a:t>
            </a:r>
          </a:p>
        </p:txBody>
      </p:sp>
      <p:sp>
        <p:nvSpPr>
          <p:cNvPr id="23" name="Rectangle 22"/>
          <p:cNvSpPr/>
          <p:nvPr/>
        </p:nvSpPr>
        <p:spPr>
          <a:xfrm>
            <a:off x="7452360" y="3471291"/>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471291"/>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hello_finance.py</a:t>
            </a:r>
          </a:p>
        </p:txBody>
      </p:sp>
      <p:sp>
        <p:nvSpPr>
          <p:cNvPr id="25" name="Rectangle 24"/>
          <p:cNvSpPr/>
          <p:nvPr/>
        </p:nvSpPr>
        <p:spPr>
          <a:xfrm>
            <a:off x="777240" y="4009644"/>
            <a:ext cx="10634472" cy="10035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30110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0110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46220"/>
            <a:ext cx="9692640" cy="9304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Now state the business requirement: the SGD equities desk wants every report to open with a banner showing the desk name, base currency, valuation date and total portfolio value in SGD to two decimal places with thousands separators.</a:t>
            </a:r>
          </a:p>
        </p:txBody>
      </p:sp>
      <p:sp>
        <p:nvSpPr>
          <p:cNvPr id="29" name="Rectangle 28"/>
          <p:cNvSpPr/>
          <p:nvPr/>
        </p:nvSpPr>
        <p:spPr>
          <a:xfrm>
            <a:off x="777240" y="5104638"/>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150358"/>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150358"/>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141214"/>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variables by hand so you understand what the AI will later generate.</a:t>
            </a:r>
          </a:p>
        </p:txBody>
      </p:sp>
      <p:sp>
        <p:nvSpPr>
          <p:cNvPr id="33" name="Rectangle 32"/>
          <p:cNvSpPr/>
          <p:nvPr/>
        </p:nvSpPr>
        <p:spPr>
          <a:xfrm>
            <a:off x="7452360" y="5159502"/>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159502"/>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desk = 'SGD Equities Desk'; base_ccy = 'SGD'; portfolio_value = 12487650.75</a:t>
            </a:r>
          </a:p>
        </p:txBody>
      </p:sp>
      <p:sp>
        <p:nvSpPr>
          <p:cNvPr id="35" name="Rectangle 34"/>
          <p:cNvSpPr/>
          <p:nvPr/>
        </p:nvSpPr>
        <p:spPr>
          <a:xfrm>
            <a:off x="777240" y="5697855"/>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743575"/>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743575"/>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734431"/>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banner using an f-string with currency formatting.</a:t>
            </a:r>
          </a:p>
        </p:txBody>
      </p:sp>
      <p:sp>
        <p:nvSpPr>
          <p:cNvPr id="39" name="Rectangle 38"/>
          <p:cNvSpPr/>
          <p:nvPr/>
        </p:nvSpPr>
        <p:spPr>
          <a:xfrm>
            <a:off x="7452360" y="5752719"/>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752719"/>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print(f'{desk} | {base_ccy} | Portfolio Value: ${portfolio_value:,.2f}')</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Hello World — Your First Finance Script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5739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485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485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5007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'Refactor hello_finance.py so it prints a bordered banner 60 characters wide. The banner must show the desk name, base currency SGD, today's valuation date from datetime, and the portfolio value formatted with a dollar sign, thousands separators and two decimals. Use only the standard library.' Apply the generated code.</a:t>
            </a:r>
          </a:p>
        </p:txBody>
      </p:sp>
      <p:sp>
        <p:nvSpPr>
          <p:cNvPr id="11" name="Rectangle 10"/>
          <p:cNvSpPr/>
          <p:nvPr/>
        </p:nvSpPr>
        <p:spPr>
          <a:xfrm>
            <a:off x="777240" y="3393567"/>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70789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0789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430143"/>
            <a:ext cx="96926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confirm it uses datetime.date.today() rather than a hard-coded date, that the currency format is ,.2f and not .2f, and that no third-party import was added.</a:t>
            </a:r>
          </a:p>
        </p:txBody>
      </p:sp>
      <p:sp>
        <p:nvSpPr>
          <p:cNvPr id="15" name="Rectangle 14"/>
          <p:cNvSpPr/>
          <p:nvPr/>
        </p:nvSpPr>
        <p:spPr>
          <a:xfrm>
            <a:off x="777240" y="4534281"/>
            <a:ext cx="10634472" cy="52463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58628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58628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570857"/>
            <a:ext cx="5806440" cy="45148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refactored script and check the alignment of the banner.</a:t>
            </a:r>
          </a:p>
        </p:txBody>
      </p:sp>
      <p:sp>
        <p:nvSpPr>
          <p:cNvPr id="19" name="Rectangle 18"/>
          <p:cNvSpPr/>
          <p:nvPr/>
        </p:nvSpPr>
        <p:spPr>
          <a:xfrm>
            <a:off x="7452360" y="4589145"/>
            <a:ext cx="3886200" cy="41490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589145"/>
            <a:ext cx="3648456" cy="41490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hello_finance.py</a:t>
            </a:r>
          </a:p>
        </p:txBody>
      </p:sp>
      <p:sp>
        <p:nvSpPr>
          <p:cNvPr id="21" name="Rectangle 20"/>
          <p:cNvSpPr/>
          <p:nvPr/>
        </p:nvSpPr>
        <p:spPr>
          <a:xfrm>
            <a:off x="777240" y="5150358"/>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46468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46468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186934"/>
            <a:ext cx="58064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Change portfolio_value to 0.0 and to 1234567890.12 and re-run — confirm the formatting holds at both extremes.</a:t>
            </a:r>
          </a:p>
        </p:txBody>
      </p:sp>
      <p:sp>
        <p:nvSpPr>
          <p:cNvPr id="25" name="Rectangle 24"/>
          <p:cNvSpPr/>
          <p:nvPr/>
        </p:nvSpPr>
        <p:spPr>
          <a:xfrm>
            <a:off x="7452360" y="539153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39153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hello_finance.py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Hello World — Your First Finance Script</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script prints a bordered banner showing the desk name, SGD, today's date and the portfolio value as $12,487,650.75 — with the comma separators and exactly two decimal places.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CPF Contribution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276856"/>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Mirroring the reference notebook activity, the learner builds a CPF calculator that applies the age-banded employee and employer contribution rates against the Ordinary Wage ceiling, then hardens it with input validation and a formatted contribution breakdown suitable for a payroll report.</a:t>
            </a:r>
          </a:p>
        </p:txBody>
      </p:sp>
      <p:sp>
        <p:nvSpPr>
          <p:cNvPr id="10" name="Rectangle 9"/>
          <p:cNvSpPr/>
          <p:nvPr/>
        </p:nvSpPr>
        <p:spPr>
          <a:xfrm>
            <a:off x="777240" y="3392424"/>
            <a:ext cx="10698480" cy="2807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5701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3904488"/>
            <a:ext cx="10241280" cy="175564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`cpf_calculator.py` that takes a monthly salary and age and prints the employee, employer and total CPF contribution with the wage ceiling applied.</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CPF Contribution Calculator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1783080"/>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lab-03-cpf-calculator &amp;&amp; cd lab-03-cpf-calculator</a:t>
            </a:r>
          </a:p>
        </p:txBody>
      </p:sp>
      <p:sp>
        <p:nvSpPr>
          <p:cNvPr id="13" name="Rectangle 12"/>
          <p:cNvSpPr/>
          <p:nvPr/>
        </p:nvSpPr>
        <p:spPr>
          <a:xfrm>
            <a:off x="777240" y="2265680"/>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50139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50139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02256"/>
            <a:ext cx="96926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business rules in plain English first: rates are banded by age (55 and below, 56–60, 61–65, 66–70, above 70); the Ordinary Wage ceiling caps the contributable salary at $6,800.</a:t>
            </a:r>
          </a:p>
        </p:txBody>
      </p:sp>
      <p:sp>
        <p:nvSpPr>
          <p:cNvPr id="17" name="Rectangle 16"/>
          <p:cNvSpPr/>
          <p:nvPr/>
        </p:nvSpPr>
        <p:spPr>
          <a:xfrm>
            <a:off x="777240" y="3249168"/>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48488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8488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285744"/>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cpf_calculator.py and define the function signature and the age bands.</a:t>
            </a:r>
          </a:p>
        </p:txBody>
      </p:sp>
      <p:sp>
        <p:nvSpPr>
          <p:cNvPr id="21" name="Rectangle 20"/>
          <p:cNvSpPr/>
          <p:nvPr/>
        </p:nvSpPr>
        <p:spPr>
          <a:xfrm>
            <a:off x="7452360" y="341172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41172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def calculate_cpf(salary, age):</a:t>
            </a:r>
          </a:p>
        </p:txBody>
      </p:sp>
      <p:sp>
        <p:nvSpPr>
          <p:cNvPr id="23" name="Rectangle 22"/>
          <p:cNvSpPr/>
          <p:nvPr/>
        </p:nvSpPr>
        <p:spPr>
          <a:xfrm>
            <a:off x="777240" y="4232656"/>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4683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4683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269232"/>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Implement the age-banded rates with if/elif — employee and employer rate as a pair.</a:t>
            </a:r>
          </a:p>
        </p:txBody>
      </p:sp>
      <p:sp>
        <p:nvSpPr>
          <p:cNvPr id="27" name="Rectangle 26"/>
          <p:cNvSpPr/>
          <p:nvPr/>
        </p:nvSpPr>
        <p:spPr>
          <a:xfrm>
            <a:off x="7452360" y="439521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39521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if age &lt;= 55: emp_rate, emr_rate = 0.20, 0.17</a:t>
            </a:r>
          </a:p>
        </p:txBody>
      </p:sp>
      <p:sp>
        <p:nvSpPr>
          <p:cNvPr id="29" name="Rectangle 28"/>
          <p:cNvSpPr/>
          <p:nvPr/>
        </p:nvSpPr>
        <p:spPr>
          <a:xfrm>
            <a:off x="777240" y="5216144"/>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261864"/>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61864"/>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252720"/>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Ordinary Wage ceiling before computing any contribution.</a:t>
            </a:r>
          </a:p>
        </p:txBody>
      </p:sp>
      <p:sp>
        <p:nvSpPr>
          <p:cNvPr id="33" name="Rectangle 32"/>
          <p:cNvSpPr/>
          <p:nvPr/>
        </p:nvSpPr>
        <p:spPr>
          <a:xfrm>
            <a:off x="7452360" y="5271008"/>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271008"/>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capped_salary = min(salary, 6800)</a:t>
            </a:r>
          </a:p>
        </p:txBody>
      </p:sp>
      <p:sp>
        <p:nvSpPr>
          <p:cNvPr id="35" name="Rectangle 34"/>
          <p:cNvSpPr/>
          <p:nvPr/>
        </p:nvSpPr>
        <p:spPr>
          <a:xfrm>
            <a:off x="777240" y="5753608"/>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799328"/>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799328"/>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790184"/>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Return the three figures the payroll report needs.</a:t>
            </a:r>
          </a:p>
        </p:txBody>
      </p:sp>
      <p:sp>
        <p:nvSpPr>
          <p:cNvPr id="39" name="Rectangle 38"/>
          <p:cNvSpPr/>
          <p:nvPr/>
        </p:nvSpPr>
        <p:spPr>
          <a:xfrm>
            <a:off x="7452360" y="5808472"/>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808472"/>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return capped_salary * emp_rate, capped_salary * emr_rate, capped_salary * (emp_rate + emr_rate)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CPF Contribution Calculator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Collect the inputs and print the breakdown to two decimal places.</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sal = float(input('Enter monthly salary: ')); age = int(input('Enter age: '))</a:t>
            </a:r>
          </a:p>
        </p:txBody>
      </p:sp>
      <p:sp>
        <p:nvSpPr>
          <p:cNvPr id="13" name="Rectangle 12"/>
          <p:cNvSpPr/>
          <p:nvPr/>
        </p:nvSpPr>
        <p:spPr>
          <a:xfrm>
            <a:off x="777240" y="2203704"/>
            <a:ext cx="10634472" cy="7437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6528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6528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6706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with a salary of 5000 and age 30, then with 9000 and age 30 to see the ceiling bite.</a:t>
            </a:r>
          </a:p>
        </p:txBody>
      </p:sp>
      <p:sp>
        <p:nvSpPr>
          <p:cNvPr id="17" name="Rectangle 16"/>
          <p:cNvSpPr/>
          <p:nvPr/>
        </p:nvSpPr>
        <p:spPr>
          <a:xfrm>
            <a:off x="7452360" y="229213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9213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cpf_calculator.py</a:t>
            </a:r>
          </a:p>
        </p:txBody>
      </p:sp>
      <p:sp>
        <p:nvSpPr>
          <p:cNvPr id="19" name="Rectangle 18"/>
          <p:cNvSpPr/>
          <p:nvPr/>
        </p:nvSpPr>
        <p:spPr>
          <a:xfrm>
            <a:off x="777240" y="3038925"/>
            <a:ext cx="10634472" cy="1490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7374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7374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075501"/>
            <a:ext cx="9692640" cy="141711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'Harden cpf_calculator.py. Reject a negative or non-numeric salary and an age below 16 or above 100 with a clear message instead of a traceback. Print the capped salary alongside the raw salary so the user can see when the $6,800 Ordinary Wage ceiling was applied, and format every amount as $x,xxx.xx. Keep calculate_cpf a pure function that returns three values.' Apply the generated code.</a:t>
            </a:r>
          </a:p>
        </p:txBody>
      </p:sp>
      <p:sp>
        <p:nvSpPr>
          <p:cNvPr id="23" name="Rectangle 22"/>
          <p:cNvSpPr/>
          <p:nvPr/>
        </p:nvSpPr>
        <p:spPr>
          <a:xfrm>
            <a:off x="777240" y="4620629"/>
            <a:ext cx="10634472" cy="7437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7822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7822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657205"/>
            <a:ext cx="9692640" cy="6706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verify the rate bands were not altered, that min(salary, 6800) is still applied before the rate, and that the totals still equal employee + employer.</a:t>
            </a:r>
          </a:p>
        </p:txBody>
      </p:sp>
      <p:sp>
        <p:nvSpPr>
          <p:cNvPr id="27" name="Rectangle 26"/>
          <p:cNvSpPr/>
          <p:nvPr/>
        </p:nvSpPr>
        <p:spPr>
          <a:xfrm>
            <a:off x="777240" y="5455850"/>
            <a:ext cx="10634472" cy="7437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1742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1742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492426"/>
            <a:ext cx="5806440" cy="6706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edge cases: salary 0, salary 20000, age 56, age 71, and a non-numeric salary such as 'abc'.</a:t>
            </a:r>
          </a:p>
        </p:txBody>
      </p:sp>
      <p:sp>
        <p:nvSpPr>
          <p:cNvPr id="31" name="Rectangle 30"/>
          <p:cNvSpPr/>
          <p:nvPr/>
        </p:nvSpPr>
        <p:spPr>
          <a:xfrm>
            <a:off x="7452360" y="554427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54427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cpf_calculator.py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CPF Contribution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salary of 9000 at age 30 returns an employee contribution of $1,360.00, an employer contribution of $1,156.00 and a total of $2,516.00 — proving the $6,800 ceiling was applied. Entering 'abc' as the salary prints a friendly message, not a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From Business Requirement to Programming Objective — SGX Price Fetcher</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752344"/>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practises the requirement-to-objective translation that opens every real project: a written business requirement from a wealth desk is decomposed into inputs, processing, outputs and acceptance criteria, then implemented as a first live market-data script using yfinance against the SGX tickers used throughout the course.</a:t>
            </a:r>
          </a:p>
        </p:txBody>
      </p:sp>
      <p:sp>
        <p:nvSpPr>
          <p:cNvPr id="10" name="Rectangle 9"/>
          <p:cNvSpPr/>
          <p:nvPr/>
        </p:nvSpPr>
        <p:spPr>
          <a:xfrm>
            <a:off x="777240" y="4142231"/>
            <a:ext cx="10698480" cy="20574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06823"/>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654295"/>
            <a:ext cx="10241280" cy="1005841"/>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requirements note plus `sgx_prices.py`, which fetches and prints the latest close for DBS, UOB, OCBC, Singtel and CapitaLand.</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yfinance,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From Business Requirement to Programming Objective — SGX Price Fetcher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market-data dependency.</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lab-04-sgx-prices &amp;&amp; cd lab-04-sgx-prices &amp;&amp; uv add yfinance</a:t>
            </a:r>
          </a:p>
        </p:txBody>
      </p:sp>
      <p:sp>
        <p:nvSpPr>
          <p:cNvPr id="13" name="Rectangle 12"/>
          <p:cNvSpPr/>
          <p:nvPr/>
        </p:nvSpPr>
        <p:spPr>
          <a:xfrm>
            <a:off x="777240" y="2679192"/>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4148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4148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Read the business requirement aloud: 'Each morning the wealth desk needs the previous close of our five core SGX holdings, in SGD, on one screen, so advisers can brief clients before the market opens.'</a:t>
            </a:r>
          </a:p>
        </p:txBody>
      </p:sp>
      <p:sp>
        <p:nvSpPr>
          <p:cNvPr id="17" name="Rectangle 16"/>
          <p:cNvSpPr/>
          <p:nvPr/>
        </p:nvSpPr>
        <p:spPr>
          <a:xfrm>
            <a:off x="777240" y="3315843"/>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3781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37813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352419"/>
            <a:ext cx="96926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Decompose it in a plain-text file requirements.md under four headings — INPUTS (the five tickers), PROCESSING (fetch last close), OUTPUTS (ticker, name, close price), ACCEPTANCE CRITERIA (all five print, two decimals, no crash if one ticker fails).</a:t>
            </a:r>
          </a:p>
        </p:txBody>
      </p:sp>
      <p:sp>
        <p:nvSpPr>
          <p:cNvPr id="21" name="Rectangle 20"/>
          <p:cNvSpPr/>
          <p:nvPr/>
        </p:nvSpPr>
        <p:spPr>
          <a:xfrm>
            <a:off x="777240" y="395249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399821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9821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398907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Define the watchlist in Python as the programming objective's input.</a:t>
            </a:r>
          </a:p>
        </p:txBody>
      </p:sp>
      <p:sp>
        <p:nvSpPr>
          <p:cNvPr id="25" name="Rectangle 24"/>
          <p:cNvSpPr/>
          <p:nvPr/>
        </p:nvSpPr>
        <p:spPr>
          <a:xfrm>
            <a:off x="7452360" y="400735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00735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tickers = ['D05.SI', 'U11.SI', 'O39.SI', 'Z74.SI', 'C38U.SI']</a:t>
            </a:r>
          </a:p>
        </p:txBody>
      </p:sp>
      <p:sp>
        <p:nvSpPr>
          <p:cNvPr id="27" name="Rectangle 26"/>
          <p:cNvSpPr/>
          <p:nvPr/>
        </p:nvSpPr>
        <p:spPr>
          <a:xfrm>
            <a:off x="777240" y="4427982"/>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49027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49027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4464558"/>
            <a:ext cx="58064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Fetch one ticker manually first to see the shape of the data before automating.</a:t>
            </a:r>
          </a:p>
        </p:txBody>
      </p:sp>
      <p:sp>
        <p:nvSpPr>
          <p:cNvPr id="31" name="Rectangle 30"/>
          <p:cNvSpPr/>
          <p:nvPr/>
        </p:nvSpPr>
        <p:spPr>
          <a:xfrm>
            <a:off x="7452360" y="4482846"/>
            <a:ext cx="3886200" cy="4354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482846"/>
            <a:ext cx="3648456" cy="43548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yfinance as yf; print(yf.Ticker('D05.SI').history(period='5d')['Close'])"</a:t>
            </a:r>
          </a:p>
        </p:txBody>
      </p:sp>
      <p:sp>
        <p:nvSpPr>
          <p:cNvPr id="33" name="Rectangle 32"/>
          <p:cNvSpPr/>
          <p:nvPr/>
        </p:nvSpPr>
        <p:spPr>
          <a:xfrm>
            <a:off x="777240" y="5064633"/>
            <a:ext cx="10634472" cy="113499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4218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4218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101209"/>
            <a:ext cx="9692640" cy="106184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'Write sgx_prices.py. For each ticker in D05.SI, U11.SI, O39.SI, Z74.SI, C38U.SI use yfinance to fetch the most recent closing price and the short name. Print one aligned row per ticker showing the ticker, the company name and the close formatted as SGD with two decimals. If a ticker returns no data, print NO DATA for that row and continue to the next ticker.' Save the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From Business Requirement to Programming Objective — SGX Price Fetcher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063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52505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2505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990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against your acceptance criteria: does it handle the empty-data case, does it continue after a failure, and does it format to two decimals?</a:t>
            </a:r>
          </a:p>
        </p:txBody>
      </p:sp>
      <p:sp>
        <p:nvSpPr>
          <p:cNvPr id="11" name="Rectangle 10"/>
          <p:cNvSpPr/>
          <p:nvPr/>
        </p:nvSpPr>
        <p:spPr>
          <a:xfrm>
            <a:off x="777240" y="3358460"/>
            <a:ext cx="10634472" cy="531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41397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1397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395036"/>
            <a:ext cx="5806440" cy="458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a:t>
            </a:r>
          </a:p>
        </p:txBody>
      </p:sp>
      <p:sp>
        <p:nvSpPr>
          <p:cNvPr id="15" name="Rectangle 14"/>
          <p:cNvSpPr/>
          <p:nvPr/>
        </p:nvSpPr>
        <p:spPr>
          <a:xfrm>
            <a:off x="7452360" y="3413324"/>
            <a:ext cx="3886200" cy="42193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3413324"/>
            <a:ext cx="3648456" cy="42193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sgx_prices.py</a:t>
            </a:r>
          </a:p>
        </p:txBody>
      </p:sp>
      <p:sp>
        <p:nvSpPr>
          <p:cNvPr id="17" name="Rectangle 16"/>
          <p:cNvSpPr/>
          <p:nvPr/>
        </p:nvSpPr>
        <p:spPr>
          <a:xfrm>
            <a:off x="777240" y="3981558"/>
            <a:ext cx="10634472" cy="1063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30290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0290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018134"/>
            <a:ext cx="5806440" cy="990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Introduce a deliberately invalid ticker such as 'ZZZZ.SI' into the list and re-run to prove the acceptance criterion about failure is genuinely met.</a:t>
            </a:r>
          </a:p>
        </p:txBody>
      </p:sp>
      <p:sp>
        <p:nvSpPr>
          <p:cNvPr id="21" name="Rectangle 20"/>
          <p:cNvSpPr/>
          <p:nvPr/>
        </p:nvSpPr>
        <p:spPr>
          <a:xfrm>
            <a:off x="7452360" y="422975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22975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sgx_prices.py</a:t>
            </a:r>
          </a:p>
        </p:txBody>
      </p:sp>
      <p:sp>
        <p:nvSpPr>
          <p:cNvPr id="23" name="Rectangle 22"/>
          <p:cNvSpPr/>
          <p:nvPr/>
        </p:nvSpPr>
        <p:spPr>
          <a:xfrm>
            <a:off x="777240" y="5136314"/>
            <a:ext cx="10634472" cy="1063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4576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576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172890"/>
            <a:ext cx="9692640" cy="990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which of your four headings did the AI get right without being told, and which did you have to specify? This is the difference between a prompt and a requirement.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From Business Requirement to Programming Objective — SGX Price Fetcher</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`uv run python sgx_prices.py` prints five aligned rows with company names and SGD closing prices to two decimal places, and prints NO DATA rather than crashing when the invalid ticker is included.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Introduction to Python Programming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LO1: Set up an AI-assisted Python development environment and translate a finance business requirement into a programming objective.</a:t>
            </a:r>
          </a:p>
          <a:p>
            <a:pPr>
              <a:spcAft>
                <a:spcPts val="1000"/>
              </a:spcAft>
            </a:pPr>
            <a:r>
              <a:rPr sz="1700" b="0">
                <a:solidFill>
                  <a:srgbClr val="161B26"/>
                </a:solidFill>
                <a:latin typeface="Arial"/>
              </a:rPr>
              <a:t>•  You can now: LO1: Translate a simple business requirement in financial services into a Python programming objective and execute the resulting script.</a:t>
            </a:r>
          </a:p>
          <a:p>
            <a:pPr>
              <a:spcAft>
                <a:spcPts val="1000"/>
              </a:spcAft>
            </a:pPr>
            <a:r>
              <a:rPr sz="1700" b="0">
                <a:solidFill>
                  <a:srgbClr val="161B26"/>
                </a:solidFill>
                <a:latin typeface="Arial"/>
              </a:rPr>
              <a:t>•  You can now: LO1: Translate the CPF contribution business rules into a Python programming objective and implement them as a working script.</a:t>
            </a:r>
          </a:p>
          <a:p>
            <a:pPr>
              <a:spcAft>
                <a:spcPts val="1000"/>
              </a:spcAft>
            </a:pPr>
            <a:r>
              <a:rPr sz="1700" b="0">
                <a:solidFill>
                  <a:srgbClr val="161B26"/>
                </a:solidFill>
                <a:latin typeface="Arial"/>
              </a:rPr>
              <a:t>•  You can now: LO1: Translate a financial services business requirement into a programming objective and set up an AI-assisted Python environment that fetches live SGX market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Types and Operators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Numbers · Strings · List · Tuple · Dictionary · Set · Operators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12%</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Data Types and Operators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Python supports six major data types used constantly in finance: number, string, list, tuple, dictionary and set.</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String literal formatting (f-strings) renders currency, percentages and millions in board-ready precision.</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Lists are ordered and mutable — ideal for time series of prices; tuples are immutable — ideal for fixed instrument identifiers.</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Dictionaries map a ticker key to a value such as market capitalisation, and sets remove duplicate tickers and find common holdings across portfolios.</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Arithmetic, compound, comparison, membership and logical operators express financial rules directly in code.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Data Types and Operators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5–7</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Number and String Literal Formatting for Financial Reporting</a:t>
            </a:r>
          </a:p>
          <a:p>
            <a:pPr>
              <a:spcAft>
                <a:spcPts val="900"/>
              </a:spcAft>
            </a:pPr>
            <a:r>
              <a:rPr sz="1400" b="0">
                <a:solidFill>
                  <a:srgbClr val="161B26"/>
                </a:solidFill>
                <a:latin typeface="Arial"/>
              </a:rPr>
              <a:t>•  Loan Amortisation Calculator</a:t>
            </a:r>
          </a:p>
          <a:p>
            <a:pPr>
              <a:spcAft>
                <a:spcPts val="900"/>
              </a:spcAft>
            </a:pPr>
            <a:r>
              <a:rPr sz="1400" b="0">
                <a:solidFill>
                  <a:srgbClr val="161B26"/>
                </a:solidFill>
                <a:latin typeface="Arial"/>
              </a:rPr>
              <a:t>•  Retirement Savings Calculator</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8–10</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String Methods and Extracting the Company Name from an Email</a:t>
            </a:r>
          </a:p>
          <a:p>
            <a:pPr>
              <a:spcAft>
                <a:spcPts val="900"/>
              </a:spcAft>
            </a:pPr>
            <a:r>
              <a:rPr sz="1400" b="0">
                <a:solidFill>
                  <a:srgbClr val="161B26"/>
                </a:solidFill>
                <a:latin typeface="Arial"/>
              </a:rPr>
              <a:t>•  Lists — Top 10 SGX Companies by Market Capitalisation</a:t>
            </a:r>
          </a:p>
          <a:p>
            <a:pPr>
              <a:spcAft>
                <a:spcPts val="900"/>
              </a:spcAft>
            </a:pPr>
            <a:r>
              <a:rPr sz="1400" b="0">
                <a:solidFill>
                  <a:srgbClr val="161B26"/>
                </a:solidFill>
                <a:latin typeface="Arial"/>
              </a:rPr>
              <a:t>•  Tuples — Immutable Instrument Identifiers</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11–12</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Dictionaries — Company Stock Values and Market Cap Lookup</a:t>
            </a:r>
          </a:p>
          <a:p>
            <a:pPr>
              <a:spcAft>
                <a:spcPts val="900"/>
              </a:spcAft>
            </a:pPr>
            <a:r>
              <a:rPr sz="1400" b="0">
                <a:solidFill>
                  <a:srgbClr val="161B26"/>
                </a:solidFill>
                <a:latin typeface="Arial"/>
              </a:rPr>
              <a:t>•  Sets and Operators — Common Holdings Across Portfolios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Number and String Literal Formatting for Financial Reporting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752344"/>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works with int and float financial values and uses f-string literal formatting to render revenue and market capitalisation in millions and billions, percentages to basis point precision, and currency with thousands separators — then confronts float rounding, the reason Decimal exists in settlement systems.</a:t>
            </a:r>
          </a:p>
        </p:txBody>
      </p:sp>
      <p:sp>
        <p:nvSpPr>
          <p:cNvPr id="10" name="Rectangle 9"/>
          <p:cNvSpPr/>
          <p:nvPr/>
        </p:nvSpPr>
        <p:spPr>
          <a:xfrm>
            <a:off x="777240" y="3867912"/>
            <a:ext cx="10698480"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3250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79976"/>
            <a:ext cx="10241280" cy="128016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`format_report.py` that renders a set of raw financial figures as a formatted revenue and market-cap summary in millions.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Number and String Literal Formatting for Financial Reporting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lab-05-number-format &amp;&amp; cd lab-05-number-format</a:t>
            </a:r>
          </a:p>
        </p:txBody>
      </p:sp>
      <p:sp>
        <p:nvSpPr>
          <p:cNvPr id="13" name="Rectangle 12"/>
          <p:cNvSpPr/>
          <p:nvPr/>
        </p:nvSpPr>
        <p:spPr>
          <a:xfrm>
            <a:off x="777240" y="2679192"/>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1520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1520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format_report.py with two raw revenue figures using Python's numeric underscore separators for readability.</a:t>
            </a:r>
          </a:p>
        </p:txBody>
      </p:sp>
      <p:sp>
        <p:nvSpPr>
          <p:cNvPr id="17" name="Rectangle 16"/>
          <p:cNvSpPr/>
          <p:nvPr/>
        </p:nvSpPr>
        <p:spPr>
          <a:xfrm>
            <a:off x="7452360" y="274205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4205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num1 = 12_345_678.90; num2 = 7_890_123.45; result = num1 + num2</a:t>
            </a:r>
          </a:p>
        </p:txBody>
      </p:sp>
      <p:sp>
        <p:nvSpPr>
          <p:cNvPr id="19" name="Rectangle 18"/>
          <p:cNvSpPr/>
          <p:nvPr/>
        </p:nvSpPr>
        <p:spPr>
          <a:xfrm>
            <a:off x="777240" y="3463290"/>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993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993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99866"/>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Format the sum in millions to two decimals — the standard unit in an SGX results announcement.</a:t>
            </a:r>
          </a:p>
        </p:txBody>
      </p:sp>
      <p:sp>
        <p:nvSpPr>
          <p:cNvPr id="23" name="Rectangle 22"/>
          <p:cNvSpPr/>
          <p:nvPr/>
        </p:nvSpPr>
        <p:spPr>
          <a:xfrm>
            <a:off x="7452360" y="352615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52615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print(f'{num1/1_000_000:.2f}M + {num2/1_000_000:.2f}M = {result/1_000_000:.2f}M')</a:t>
            </a:r>
          </a:p>
        </p:txBody>
      </p:sp>
      <p:sp>
        <p:nvSpPr>
          <p:cNvPr id="25" name="Rectangle 24"/>
          <p:cNvSpPr/>
          <p:nvPr/>
        </p:nvSpPr>
        <p:spPr>
          <a:xfrm>
            <a:off x="777240" y="424738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29310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9310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283964"/>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market-cap line in billions and a margin line as a percentage.</a:t>
            </a:r>
          </a:p>
        </p:txBody>
      </p:sp>
      <p:sp>
        <p:nvSpPr>
          <p:cNvPr id="29" name="Rectangle 28"/>
          <p:cNvSpPr/>
          <p:nvPr/>
        </p:nvSpPr>
        <p:spPr>
          <a:xfrm>
            <a:off x="7452360" y="4302252"/>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302252"/>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print(f'Market cap: {84_500_000_000/1_000_000_000:.2f}B | Net margin: {0.2837:.2%}')</a:t>
            </a:r>
          </a:p>
        </p:txBody>
      </p:sp>
      <p:sp>
        <p:nvSpPr>
          <p:cNvPr id="31" name="Rectangle 30"/>
          <p:cNvSpPr/>
          <p:nvPr/>
        </p:nvSpPr>
        <p:spPr>
          <a:xfrm>
            <a:off x="777240" y="4722876"/>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85889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85889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759452"/>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Demonstrate the float trap that matters in settlement: run the classic check and note the result is not exactly 0.3.</a:t>
            </a:r>
          </a:p>
        </p:txBody>
      </p:sp>
      <p:sp>
        <p:nvSpPr>
          <p:cNvPr id="35" name="Rectangle 34"/>
          <p:cNvSpPr/>
          <p:nvPr/>
        </p:nvSpPr>
        <p:spPr>
          <a:xfrm>
            <a:off x="7452360" y="478574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78574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"print(0.1 + 0.2, 0.1 + 0.2 == 0.3)"</a:t>
            </a:r>
          </a:p>
        </p:txBody>
      </p:sp>
      <p:sp>
        <p:nvSpPr>
          <p:cNvPr id="37" name="Rectangle 36"/>
          <p:cNvSpPr/>
          <p:nvPr/>
        </p:nvSpPr>
        <p:spPr>
          <a:xfrm>
            <a:off x="777240" y="5506974"/>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64299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64299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543550"/>
            <a:ext cx="96926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a bank posts ledger entries with Decimal or integer cents rather than float, and where the tolerance threshold sits in your own organisation.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Number and String Literal Formatting for Financial Reporting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65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8204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204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158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'Extend format_report.py with a function format_sgd(amount) that returns a string: values of 1 billion or more as $x.xxB, values of 1 million or more as $x.xxM, values of 1 thousand or more as $x.xK, and anything smaller as $x,xxx.xx. Include a right-aligned printed table of DBS 84500000000, Singtel 52300000000, CapitaLand 13800000000 and a small holding of 4250.75.' Apply the code.</a:t>
            </a:r>
          </a:p>
        </p:txBody>
      </p:sp>
      <p:sp>
        <p:nvSpPr>
          <p:cNvPr id="11" name="Rectangle 10"/>
          <p:cNvSpPr/>
          <p:nvPr/>
        </p:nvSpPr>
        <p:spPr>
          <a:xfrm>
            <a:off x="777240" y="3949192"/>
            <a:ext cx="10634472" cy="827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415239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5239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985768"/>
            <a:ext cx="9692640" cy="753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check the thresholds are tested largest-first, that negative amounts do not break the sign, and that the alignment uses an f-string width specifier.</a:t>
            </a:r>
          </a:p>
        </p:txBody>
      </p:sp>
      <p:sp>
        <p:nvSpPr>
          <p:cNvPr id="15" name="Rectangle 14"/>
          <p:cNvSpPr/>
          <p:nvPr/>
        </p:nvSpPr>
        <p:spPr>
          <a:xfrm>
            <a:off x="777240" y="4867656"/>
            <a:ext cx="10634472" cy="4135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913376"/>
            <a:ext cx="322072" cy="3220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13376"/>
            <a:ext cx="322072" cy="322072"/>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904232"/>
            <a:ext cx="5806440" cy="34036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 and inspect the alignment of the table.</a:t>
            </a:r>
          </a:p>
        </p:txBody>
      </p:sp>
      <p:sp>
        <p:nvSpPr>
          <p:cNvPr id="19" name="Rectangle 18"/>
          <p:cNvSpPr/>
          <p:nvPr/>
        </p:nvSpPr>
        <p:spPr>
          <a:xfrm>
            <a:off x="7452360" y="4922520"/>
            <a:ext cx="3886200" cy="303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922520"/>
            <a:ext cx="3648456" cy="30378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format_report.py</a:t>
            </a:r>
          </a:p>
        </p:txBody>
      </p:sp>
      <p:sp>
        <p:nvSpPr>
          <p:cNvPr id="21" name="Rectangle 20"/>
          <p:cNvSpPr/>
          <p:nvPr/>
        </p:nvSpPr>
        <p:spPr>
          <a:xfrm>
            <a:off x="777240" y="5372608"/>
            <a:ext cx="10634472" cy="827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5758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758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409184"/>
            <a:ext cx="5806440" cy="753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boundaries: pass exactly 1_000_000, exactly 999_999.99, 0 and -2_500_000 to format_sgd and confirm each renders sensibly.</a:t>
            </a:r>
          </a:p>
        </p:txBody>
      </p:sp>
      <p:sp>
        <p:nvSpPr>
          <p:cNvPr id="25" name="Rectangle 24"/>
          <p:cNvSpPr/>
          <p:nvPr/>
        </p:nvSpPr>
        <p:spPr>
          <a:xfrm>
            <a:off x="7452360" y="550265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50265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format_report.py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Number and String Literal Formatting for Financial Reporting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format_sgd returns '$84.50B' for DBS, '$13.80M'-style output for millions, and the printed table is right-aligned with every figure carrying its correct unit suffix.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Amortisation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276856"/>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Mirroring the reference notebook activity, the learner implements the standard amortisation formula P·[r(1+r)^n]/[(1+r)^n−1] for a Singapore housing loan, then extends it with total interest paid, the zero-interest edge case, and input validation so the tool is safe to hand to a relationship manager.</a:t>
            </a:r>
          </a:p>
        </p:txBody>
      </p:sp>
      <p:sp>
        <p:nvSpPr>
          <p:cNvPr id="10" name="Rectangle 9"/>
          <p:cNvSpPr/>
          <p:nvPr/>
        </p:nvSpPr>
        <p:spPr>
          <a:xfrm>
            <a:off x="777240" y="3392424"/>
            <a:ext cx="10698480" cy="2807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5701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3904488"/>
            <a:ext cx="10241280" cy="175564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`loan_calculator.py` that returns the monthly instalment, total repayment and total interest for a given principal, annual rate and tenor.</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Amortisation Calculator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1783080"/>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lab-06-loan-calculator &amp;&amp; cd lab-06-loan-calculator</a:t>
            </a:r>
          </a:p>
        </p:txBody>
      </p:sp>
      <p:sp>
        <p:nvSpPr>
          <p:cNvPr id="13" name="Rectangle 12"/>
          <p:cNvSpPr/>
          <p:nvPr/>
        </p:nvSpPr>
        <p:spPr>
          <a:xfrm>
            <a:off x="777240" y="2221077"/>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41218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41218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57653"/>
            <a:ext cx="58064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loan_calculator.py and collect the three inputs a mortgage quote needs.</a:t>
            </a:r>
          </a:p>
        </p:txBody>
      </p:sp>
      <p:sp>
        <p:nvSpPr>
          <p:cNvPr id="17" name="Rectangle 16"/>
          <p:cNvSpPr/>
          <p:nvPr/>
        </p:nvSpPr>
        <p:spPr>
          <a:xfrm>
            <a:off x="7452360" y="233903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3903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principal = float(input('Enter loan amount: ')); annual_rate = float(input('Enter annual interest rate (e.g., 5 for 5%): ')); years = int(input('Enter loan term in years: '))</a:t>
            </a:r>
          </a:p>
        </p:txBody>
      </p:sp>
      <p:sp>
        <p:nvSpPr>
          <p:cNvPr id="19" name="Rectangle 18"/>
          <p:cNvSpPr/>
          <p:nvPr/>
        </p:nvSpPr>
        <p:spPr>
          <a:xfrm>
            <a:off x="777240" y="3115360"/>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30646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30646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51936"/>
            <a:ext cx="58064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Convert the annual rate to a monthly rate and the tenor to a number of payments — the two conversions candidates most often get wrong.</a:t>
            </a:r>
          </a:p>
        </p:txBody>
      </p:sp>
      <p:sp>
        <p:nvSpPr>
          <p:cNvPr id="23" name="Rectangle 22"/>
          <p:cNvSpPr/>
          <p:nvPr/>
        </p:nvSpPr>
        <p:spPr>
          <a:xfrm>
            <a:off x="7452360" y="323331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3331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monthly_rate = annual_rate / 100 / 12; n = years * 12</a:t>
            </a:r>
          </a:p>
        </p:txBody>
      </p:sp>
      <p:sp>
        <p:nvSpPr>
          <p:cNvPr id="25" name="Rectangle 24"/>
          <p:cNvSpPr/>
          <p:nvPr/>
        </p:nvSpPr>
        <p:spPr>
          <a:xfrm>
            <a:off x="777240" y="4009643"/>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055363"/>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055363"/>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46219"/>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Implement the amortisation formula using the exponent operator.</a:t>
            </a:r>
          </a:p>
        </p:txBody>
      </p:sp>
      <p:sp>
        <p:nvSpPr>
          <p:cNvPr id="29" name="Rectangle 28"/>
          <p:cNvSpPr/>
          <p:nvPr/>
        </p:nvSpPr>
        <p:spPr>
          <a:xfrm>
            <a:off x="7452360" y="4064507"/>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64507"/>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monthly_payment = principal * (monthly_rate * (1 + monthly_rate) ** n) / ((1 + monthly_rate) ** n - 1)</a:t>
            </a:r>
          </a:p>
        </p:txBody>
      </p:sp>
      <p:sp>
        <p:nvSpPr>
          <p:cNvPr id="31" name="Rectangle 30"/>
          <p:cNvSpPr/>
          <p:nvPr/>
        </p:nvSpPr>
        <p:spPr>
          <a:xfrm>
            <a:off x="777240" y="4502504"/>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6936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6936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539080"/>
            <a:ext cx="58064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Derive the total repayment and the total interest, then print all three formatted as SGD.</a:t>
            </a:r>
          </a:p>
        </p:txBody>
      </p:sp>
      <p:sp>
        <p:nvSpPr>
          <p:cNvPr id="35" name="Rectangle 34"/>
          <p:cNvSpPr/>
          <p:nvPr/>
        </p:nvSpPr>
        <p:spPr>
          <a:xfrm>
            <a:off x="7452360" y="462046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62046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total_payment = monthly_payment * n; print(f'Monthly: ${monthly_payment:,.2f} | Total: ${total_payment:,.2f} | Interest: ${total_payment - principal:,.2f}')</a:t>
            </a:r>
          </a:p>
        </p:txBody>
      </p:sp>
      <p:sp>
        <p:nvSpPr>
          <p:cNvPr id="37" name="Rectangle 36"/>
          <p:cNvSpPr/>
          <p:nvPr/>
        </p:nvSpPr>
        <p:spPr>
          <a:xfrm>
            <a:off x="777240" y="5396787"/>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5878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5878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433363"/>
            <a:ext cx="58064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for a typical Singapore HDB loan: principal 500000, rate 2.6, term 25 years.</a:t>
            </a:r>
          </a:p>
        </p:txBody>
      </p:sp>
      <p:sp>
        <p:nvSpPr>
          <p:cNvPr id="41" name="Rectangle 40"/>
          <p:cNvSpPr/>
          <p:nvPr/>
        </p:nvSpPr>
        <p:spPr>
          <a:xfrm>
            <a:off x="7452360" y="55147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5147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loan_calculator.py</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Amortisation Calculator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684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86004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6004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611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Try a rate of 0 and observe the ZeroDivisionError — a real defect, because interest-free staff loans exist.</a:t>
            </a:r>
          </a:p>
        </p:txBody>
      </p:sp>
      <p:sp>
        <p:nvSpPr>
          <p:cNvPr id="11" name="Rectangle 10"/>
          <p:cNvSpPr/>
          <p:nvPr/>
        </p:nvSpPr>
        <p:spPr>
          <a:xfrm>
            <a:off x="7452360" y="178689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689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loan_calculator.py</a:t>
            </a:r>
          </a:p>
        </p:txBody>
      </p:sp>
      <p:sp>
        <p:nvSpPr>
          <p:cNvPr id="13" name="Rectangle 12"/>
          <p:cNvSpPr/>
          <p:nvPr/>
        </p:nvSpPr>
        <p:spPr>
          <a:xfrm>
            <a:off x="777240" y="2503932"/>
            <a:ext cx="10634472"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778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778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40508"/>
            <a:ext cx="9692640" cy="12954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'Refactor loan_calculator.py into a function monthly_instalment(principal, annual_rate_pct, years) that returns monthly payment, total repayment and total interest. Handle a zero interest rate by dividing the principal evenly across the months instead of using the amortisation formula. Reject a principal of zero or less, a negative rate and a term under one year with a clear message. Format all output as SGD with thousands separators.' Apply the code.</a:t>
            </a:r>
          </a:p>
        </p:txBody>
      </p:sp>
      <p:sp>
        <p:nvSpPr>
          <p:cNvPr id="17" name="Rectangle 16"/>
          <p:cNvSpPr/>
          <p:nvPr/>
        </p:nvSpPr>
        <p:spPr>
          <a:xfrm>
            <a:off x="777240" y="3963924"/>
            <a:ext cx="10634472" cy="684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09575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9575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000500"/>
            <a:ext cx="9692640" cy="611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confirm the zero-rate branch is chosen before the formula runs, that the rate is still divided by both 100 and 12, and that the three returned values are consistent.</a:t>
            </a:r>
          </a:p>
        </p:txBody>
      </p:sp>
      <p:sp>
        <p:nvSpPr>
          <p:cNvPr id="21" name="Rectangle 20"/>
          <p:cNvSpPr/>
          <p:nvPr/>
        </p:nvSpPr>
        <p:spPr>
          <a:xfrm>
            <a:off x="777240" y="4739640"/>
            <a:ext cx="10634472" cy="684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87146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7146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776216"/>
            <a:ext cx="5806440" cy="611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Re-run the zero-rate case and a private-property case: 1200000 at 3.5% over 30 years.</a:t>
            </a:r>
          </a:p>
        </p:txBody>
      </p:sp>
      <p:sp>
        <p:nvSpPr>
          <p:cNvPr id="25" name="Rectangle 24"/>
          <p:cNvSpPr/>
          <p:nvPr/>
        </p:nvSpPr>
        <p:spPr>
          <a:xfrm>
            <a:off x="7452360" y="479831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79831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loan_calculator.py</a:t>
            </a:r>
          </a:p>
        </p:txBody>
      </p:sp>
      <p:sp>
        <p:nvSpPr>
          <p:cNvPr id="27" name="Rectangle 26"/>
          <p:cNvSpPr/>
          <p:nvPr/>
        </p:nvSpPr>
        <p:spPr>
          <a:xfrm>
            <a:off x="777240" y="5515356"/>
            <a:ext cx="10634472" cy="684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4718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4718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551932"/>
            <a:ext cx="9692640" cy="611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Compare your 500000 / 2.6% / 25-year answer with a bank's published mortgage calculator and record any difference in your lab notes.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Amortisation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loan of $500,000 at 2.6% over 25 years gives a monthly instalment of approximately $2,268.51 and total interest near $180,554. A rate of 0% returns principal/months with no ZeroDivisionError.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Retirement Savings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276856"/>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Mirroring the reference notebook activity, the learner computes the future value of a regular monthly savings plan using the annuity formula, then adds a CPF top-up scenario and a year-by-year projection table so a client can see the compounding effect rather than just a single number.</a:t>
            </a:r>
          </a:p>
        </p:txBody>
      </p:sp>
      <p:sp>
        <p:nvSpPr>
          <p:cNvPr id="10" name="Rectangle 9"/>
          <p:cNvSpPr/>
          <p:nvPr/>
        </p:nvSpPr>
        <p:spPr>
          <a:xfrm>
            <a:off x="777240" y="3392424"/>
            <a:ext cx="10698480" cy="2807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5701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3904488"/>
            <a:ext cx="10241280" cy="175564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`retirement_calculator.py` that projects retirement savings from a monthly contribution, expected return and years to retirement.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Retirement Savings Calculator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1783080"/>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lab-07-retirement &amp;&amp; cd lab-07-retirement</a:t>
            </a:r>
          </a:p>
        </p:txBody>
      </p:sp>
      <p:sp>
        <p:nvSpPr>
          <p:cNvPr id="13" name="Rectangle 12"/>
          <p:cNvSpPr/>
          <p:nvPr/>
        </p:nvSpPr>
        <p:spPr>
          <a:xfrm>
            <a:off x="777240" y="2265680"/>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11400"/>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11400"/>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02256"/>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retirement_calculator.py and collect the four planning inputs.</a:t>
            </a:r>
          </a:p>
        </p:txBody>
      </p:sp>
      <p:sp>
        <p:nvSpPr>
          <p:cNvPr id="17" name="Rectangle 16"/>
          <p:cNvSpPr/>
          <p:nvPr/>
        </p:nvSpPr>
        <p:spPr>
          <a:xfrm>
            <a:off x="7452360" y="2320544"/>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20544"/>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current_age = int(input('Enter your current age: ')); retirement_age = int(input('Enter your target retirement age: ')); monthly_savings = float(input('Enter amount you save monthly: ')); annual_return_rate = float(input('Enter expected annual return rate (e.g., 5 for 5%): '))</a:t>
            </a:r>
          </a:p>
        </p:txBody>
      </p:sp>
      <p:sp>
        <p:nvSpPr>
          <p:cNvPr id="19" name="Rectangle 18"/>
          <p:cNvSpPr/>
          <p:nvPr/>
        </p:nvSpPr>
        <p:spPr>
          <a:xfrm>
            <a:off x="777240" y="2803144"/>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2848864"/>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848864"/>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839720"/>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Derive the horizon in months and the monthly rate.</a:t>
            </a:r>
          </a:p>
        </p:txBody>
      </p:sp>
      <p:sp>
        <p:nvSpPr>
          <p:cNvPr id="23" name="Rectangle 22"/>
          <p:cNvSpPr/>
          <p:nvPr/>
        </p:nvSpPr>
        <p:spPr>
          <a:xfrm>
            <a:off x="7452360" y="2858008"/>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2858008"/>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months = (retirement_age - current_age) * 12; monthly_rate = annual_return_rate / 100 / 12</a:t>
            </a:r>
          </a:p>
        </p:txBody>
      </p:sp>
      <p:sp>
        <p:nvSpPr>
          <p:cNvPr id="25" name="Rectangle 24"/>
          <p:cNvSpPr/>
          <p:nvPr/>
        </p:nvSpPr>
        <p:spPr>
          <a:xfrm>
            <a:off x="777240" y="3340608"/>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5763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5763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377184"/>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Implement the future-value-of-an-annuity formula, guarding the zero-return case with a conditional.</a:t>
            </a:r>
          </a:p>
        </p:txBody>
      </p:sp>
      <p:sp>
        <p:nvSpPr>
          <p:cNvPr id="29" name="Rectangle 28"/>
          <p:cNvSpPr/>
          <p:nvPr/>
        </p:nvSpPr>
        <p:spPr>
          <a:xfrm>
            <a:off x="7452360" y="350316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50316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total = monthly_savings * (((1 + monthly_rate) ** months - 1) / monthly_rate) if monthly_rate &gt; 0 else monthly_savings * months</a:t>
            </a:r>
          </a:p>
        </p:txBody>
      </p:sp>
      <p:sp>
        <p:nvSpPr>
          <p:cNvPr id="31" name="Rectangle 30"/>
          <p:cNvSpPr/>
          <p:nvPr/>
        </p:nvSpPr>
        <p:spPr>
          <a:xfrm>
            <a:off x="777240" y="4324096"/>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5598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5598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360672"/>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projection with thousands separators, and print the total contributed so the client can see how much is growth rather than saving.</a:t>
            </a:r>
          </a:p>
        </p:txBody>
      </p:sp>
      <p:sp>
        <p:nvSpPr>
          <p:cNvPr id="35" name="Rectangle 34"/>
          <p:cNvSpPr/>
          <p:nvPr/>
        </p:nvSpPr>
        <p:spPr>
          <a:xfrm>
            <a:off x="7452360" y="448665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48665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print(f'Projected: ${total:,.2f} | Contributed: ${monthly_savings*months:,.2f} | Growth: ${total - monthly_savings*months:,.2f}')</a:t>
            </a:r>
          </a:p>
        </p:txBody>
      </p:sp>
      <p:sp>
        <p:nvSpPr>
          <p:cNvPr id="37" name="Rectangle 36"/>
          <p:cNvSpPr/>
          <p:nvPr/>
        </p:nvSpPr>
        <p:spPr>
          <a:xfrm>
            <a:off x="777240" y="5307584"/>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5432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5432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344160"/>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a realistic Singapore case: age 30 to 65, $1,000 a month, 5% expected return.</a:t>
            </a:r>
          </a:p>
        </p:txBody>
      </p:sp>
      <p:sp>
        <p:nvSpPr>
          <p:cNvPr id="41" name="Rectangle 40"/>
          <p:cNvSpPr/>
          <p:nvPr/>
        </p:nvSpPr>
        <p:spPr>
          <a:xfrm>
            <a:off x="7452360" y="54701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4701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retirement_calculator.py</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Retirement Savings Calculator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6422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390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90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56911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'Extend retirement_calculator.py to also print a year-by-year table with columns Age, Contributed To Date, Balance and Growth, using a compound assignment (balance += ...) inside a loop over the months and printing one row at each year boundary. Add a CPF Special Account scenario at a fixed 4% return alongside the user rate, and print both projected balances side by side. Reject a retirement age not greater than the current age.' Apply the code.</a:t>
            </a:r>
          </a:p>
        </p:txBody>
      </p:sp>
      <p:sp>
        <p:nvSpPr>
          <p:cNvPr id="11" name="Rectangle 10"/>
          <p:cNvSpPr/>
          <p:nvPr/>
        </p:nvSpPr>
        <p:spPr>
          <a:xfrm>
            <a:off x="777240" y="3461918"/>
            <a:ext cx="10634472" cy="8211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66217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6217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498494"/>
            <a:ext cx="9692640" cy="7479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check the loop applies the monthly return before adding the contribution consistently, that the final loop balance agrees with the closed-form formula to within a dollar, and that the validation actually stops execution.</a:t>
            </a:r>
          </a:p>
        </p:txBody>
      </p:sp>
      <p:sp>
        <p:nvSpPr>
          <p:cNvPr id="15" name="Rectangle 14"/>
          <p:cNvSpPr/>
          <p:nvPr/>
        </p:nvSpPr>
        <p:spPr>
          <a:xfrm>
            <a:off x="777240" y="4374489"/>
            <a:ext cx="10634472" cy="4105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420209"/>
            <a:ext cx="319125" cy="319125"/>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20209"/>
            <a:ext cx="319125" cy="319125"/>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411065"/>
            <a:ext cx="5806440" cy="33741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and verify the closed-form and the iterative balance agree.</a:t>
            </a:r>
          </a:p>
        </p:txBody>
      </p:sp>
      <p:sp>
        <p:nvSpPr>
          <p:cNvPr id="19" name="Rectangle 18"/>
          <p:cNvSpPr/>
          <p:nvPr/>
        </p:nvSpPr>
        <p:spPr>
          <a:xfrm>
            <a:off x="7452360" y="4429353"/>
            <a:ext cx="3886200" cy="30083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429353"/>
            <a:ext cx="3648456" cy="300837"/>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retirement_calculator.py</a:t>
            </a:r>
          </a:p>
        </p:txBody>
      </p:sp>
      <p:sp>
        <p:nvSpPr>
          <p:cNvPr id="21" name="Rectangle 20"/>
          <p:cNvSpPr/>
          <p:nvPr/>
        </p:nvSpPr>
        <p:spPr>
          <a:xfrm>
            <a:off x="777240" y="4876494"/>
            <a:ext cx="10634472" cy="8211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07674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07674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13070"/>
            <a:ext cx="5806440" cy="7479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sensitivity: re-run at 3%, 5% and 7% and note in your lab record how much of the final balance is growth in each case.</a:t>
            </a:r>
          </a:p>
        </p:txBody>
      </p:sp>
      <p:sp>
        <p:nvSpPr>
          <p:cNvPr id="25" name="Rectangle 24"/>
          <p:cNvSpPr/>
          <p:nvPr/>
        </p:nvSpPr>
        <p:spPr>
          <a:xfrm>
            <a:off x="7452360" y="500359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00359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retirement_calculator.py</a:t>
            </a:r>
          </a:p>
        </p:txBody>
      </p:sp>
      <p:sp>
        <p:nvSpPr>
          <p:cNvPr id="27" name="Rectangle 26"/>
          <p:cNvSpPr/>
          <p:nvPr/>
        </p:nvSpPr>
        <p:spPr>
          <a:xfrm>
            <a:off x="777240" y="5789065"/>
            <a:ext cx="10634472" cy="4105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834785"/>
            <a:ext cx="319125" cy="319125"/>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834785"/>
            <a:ext cx="319125" cy="319125"/>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825641"/>
            <a:ext cx="9692640" cy="33741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what does this model ignore — inflation, fees, sequence-of-returns risk — and how would you disclose that to a client?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Retirement Savings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Saving $1,000 a month from age 30 to 65 at 5% projects approximately $1,136,000, with roughly $420,000 contributed and the remainder growth; the year-by-year table's final row matches the closed-form figure.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String Methods and Extracting the Company Name from an Email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752344"/>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exercises the core string methods — len, upper, lower, strip, split, startswith, replace — on messy client data, then mirrors the reference notebook activity by extracting a corporate client's company name from an email address, hardening it against malformed input and free-email domains such as gmail.com.</a:t>
            </a:r>
          </a:p>
        </p:txBody>
      </p:sp>
      <p:sp>
        <p:nvSpPr>
          <p:cNvPr id="10" name="Rectangle 9"/>
          <p:cNvSpPr/>
          <p:nvPr/>
        </p:nvSpPr>
        <p:spPr>
          <a:xfrm>
            <a:off x="777240" y="3867912"/>
            <a:ext cx="10698480"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3250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79976"/>
            <a:ext cx="10241280" cy="128016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`extract_company.py` that parses an email address and returns the corporate client's company name, with validation.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String Methods and Extracting the Company Name from an Email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2258568"/>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lab-08-string-methods &amp;&amp; cd lab-08-string-methods</a:t>
            </a:r>
          </a:p>
        </p:txBody>
      </p:sp>
      <p:sp>
        <p:nvSpPr>
          <p:cNvPr id="13" name="Rectangle 12"/>
          <p:cNvSpPr/>
          <p:nvPr/>
        </p:nvSpPr>
        <p:spPr>
          <a:xfrm>
            <a:off x="777240" y="2688336"/>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712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712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4912"/>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strings_demo.py using a messy value of the kind that arrives from a CRM export, and print its length, upper case and stripped form.</a:t>
            </a:r>
          </a:p>
        </p:txBody>
      </p:sp>
      <p:sp>
        <p:nvSpPr>
          <p:cNvPr id="17" name="Rectangle 16"/>
          <p:cNvSpPr/>
          <p:nvPr/>
        </p:nvSpPr>
        <p:spPr>
          <a:xfrm>
            <a:off x="7452360" y="27980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980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text = '  DBS Group Holdings Ltd.  '; print(len(text), text.upper(), repr(text.strip()))</a:t>
            </a:r>
          </a:p>
        </p:txBody>
      </p:sp>
      <p:sp>
        <p:nvSpPr>
          <p:cNvPr id="19" name="Rectangle 18"/>
          <p:cNvSpPr/>
          <p:nvPr/>
        </p:nvSpPr>
        <p:spPr>
          <a:xfrm>
            <a:off x="777240" y="3566160"/>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11880"/>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11880"/>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02736"/>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Split it into words and test a prefix, the way a screening rule would.</a:t>
            </a:r>
          </a:p>
        </p:txBody>
      </p:sp>
      <p:sp>
        <p:nvSpPr>
          <p:cNvPr id="23" name="Rectangle 22"/>
          <p:cNvSpPr/>
          <p:nvPr/>
        </p:nvSpPr>
        <p:spPr>
          <a:xfrm>
            <a:off x="7452360" y="3621024"/>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621024"/>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print(text.strip().split(' '), text.strip().startswith('DBS'))</a:t>
            </a:r>
          </a:p>
        </p:txBody>
      </p:sp>
      <p:sp>
        <p:nvSpPr>
          <p:cNvPr id="25" name="Rectangle 24"/>
          <p:cNvSpPr/>
          <p:nvPr/>
        </p:nvSpPr>
        <p:spPr>
          <a:xfrm>
            <a:off x="777240" y="4050792"/>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2336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3367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87368"/>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Clean a ticker field with replace and strip so 'd05 .si ' becomes a valid uppercase ticker.</a:t>
            </a:r>
          </a:p>
        </p:txBody>
      </p:sp>
      <p:sp>
        <p:nvSpPr>
          <p:cNvPr id="29" name="Rectangle 28"/>
          <p:cNvSpPr/>
          <p:nvPr/>
        </p:nvSpPr>
        <p:spPr>
          <a:xfrm>
            <a:off x="7452360" y="416052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16052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 d05 .si '.replace(' ', '').upper())</a:t>
            </a:r>
          </a:p>
        </p:txBody>
      </p:sp>
      <p:sp>
        <p:nvSpPr>
          <p:cNvPr id="31" name="Rectangle 30"/>
          <p:cNvSpPr/>
          <p:nvPr/>
        </p:nvSpPr>
        <p:spPr>
          <a:xfrm>
            <a:off x="777240" y="4928616"/>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1114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1114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965192"/>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Now start extract_company.py and implement the reference activity: split the email on '@' and take the first label of the domain.</a:t>
            </a:r>
          </a:p>
        </p:txBody>
      </p:sp>
      <p:sp>
        <p:nvSpPr>
          <p:cNvPr id="35" name="Rectangle 34"/>
          <p:cNvSpPr/>
          <p:nvPr/>
        </p:nvSpPr>
        <p:spPr>
          <a:xfrm>
            <a:off x="7452360" y="50383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0383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email = input('Enter your email address: '); parts = email.split('@')</a:t>
            </a:r>
          </a:p>
        </p:txBody>
      </p:sp>
      <p:sp>
        <p:nvSpPr>
          <p:cNvPr id="37" name="Rectangle 36"/>
          <p:cNvSpPr/>
          <p:nvPr/>
        </p:nvSpPr>
        <p:spPr>
          <a:xfrm>
            <a:off x="777240" y="5806440"/>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852160"/>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852160"/>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843016"/>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Guard the split and extract the company label, printing it in upper case.</a:t>
            </a:r>
          </a:p>
        </p:txBody>
      </p:sp>
      <p:sp>
        <p:nvSpPr>
          <p:cNvPr id="41" name="Rectangle 40"/>
          <p:cNvSpPr/>
          <p:nvPr/>
        </p:nvSpPr>
        <p:spPr>
          <a:xfrm>
            <a:off x="7452360" y="5861304"/>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861304"/>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if len(parts) == 2: print(f"Extracted Company Name: {parts[1].split('.')[0].upper()}")</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String Methods and Extracting the Company Name from an Email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against angch@tertiaryinfotech.com and against treasury@dbs.com.sg.</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extract_company.py</a:t>
            </a:r>
          </a:p>
        </p:txBody>
      </p:sp>
      <p:sp>
        <p:nvSpPr>
          <p:cNvPr id="13" name="Rectangle 12"/>
          <p:cNvSpPr/>
          <p:nvPr/>
        </p:nvSpPr>
        <p:spPr>
          <a:xfrm>
            <a:off x="777240" y="2679192"/>
            <a:ext cx="10634472" cy="16140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759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759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15409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'Harden extract_company.py. Reject an input with no @ or more than one @, or an empty local part or domain, printing a clear validation message. Treat gmail.com, yahoo.com, hotmail.com and outlook.com as personal domains and print PERSONAL ACCOUNT - NOT A CORPORATE CLIENT instead of a company name. Handle multi-level domains such as dbs.com.sg by taking only the first label. Also add a function that processes a list of ten sample client emails and prints a table of email, company and account type.' Apply the code.</a:t>
            </a:r>
          </a:p>
        </p:txBody>
      </p:sp>
      <p:sp>
        <p:nvSpPr>
          <p:cNvPr id="17" name="Rectangle 16"/>
          <p:cNvSpPr/>
          <p:nvPr/>
        </p:nvSpPr>
        <p:spPr>
          <a:xfrm>
            <a:off x="777240" y="4384686"/>
            <a:ext cx="10634472" cy="6240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48637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637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421262"/>
            <a:ext cx="9692640" cy="55085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check the personal-domain list is compared in lower case, that the multi-@ case is genuinely rejected, and that the batch function does not stop at the first bad row.</a:t>
            </a:r>
          </a:p>
        </p:txBody>
      </p:sp>
      <p:sp>
        <p:nvSpPr>
          <p:cNvPr id="21" name="Rectangle 20"/>
          <p:cNvSpPr/>
          <p:nvPr/>
        </p:nvSpPr>
        <p:spPr>
          <a:xfrm>
            <a:off x="777240" y="5100135"/>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14585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145855"/>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136711"/>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batch function and confirm the table.</a:t>
            </a:r>
          </a:p>
        </p:txBody>
      </p:sp>
      <p:sp>
        <p:nvSpPr>
          <p:cNvPr id="25" name="Rectangle 24"/>
          <p:cNvSpPr/>
          <p:nvPr/>
        </p:nvSpPr>
        <p:spPr>
          <a:xfrm>
            <a:off x="7452360" y="5154999"/>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154999"/>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extract_company.py</a:t>
            </a:r>
          </a:p>
        </p:txBody>
      </p:sp>
      <p:sp>
        <p:nvSpPr>
          <p:cNvPr id="27" name="Rectangle 26"/>
          <p:cNvSpPr/>
          <p:nvPr/>
        </p:nvSpPr>
        <p:spPr>
          <a:xfrm>
            <a:off x="777240" y="5575623"/>
            <a:ext cx="10634472" cy="6240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773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773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612199"/>
            <a:ext cx="5806440" cy="55085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edge cases: 'no-at-sign', 'a@@b.com', '@dbs.com', 'user@', and 'ANALYST@UOB.COM.SG'.</a:t>
            </a:r>
          </a:p>
        </p:txBody>
      </p:sp>
      <p:sp>
        <p:nvSpPr>
          <p:cNvPr id="31" name="Rectangle 30"/>
          <p:cNvSpPr/>
          <p:nvPr/>
        </p:nvSpPr>
        <p:spPr>
          <a:xfrm>
            <a:off x="7452360" y="5630487"/>
            <a:ext cx="3886200" cy="51428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630487"/>
            <a:ext cx="3648456" cy="51428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extract_company.py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String Methods and Extracting the Company Name from an Email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treasury@dbs.com.sg returns 'DBS', analyst@uob.com.sg returns 'UOB', jane@gmail.com is flagged as a personal account, and every malformed input prints a validation message rather than a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Lists — Top 10 SGX Companies by Market Capitalisation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276856"/>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exercises list creation, indexing, slicing, index() and pop() on a price series, then mirrors the reference notebook activity by fetching market capitalisation for a basket of SGX tickers with yfinance and producing a ranked top-10 list of Singapore's largest listed companies.</a:t>
            </a:r>
          </a:p>
        </p:txBody>
      </p:sp>
      <p:sp>
        <p:nvSpPr>
          <p:cNvPr id="10" name="Rectangle 9"/>
          <p:cNvSpPr/>
          <p:nvPr/>
        </p:nvSpPr>
        <p:spPr>
          <a:xfrm>
            <a:off x="777240" y="3392424"/>
            <a:ext cx="10698480" cy="2807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5701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3904488"/>
            <a:ext cx="10241280" cy="175564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`top10_sgx.py` that fetches market caps for a basket of SGX tickers and prints the top 10 ranked by market capitalisation.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yfinance,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Lists — Top 10 SGX Companies by Market Capitalisation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market-data dependency with uv (not pip).</a:t>
            </a:r>
          </a:p>
        </p:txBody>
      </p:sp>
      <p:sp>
        <p:nvSpPr>
          <p:cNvPr id="11" name="Rectangle 10"/>
          <p:cNvSpPr/>
          <p:nvPr/>
        </p:nvSpPr>
        <p:spPr>
          <a:xfrm>
            <a:off x="7452360" y="2258568"/>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lab-09-top10-sgx &amp;&amp; cd lab-09-top10-sgx &amp;&amp; uv add yfinance</a:t>
            </a:r>
          </a:p>
        </p:txBody>
      </p:sp>
      <p:sp>
        <p:nvSpPr>
          <p:cNvPr id="13" name="Rectangle 12"/>
          <p:cNvSpPr/>
          <p:nvPr/>
        </p:nvSpPr>
        <p:spPr>
          <a:xfrm>
            <a:off x="777240" y="2688336"/>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712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712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4912"/>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lists_demo.py with a short closing-price series and practise indexing and slicing.</a:t>
            </a:r>
          </a:p>
        </p:txBody>
      </p:sp>
      <p:sp>
        <p:nvSpPr>
          <p:cNvPr id="17" name="Rectangle 16"/>
          <p:cNvSpPr/>
          <p:nvPr/>
        </p:nvSpPr>
        <p:spPr>
          <a:xfrm>
            <a:off x="7452360" y="27980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980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prices = [35.20, 35.80, 36.10, 35.95, 36.40]; print(prices[0], prices[-1], prices[0:3])</a:t>
            </a:r>
          </a:p>
        </p:txBody>
      </p:sp>
      <p:sp>
        <p:nvSpPr>
          <p:cNvPr id="19" name="Rectangle 18"/>
          <p:cNvSpPr/>
          <p:nvPr/>
        </p:nvSpPr>
        <p:spPr>
          <a:xfrm>
            <a:off x="777240" y="3566160"/>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4904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4904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02736"/>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Find the position of a value and pop the latest observation — the two list operations used most in a rolling window.</a:t>
            </a:r>
          </a:p>
        </p:txBody>
      </p:sp>
      <p:sp>
        <p:nvSpPr>
          <p:cNvPr id="23" name="Rectangle 22"/>
          <p:cNvSpPr/>
          <p:nvPr/>
        </p:nvSpPr>
        <p:spPr>
          <a:xfrm>
            <a:off x="7452360" y="367588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67588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print(prices.index(36.10)); print(prices.pop(), prices)</a:t>
            </a:r>
          </a:p>
        </p:txBody>
      </p:sp>
      <p:sp>
        <p:nvSpPr>
          <p:cNvPr id="25" name="Rectangle 24"/>
          <p:cNvSpPr/>
          <p:nvPr/>
        </p:nvSpPr>
        <p:spPr>
          <a:xfrm>
            <a:off x="777240" y="4443984"/>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489704"/>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489704"/>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480560"/>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top10_sgx.py and define the SGX basket as a list of tickers.</a:t>
            </a:r>
          </a:p>
        </p:txBody>
      </p:sp>
      <p:sp>
        <p:nvSpPr>
          <p:cNvPr id="29" name="Rectangle 28"/>
          <p:cNvSpPr/>
          <p:nvPr/>
        </p:nvSpPr>
        <p:spPr>
          <a:xfrm>
            <a:off x="7452360" y="4498848"/>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498848"/>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sgx_tickers = ['D05.SI','U11.SI','O39.SI','Z74.SI','J36.SI','BN4.SI','V03.SI','C38U.SI','A17U.SI','C07.SI','C31.SI','U96.SI','F34.SI','S68.SI','BS6.SI']</a:t>
            </a:r>
          </a:p>
        </p:txBody>
      </p:sp>
      <p:sp>
        <p:nvSpPr>
          <p:cNvPr id="31" name="Rectangle 30"/>
          <p:cNvSpPr/>
          <p:nvPr/>
        </p:nvSpPr>
        <p:spPr>
          <a:xfrm>
            <a:off x="777240" y="4928616"/>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1114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1114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965192"/>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Loop the basket, pull marketCap and shortName from yfinance, and append a dict per company to a results list, skipping any ticker that fails.</a:t>
            </a:r>
          </a:p>
        </p:txBody>
      </p:sp>
      <p:sp>
        <p:nvSpPr>
          <p:cNvPr id="35" name="Rectangle 34"/>
          <p:cNvSpPr/>
          <p:nvPr/>
        </p:nvSpPr>
        <p:spPr>
          <a:xfrm>
            <a:off x="7452360" y="50383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0383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company_data.append({'name': name, 'ticker': ticker, 'market_cap': market_cap})</a:t>
            </a:r>
          </a:p>
        </p:txBody>
      </p:sp>
      <p:sp>
        <p:nvSpPr>
          <p:cNvPr id="37" name="Rectangle 36"/>
          <p:cNvSpPr/>
          <p:nvPr/>
        </p:nvSpPr>
        <p:spPr>
          <a:xfrm>
            <a:off x="777240" y="5806440"/>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852160"/>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852160"/>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843016"/>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Sort descending by market cap and slice the top ten.</a:t>
            </a:r>
          </a:p>
        </p:txBody>
      </p:sp>
      <p:sp>
        <p:nvSpPr>
          <p:cNvPr id="41" name="Rectangle 40"/>
          <p:cNvSpPr/>
          <p:nvPr/>
        </p:nvSpPr>
        <p:spPr>
          <a:xfrm>
            <a:off x="7452360" y="5861304"/>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861304"/>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top_10 = sorted(company_data, key=lambda x: x['market_cap'], reverse=True)[:10]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Lists — Top 10 SGX Companies by Market Capitalisation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050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959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959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5318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and note how long the fetch takes — API latency is a design constraint in any production screen.</a:t>
            </a:r>
          </a:p>
        </p:txBody>
      </p:sp>
      <p:sp>
        <p:nvSpPr>
          <p:cNvPr id="11" name="Rectangle 10"/>
          <p:cNvSpPr/>
          <p:nvPr/>
        </p:nvSpPr>
        <p:spPr>
          <a:xfrm>
            <a:off x="7452360" y="2258568"/>
            <a:ext cx="3886200" cy="4953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49530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top10_sgx.py</a:t>
            </a:r>
          </a:p>
        </p:txBody>
      </p:sp>
      <p:sp>
        <p:nvSpPr>
          <p:cNvPr id="13" name="Rectangle 12"/>
          <p:cNvSpPr/>
          <p:nvPr/>
        </p:nvSpPr>
        <p:spPr>
          <a:xfrm>
            <a:off x="777240" y="2900172"/>
            <a:ext cx="10634472" cy="1210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9488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9488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36748"/>
            <a:ext cx="9692640" cy="113690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'Improve top10_sgx.py. Skip any ticker whose marketCap is missing or zero instead of ranking it as zero. Print a numbered table with rank, company name, ticker and market cap formatted in SGD billions to two decimals, plus a final line giving the combined market cap of the top 10 and each company's percentage share of that total. Cache the fetched results to a local JSON file so a re-run does not hit the API again.' Apply the code.</a:t>
            </a:r>
          </a:p>
        </p:txBody>
      </p:sp>
      <p:sp>
        <p:nvSpPr>
          <p:cNvPr id="17" name="Rectangle 16"/>
          <p:cNvSpPr/>
          <p:nvPr/>
        </p:nvSpPr>
        <p:spPr>
          <a:xfrm>
            <a:off x="777240" y="4201668"/>
            <a:ext cx="10634472" cy="6050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29387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9387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38244"/>
            <a:ext cx="9692640" cy="5318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confirm missing caps are filtered before the sort, that the percentage shares total 100%, and that the cache is read before the network call rather than after.</a:t>
            </a:r>
          </a:p>
        </p:txBody>
      </p:sp>
      <p:sp>
        <p:nvSpPr>
          <p:cNvPr id="21" name="Rectangle 20"/>
          <p:cNvSpPr/>
          <p:nvPr/>
        </p:nvSpPr>
        <p:spPr>
          <a:xfrm>
            <a:off x="777240" y="4898136"/>
            <a:ext cx="10634472" cy="6050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99033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9033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34712"/>
            <a:ext cx="5806440" cy="5318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improved script twice and confirm the second run is served from the cache.</a:t>
            </a:r>
          </a:p>
        </p:txBody>
      </p:sp>
      <p:sp>
        <p:nvSpPr>
          <p:cNvPr id="25" name="Rectangle 24"/>
          <p:cNvSpPr/>
          <p:nvPr/>
        </p:nvSpPr>
        <p:spPr>
          <a:xfrm>
            <a:off x="7452360" y="4953000"/>
            <a:ext cx="3886200" cy="4953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953000"/>
            <a:ext cx="3648456" cy="49530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top10_sgx.py</a:t>
            </a:r>
          </a:p>
        </p:txBody>
      </p:sp>
      <p:sp>
        <p:nvSpPr>
          <p:cNvPr id="27" name="Rectangle 26"/>
          <p:cNvSpPr/>
          <p:nvPr/>
        </p:nvSpPr>
        <p:spPr>
          <a:xfrm>
            <a:off x="777240" y="5594604"/>
            <a:ext cx="10634472" cy="6050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868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868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631180"/>
            <a:ext cx="5806440" cy="5318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deliberately invalid ticker 'ZZZZ.SI' to the basket and re-run to prove the skip logic holds.</a:t>
            </a:r>
          </a:p>
        </p:txBody>
      </p:sp>
      <p:sp>
        <p:nvSpPr>
          <p:cNvPr id="31" name="Rectangle 30"/>
          <p:cNvSpPr/>
          <p:nvPr/>
        </p:nvSpPr>
        <p:spPr>
          <a:xfrm>
            <a:off x="7452360" y="5649468"/>
            <a:ext cx="3886200" cy="4953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649468"/>
            <a:ext cx="3648456" cy="49530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top10_sgx.py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Lists — Top 10 SGX Companies by Market Capitalisation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script prints a numbered top-10 table led by DBS (D05.SI) with market caps in SGD billions, the percentage shares sum to 100%, and the invalid ticker is silently skipped.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Tuples — Immutable Instrument Identifiers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creates tuples of SGX tickers and OHLC records, practises indexing, slicing, length and unpacking, and proves immutability by attempting a write. The lab then applies tuples where they genuinely belong in finance: as fixed instrument identifiers, as multiple return values from a ratio function, and as dictionary keys.</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`tuples_demo.py` demonstrating tuple unpacking of OHLC records and a function returning a tuple of financial ratios.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Tuples — Immutable Instrument Identifiers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1783080"/>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lab-10-tuples &amp;&amp; cd lab-10-tuples</a:t>
            </a:r>
          </a:p>
        </p:txBody>
      </p:sp>
      <p:sp>
        <p:nvSpPr>
          <p:cNvPr id="13" name="Rectangle 12"/>
          <p:cNvSpPr/>
          <p:nvPr/>
        </p:nvSpPr>
        <p:spPr>
          <a:xfrm>
            <a:off x="777240" y="2321433"/>
            <a:ext cx="10634472" cy="10035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6128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128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58009"/>
            <a:ext cx="5806440" cy="9304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tuples_demo.py with the core bank tickers as an immutable tuple, and index and slice it.</a:t>
            </a:r>
          </a:p>
        </p:txBody>
      </p:sp>
      <p:sp>
        <p:nvSpPr>
          <p:cNvPr id="17" name="Rectangle 16"/>
          <p:cNvSpPr/>
          <p:nvPr/>
        </p:nvSpPr>
        <p:spPr>
          <a:xfrm>
            <a:off x="7452360" y="253974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53974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stock_tuple = ('D05.SI', 'U11.SI', 'O39.SI'); print(stock_tuple[0], stock_tuple[0:2], len(stock_tuple))</a:t>
            </a:r>
          </a:p>
        </p:txBody>
      </p:sp>
      <p:sp>
        <p:nvSpPr>
          <p:cNvPr id="19" name="Rectangle 18"/>
          <p:cNvSpPr/>
          <p:nvPr/>
        </p:nvSpPr>
        <p:spPr>
          <a:xfrm>
            <a:off x="777240" y="3416427"/>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62147"/>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62147"/>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53003"/>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Unpack the tuple into three named variables in one statement.</a:t>
            </a:r>
          </a:p>
        </p:txBody>
      </p:sp>
      <p:sp>
        <p:nvSpPr>
          <p:cNvPr id="23" name="Rectangle 22"/>
          <p:cNvSpPr/>
          <p:nvPr/>
        </p:nvSpPr>
        <p:spPr>
          <a:xfrm>
            <a:off x="7452360" y="3471291"/>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471291"/>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ticker1, ticker2, ticker3 = stock_tuple; print(ticker1, ticker2, ticker3)</a:t>
            </a:r>
          </a:p>
        </p:txBody>
      </p:sp>
      <p:sp>
        <p:nvSpPr>
          <p:cNvPr id="25" name="Rectangle 24"/>
          <p:cNvSpPr/>
          <p:nvPr/>
        </p:nvSpPr>
        <p:spPr>
          <a:xfrm>
            <a:off x="777240" y="4009644"/>
            <a:ext cx="10634472" cy="10035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30110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0110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46220"/>
            <a:ext cx="5806440" cy="9304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immutability: uncomment the assignment and observe the TypeError, then discuss why an approved instrument list should be immutable.</a:t>
            </a:r>
          </a:p>
        </p:txBody>
      </p:sp>
      <p:sp>
        <p:nvSpPr>
          <p:cNvPr id="29" name="Rectangle 28"/>
          <p:cNvSpPr/>
          <p:nvPr/>
        </p:nvSpPr>
        <p:spPr>
          <a:xfrm>
            <a:off x="7452360" y="422795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22795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stock_tuple[0] = 'S68.SI'</a:t>
            </a:r>
          </a:p>
        </p:txBody>
      </p:sp>
      <p:sp>
        <p:nvSpPr>
          <p:cNvPr id="31" name="Rectangle 30"/>
          <p:cNvSpPr/>
          <p:nvPr/>
        </p:nvSpPr>
        <p:spPr>
          <a:xfrm>
            <a:off x="777240" y="5104638"/>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150358"/>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150358"/>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5141214"/>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a list of OHLC tuples for one trading day and unpack each in a loop.</a:t>
            </a:r>
          </a:p>
        </p:txBody>
      </p:sp>
      <p:sp>
        <p:nvSpPr>
          <p:cNvPr id="35" name="Rectangle 34"/>
          <p:cNvSpPr/>
          <p:nvPr/>
        </p:nvSpPr>
        <p:spPr>
          <a:xfrm>
            <a:off x="7452360" y="5159502"/>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159502"/>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bars = [('D05.SI', 35.20, 36.10, 35.05, 35.90), ('U11.SI', 32.10, 32.80, 31.95, 32.60)]</a:t>
            </a:r>
          </a:p>
        </p:txBody>
      </p:sp>
      <p:sp>
        <p:nvSpPr>
          <p:cNvPr id="37" name="Rectangle 36"/>
          <p:cNvSpPr/>
          <p:nvPr/>
        </p:nvSpPr>
        <p:spPr>
          <a:xfrm>
            <a:off x="777240" y="5697855"/>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743575"/>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743575"/>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734431"/>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Iterate with tuple unpacking directly in the for statement.</a:t>
            </a:r>
          </a:p>
        </p:txBody>
      </p:sp>
      <p:sp>
        <p:nvSpPr>
          <p:cNvPr id="41" name="Rectangle 40"/>
          <p:cNvSpPr/>
          <p:nvPr/>
        </p:nvSpPr>
        <p:spPr>
          <a:xfrm>
            <a:off x="7452360" y="5752719"/>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752719"/>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for tkr, o, h, l, c in bars: print(f'{tkr}: range {h-l:.2f}, change {c-o:+.2f}')</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Tuples — Immutable Instrument Identifiers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56717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717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20253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'Add a function ratios(net_profit, revenue, equity, assets) to tuples_demo.py that returns a tuple of net profit margin, ROE and ROA as percentages. Call it for DBS with net profit 11290000000, revenue 20180000000, equity 62400000000 and assets 739000000000, unpack the returned tuple into three variables and print each to two decimals with a percent sign. Then build a dictionary keyed by the tuple (ticker, financial_year) holding those ratios for two years and print it.' Apply the code.</a:t>
            </a:r>
          </a:p>
        </p:txBody>
      </p:sp>
      <p:sp>
        <p:nvSpPr>
          <p:cNvPr id="11" name="Rectangle 10"/>
          <p:cNvSpPr/>
          <p:nvPr/>
        </p:nvSpPr>
        <p:spPr>
          <a:xfrm>
            <a:off x="777240" y="3918204"/>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412760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2760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954780"/>
            <a:ext cx="96926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confirm the function returns a tuple rather than a list, that each ratio is multiplied by 100 exactly once, and that the tuple key is valid because it is immutable.</a:t>
            </a:r>
          </a:p>
        </p:txBody>
      </p:sp>
      <p:sp>
        <p:nvSpPr>
          <p:cNvPr id="15" name="Rectangle 14"/>
          <p:cNvSpPr/>
          <p:nvPr/>
        </p:nvSpPr>
        <p:spPr>
          <a:xfrm>
            <a:off x="777240" y="4849063"/>
            <a:ext cx="10634472" cy="4197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894783"/>
            <a:ext cx="328269" cy="328269"/>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94783"/>
            <a:ext cx="328269" cy="328269"/>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885639"/>
            <a:ext cx="5806440" cy="34655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a:t>
            </a:r>
          </a:p>
        </p:txBody>
      </p:sp>
      <p:sp>
        <p:nvSpPr>
          <p:cNvPr id="19" name="Rectangle 18"/>
          <p:cNvSpPr/>
          <p:nvPr/>
        </p:nvSpPr>
        <p:spPr>
          <a:xfrm>
            <a:off x="7452360" y="4903927"/>
            <a:ext cx="3886200" cy="30998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903927"/>
            <a:ext cx="3648456" cy="30998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tuples_demo.py</a:t>
            </a:r>
          </a:p>
        </p:txBody>
      </p:sp>
      <p:sp>
        <p:nvSpPr>
          <p:cNvPr id="21" name="Rectangle 20"/>
          <p:cNvSpPr/>
          <p:nvPr/>
        </p:nvSpPr>
        <p:spPr>
          <a:xfrm>
            <a:off x="777240" y="5360212"/>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56960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6960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396788"/>
            <a:ext cx="58064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Try to use a list as the dictionary key instead of the tuple and observe the TypeError — this is the practical reason tuples exist.</a:t>
            </a:r>
          </a:p>
        </p:txBody>
      </p:sp>
      <p:sp>
        <p:nvSpPr>
          <p:cNvPr id="25" name="Rectangle 24"/>
          <p:cNvSpPr/>
          <p:nvPr/>
        </p:nvSpPr>
        <p:spPr>
          <a:xfrm>
            <a:off x="7452360" y="549645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49645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tuples_demo.py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Tuples — Immutable Instrument Identifiers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OHLC loop prints the day range and change for each bank, ratios() returns a three-element tuple giving a DBS net margin near 55.95%, ROE near 18.09% and ROA near 1.53%, and the tuple-keyed dictionary prints without 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Dictionaries — Company Stock Values and Market Cap Lookup</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752344"/>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Mirroring the reference notebook activity, the learner builds a dictionary of stock attributes, practises access, update, membership testing, pop and iteration, then constructs a ticker-to-market-cap dictionary with a comprehension and uses .get() with a default to make the lookup safe for a missing ticker.</a:t>
            </a:r>
          </a:p>
        </p:txBody>
      </p:sp>
      <p:sp>
        <p:nvSpPr>
          <p:cNvPr id="10" name="Rectangle 9"/>
          <p:cNvSpPr/>
          <p:nvPr/>
        </p:nvSpPr>
        <p:spPr>
          <a:xfrm>
            <a:off x="777240" y="3867912"/>
            <a:ext cx="10698480"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3250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79976"/>
            <a:ext cx="10241280" cy="128016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`stock_dict.py` holding a ticker-to-market-cap dictionary with a safe lookup and a formatted portfolio valuation.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Dictionaries — Company Stock Values and Market Cap Lookup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lab-11-dictionaries &amp;&amp; cd lab-11-dictionaries</a:t>
            </a:r>
          </a:p>
        </p:txBody>
      </p:sp>
      <p:sp>
        <p:nvSpPr>
          <p:cNvPr id="13" name="Rectangle 12"/>
          <p:cNvSpPr/>
          <p:nvPr/>
        </p:nvSpPr>
        <p:spPr>
          <a:xfrm>
            <a:off x="777240" y="2679192"/>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1520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1520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stock_dict.py with a dictionary describing one holding, and read a value by key.</a:t>
            </a:r>
          </a:p>
        </p:txBody>
      </p:sp>
      <p:sp>
        <p:nvSpPr>
          <p:cNvPr id="17" name="Rectangle 16"/>
          <p:cNvSpPr/>
          <p:nvPr/>
        </p:nvSpPr>
        <p:spPr>
          <a:xfrm>
            <a:off x="7452360" y="274205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4205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stock_info = {'ticker': 'D05.SI', 'name': 'DBS Group Holdings', 'price': 35.50}; print(stock_info['name'])</a:t>
            </a:r>
          </a:p>
        </p:txBody>
      </p:sp>
      <p:sp>
        <p:nvSpPr>
          <p:cNvPr id="19" name="Rectangle 18"/>
          <p:cNvSpPr/>
          <p:nvPr/>
        </p:nvSpPr>
        <p:spPr>
          <a:xfrm>
            <a:off x="777240" y="3463290"/>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993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993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99866"/>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new key and update an existing one — the two operations that make dictionaries the right structure for a mutable position record.</a:t>
            </a:r>
          </a:p>
        </p:txBody>
      </p:sp>
      <p:sp>
        <p:nvSpPr>
          <p:cNvPr id="23" name="Rectangle 22"/>
          <p:cNvSpPr/>
          <p:nvPr/>
        </p:nvSpPr>
        <p:spPr>
          <a:xfrm>
            <a:off x="7452360" y="352615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52615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stock_info['currency'] = 'SGD'; stock_info['price'] = 36.20</a:t>
            </a:r>
          </a:p>
        </p:txBody>
      </p:sp>
      <p:sp>
        <p:nvSpPr>
          <p:cNvPr id="25" name="Rectangle 24"/>
          <p:cNvSpPr/>
          <p:nvPr/>
        </p:nvSpPr>
        <p:spPr>
          <a:xfrm>
            <a:off x="777240" y="4247388"/>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38340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8340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283964"/>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membership before access, then pop a key and iterate the remaining items.</a:t>
            </a:r>
          </a:p>
        </p:txBody>
      </p:sp>
      <p:sp>
        <p:nvSpPr>
          <p:cNvPr id="29" name="Rectangle 28"/>
          <p:cNvSpPr/>
          <p:nvPr/>
        </p:nvSpPr>
        <p:spPr>
          <a:xfrm>
            <a:off x="7452360" y="431025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31025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if 'ticker' in stock_info: print(stock_info['ticker'])</a:t>
            </a:r>
          </a:p>
        </p:txBody>
      </p:sp>
      <p:sp>
        <p:nvSpPr>
          <p:cNvPr id="31" name="Rectangle 30"/>
          <p:cNvSpPr/>
          <p:nvPr/>
        </p:nvSpPr>
        <p:spPr>
          <a:xfrm>
            <a:off x="777240" y="503148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07720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07720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506806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Iterate keys and values for a printed position record.</a:t>
            </a:r>
          </a:p>
        </p:txBody>
      </p:sp>
      <p:sp>
        <p:nvSpPr>
          <p:cNvPr id="35" name="Rectangle 34"/>
          <p:cNvSpPr/>
          <p:nvPr/>
        </p:nvSpPr>
        <p:spPr>
          <a:xfrm>
            <a:off x="7452360" y="508635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08635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for key, value in stock_info.items(): print(f'{key}: {value}')</a:t>
            </a:r>
          </a:p>
        </p:txBody>
      </p:sp>
      <p:sp>
        <p:nvSpPr>
          <p:cNvPr id="37" name="Rectangle 36"/>
          <p:cNvSpPr/>
          <p:nvPr/>
        </p:nvSpPr>
        <p:spPr>
          <a:xfrm>
            <a:off x="777240" y="5506974"/>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64299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64299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543550"/>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the ticker-to-market-cap dictionary with a dict comprehension over a list of company records.</a:t>
            </a:r>
          </a:p>
        </p:txBody>
      </p:sp>
      <p:sp>
        <p:nvSpPr>
          <p:cNvPr id="41" name="Rectangle 40"/>
          <p:cNvSpPr/>
          <p:nvPr/>
        </p:nvSpPr>
        <p:spPr>
          <a:xfrm>
            <a:off x="7452360" y="556983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56983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company_market_values = {item['ticker']: item['market_cap'] for item in top_10_data}</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Dictionaries — Company Stock Values and Market Cap Lookup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726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726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Use .get() with a default so a delisted ticker returns a safe value instead of raising KeyError.</a:t>
            </a:r>
          </a:p>
        </p:txBody>
      </p:sp>
      <p:sp>
        <p:nvSpPr>
          <p:cNvPr id="11" name="Rectangle 10"/>
          <p:cNvSpPr/>
          <p:nvPr/>
        </p:nvSpPr>
        <p:spPr>
          <a:xfrm>
            <a:off x="7452360" y="2258568"/>
            <a:ext cx="3886200" cy="44875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44875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print(f"DBS market cap: ${company_market_values.get('D05.SI', 0):,.0f}")</a:t>
            </a:r>
          </a:p>
        </p:txBody>
      </p:sp>
      <p:sp>
        <p:nvSpPr>
          <p:cNvPr id="13" name="Rectangle 12"/>
          <p:cNvSpPr/>
          <p:nvPr/>
        </p:nvSpPr>
        <p:spPr>
          <a:xfrm>
            <a:off x="777240" y="2853631"/>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225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2256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90207"/>
            <a:ext cx="58064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Compare .get() with direct bracket access on a missing ticker and observe the KeyError.</a:t>
            </a:r>
          </a:p>
        </p:txBody>
      </p:sp>
      <p:sp>
        <p:nvSpPr>
          <p:cNvPr id="17" name="Rectangle 16"/>
          <p:cNvSpPr/>
          <p:nvPr/>
        </p:nvSpPr>
        <p:spPr>
          <a:xfrm>
            <a:off x="7452360" y="2908495"/>
            <a:ext cx="3886200" cy="44875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908495"/>
            <a:ext cx="3648456" cy="44875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stock_dict.py</a:t>
            </a:r>
          </a:p>
        </p:txBody>
      </p:sp>
      <p:sp>
        <p:nvSpPr>
          <p:cNvPr id="19" name="Rectangle 18"/>
          <p:cNvSpPr/>
          <p:nvPr/>
        </p:nvSpPr>
        <p:spPr>
          <a:xfrm>
            <a:off x="777240" y="3503558"/>
            <a:ext cx="10634472" cy="13962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540134"/>
            <a:ext cx="9692640" cy="132306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'Extend stock_dict.py with a portfolio dictionary mapping ticker to number of shares for D05.SI 2000, U11.SI 1500, O39.SI 3000 and Z74.SI 10000, and a prices dictionary for the same tickers. Compute each position value and the total portfolio value, print a table of ticker, shares, price, value and weight as a percentage of the portfolio sorted by value descending, and use .get() with a default of 0 so a ticker missing from prices reports a value of zero with a warning line rather than crashing.' Apply the code.</a:t>
            </a:r>
          </a:p>
        </p:txBody>
      </p:sp>
      <p:sp>
        <p:nvSpPr>
          <p:cNvPr id="23" name="Rectangle 22"/>
          <p:cNvSpPr/>
          <p:nvPr/>
        </p:nvSpPr>
        <p:spPr>
          <a:xfrm>
            <a:off x="777240" y="4991216"/>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06014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6014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027792"/>
            <a:ext cx="96926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confirm the weights sum to 100%, that .get() defaults are used on the prices lookup and not on the shares lookup, and that the sort is descending by value.</a:t>
            </a:r>
          </a:p>
        </p:txBody>
      </p:sp>
      <p:sp>
        <p:nvSpPr>
          <p:cNvPr id="27" name="Rectangle 26"/>
          <p:cNvSpPr/>
          <p:nvPr/>
        </p:nvSpPr>
        <p:spPr>
          <a:xfrm>
            <a:off x="777240" y="5641143"/>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71007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71007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677719"/>
            <a:ext cx="58064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Delete Z74.SI from the prices dictionary and re-run to prove the warning path works.</a:t>
            </a:r>
          </a:p>
        </p:txBody>
      </p:sp>
      <p:sp>
        <p:nvSpPr>
          <p:cNvPr id="31" name="Rectangle 30"/>
          <p:cNvSpPr/>
          <p:nvPr/>
        </p:nvSpPr>
        <p:spPr>
          <a:xfrm>
            <a:off x="7452360" y="5696007"/>
            <a:ext cx="3886200" cy="44875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696007"/>
            <a:ext cx="3648456" cy="44875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stock_dict.py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Dictionaries — Company Stock Values and Market Cap Lookup</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portfolio table prints four positions sorted by value with weights summing to 100%; removing Singtel from the prices dictionary produces a warning line and a zero-value row instead of a KeyError.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Sets and Operators — Common Holdings Across Portfolios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Mirroring the reference notebook activities, the learner uses set intersection, union and difference to find overlapping and unique holdings across two SGX portfolios and to de-duplicate a ticker list, then works through the full operator families — arithmetic, compound assignment, comparison, membership and logical — applied to a portfolio concentration and eligibility rule.</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script `portfolio_sets.py` that reports common, unique and combined holdings across two portfolios plus an operator-driven eligibility check.</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 Google Colab,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Sets and Operators — Common Holdings Across Portfolios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lab-12-sets-operators &amp;&amp; cd lab-12-sets-operators</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portfolio_sets.py with two portfolios as sets of SGX tickers.</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set_a = {'D05.SI','U11.SI','O39.SI','Z74.SI','V03.SI'}; set_b = {'Z74.SI','C38U.SI','D05.SI','A17U.SI','S68.SI'}</a:t>
            </a:r>
          </a:p>
        </p:txBody>
      </p:sp>
      <p:sp>
        <p:nvSpPr>
          <p:cNvPr id="19" name="Rectangle 18"/>
          <p:cNvSpPr/>
          <p:nvPr/>
        </p:nvSpPr>
        <p:spPr>
          <a:xfrm>
            <a:off x="777240" y="3154680"/>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9069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9069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Find the overlap with intersection — these are the concentrated positions a risk officer cares about.</a:t>
            </a:r>
          </a:p>
        </p:txBody>
      </p:sp>
      <p:sp>
        <p:nvSpPr>
          <p:cNvPr id="23" name="Rectangle 22"/>
          <p:cNvSpPr/>
          <p:nvPr/>
        </p:nvSpPr>
        <p:spPr>
          <a:xfrm>
            <a:off x="7452360" y="321754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1754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print(f'Common: {set_a.intersection(set_b)}')</a:t>
            </a:r>
          </a:p>
        </p:txBody>
      </p:sp>
      <p:sp>
        <p:nvSpPr>
          <p:cNvPr id="25" name="Rectangle 24"/>
          <p:cNvSpPr/>
          <p:nvPr/>
        </p:nvSpPr>
        <p:spPr>
          <a:xfrm>
            <a:off x="777240" y="3938778"/>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07479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07479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975354"/>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Find the combined universe with union and the fund-specific holdings with difference.</a:t>
            </a:r>
          </a:p>
        </p:txBody>
      </p:sp>
      <p:sp>
        <p:nvSpPr>
          <p:cNvPr id="29" name="Rectangle 28"/>
          <p:cNvSpPr/>
          <p:nvPr/>
        </p:nvSpPr>
        <p:spPr>
          <a:xfrm>
            <a:off x="7452360" y="400164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0164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print(set_a.union(set_b)); print(set_a.difference(set_b)); print(set_b.difference(set_a))</a:t>
            </a:r>
          </a:p>
        </p:txBody>
      </p:sp>
      <p:sp>
        <p:nvSpPr>
          <p:cNvPr id="31" name="Rectangle 30"/>
          <p:cNvSpPr/>
          <p:nvPr/>
        </p:nvSpPr>
        <p:spPr>
          <a:xfrm>
            <a:off x="777240" y="4722876"/>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85889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85889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759452"/>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ticker, then de-duplicate a messy list of tickers by converting it through a set.</a:t>
            </a:r>
          </a:p>
        </p:txBody>
      </p:sp>
      <p:sp>
        <p:nvSpPr>
          <p:cNvPr id="35" name="Rectangle 34"/>
          <p:cNvSpPr/>
          <p:nvPr/>
        </p:nvSpPr>
        <p:spPr>
          <a:xfrm>
            <a:off x="7452360" y="478574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78574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unique = list(set(['D05.SI','U11.SI','D05.SI','O39.SI','U11.SI'])); print(unique)</a:t>
            </a:r>
          </a:p>
        </p:txBody>
      </p:sp>
      <p:sp>
        <p:nvSpPr>
          <p:cNvPr id="37" name="Rectangle 36"/>
          <p:cNvSpPr/>
          <p:nvPr/>
        </p:nvSpPr>
        <p:spPr>
          <a:xfrm>
            <a:off x="777240" y="5506974"/>
            <a:ext cx="10634472" cy="692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64299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64299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543550"/>
            <a:ext cx="5806440" cy="619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Work the operators: use compound assignment to accumulate a running portfolio value, and membership to test whether a ticker is held.</a:t>
            </a:r>
          </a:p>
        </p:txBody>
      </p:sp>
      <p:sp>
        <p:nvSpPr>
          <p:cNvPr id="41" name="Rectangle 40"/>
          <p:cNvSpPr/>
          <p:nvPr/>
        </p:nvSpPr>
        <p:spPr>
          <a:xfrm>
            <a:off x="7452360" y="556983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56983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total = 0.0; total += 2000 * 35.90; print('D05.SI' in set_a)</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Sets and Operators — Common Holdings Across Portfolios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78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3245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245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0496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Combine comparison and logical operators into a real eligibility rule: a stock qualifies if ROE is above 10% AND the PE ratio is below 20, OR it is held in both portfolios.</a:t>
            </a:r>
          </a:p>
        </p:txBody>
      </p:sp>
      <p:sp>
        <p:nvSpPr>
          <p:cNvPr id="11" name="Rectangle 10"/>
          <p:cNvSpPr/>
          <p:nvPr/>
        </p:nvSpPr>
        <p:spPr>
          <a:xfrm>
            <a:off x="7452360" y="225929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929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eligible = (roe &gt; 10 and pe &lt; 20) or (ticker in set_a.intersection(set_b))</a:t>
            </a:r>
          </a:p>
        </p:txBody>
      </p:sp>
      <p:sp>
        <p:nvSpPr>
          <p:cNvPr id="13" name="Rectangle 12"/>
          <p:cNvSpPr/>
          <p:nvPr/>
        </p:nvSpPr>
        <p:spPr>
          <a:xfrm>
            <a:off x="777240" y="2973262"/>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18982"/>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18982"/>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09838"/>
            <a:ext cx="58064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 and check each operator's result against your expectation before trusting it.</a:t>
            </a:r>
          </a:p>
        </p:txBody>
      </p:sp>
      <p:sp>
        <p:nvSpPr>
          <p:cNvPr id="17" name="Rectangle 16"/>
          <p:cNvSpPr/>
          <p:nvPr/>
        </p:nvSpPr>
        <p:spPr>
          <a:xfrm>
            <a:off x="7452360" y="3028126"/>
            <a:ext cx="3886200" cy="3324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028126"/>
            <a:ext cx="3648456" cy="33247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portfolio_sets.py</a:t>
            </a:r>
          </a:p>
        </p:txBody>
      </p:sp>
      <p:sp>
        <p:nvSpPr>
          <p:cNvPr id="19" name="Rectangle 18"/>
          <p:cNvSpPr/>
          <p:nvPr/>
        </p:nvSpPr>
        <p:spPr>
          <a:xfrm>
            <a:off x="777240" y="3506906"/>
            <a:ext cx="10634472" cy="11499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87156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7156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543482"/>
            <a:ext cx="9692640" cy="107679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THE AI ASSISTANT with: 'Extend portfolio_sets.py so it prints a reconciliation report between the two portfolios: the count and list of common tickers, tickers only in Fund A, tickers only in Fund B, the total combined universe size, and the overlap percentage computed as the intersection size divided by the union size. Then add a screen that uses comparison, membership and logical operators to classify each ticker in the union as BUY, HOLD or REVIEW from a dictionary of ROE and PE values, treating a missing ROE or PE as REVIEW.' Apply the code.</a:t>
            </a:r>
          </a:p>
        </p:txBody>
      </p:sp>
      <p:sp>
        <p:nvSpPr>
          <p:cNvPr id="23" name="Rectangle 22"/>
          <p:cNvSpPr/>
          <p:nvPr/>
        </p:nvSpPr>
        <p:spPr>
          <a:xfrm>
            <a:off x="777240" y="4748296"/>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794016"/>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794016"/>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784872"/>
            <a:ext cx="96926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 output: confirm the overlap percentage uses the union and not the sum of the two sets, that the missing-data branch is checked before the comparison operators run, and that the classifications are mutually exclusive.</a:t>
            </a:r>
          </a:p>
        </p:txBody>
      </p:sp>
      <p:sp>
        <p:nvSpPr>
          <p:cNvPr id="27" name="Rectangle 26"/>
          <p:cNvSpPr/>
          <p:nvPr/>
        </p:nvSpPr>
        <p:spPr>
          <a:xfrm>
            <a:off x="777240" y="528194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2766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2766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18516"/>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reconciliation and the screen.</a:t>
            </a:r>
          </a:p>
        </p:txBody>
      </p:sp>
      <p:sp>
        <p:nvSpPr>
          <p:cNvPr id="31" name="Rectangle 30"/>
          <p:cNvSpPr/>
          <p:nvPr/>
        </p:nvSpPr>
        <p:spPr>
          <a:xfrm>
            <a:off x="7452360" y="5336804"/>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336804"/>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portfolio_sets.py</a:t>
            </a:r>
          </a:p>
        </p:txBody>
      </p:sp>
      <p:sp>
        <p:nvSpPr>
          <p:cNvPr id="33" name="Rectangle 32"/>
          <p:cNvSpPr/>
          <p:nvPr/>
        </p:nvSpPr>
        <p:spPr>
          <a:xfrm>
            <a:off x="777240" y="5757428"/>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03148"/>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03148"/>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794004"/>
            <a:ext cx="58064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edge cases: two identical portfolios (overlap should be 100%), two disjoint portfolios (0%), and a ticker whose PE is missing.</a:t>
            </a:r>
          </a:p>
        </p:txBody>
      </p:sp>
      <p:sp>
        <p:nvSpPr>
          <p:cNvPr id="37" name="Rectangle 36"/>
          <p:cNvSpPr/>
          <p:nvPr/>
        </p:nvSpPr>
        <p:spPr>
          <a:xfrm>
            <a:off x="7452360" y="5812292"/>
            <a:ext cx="3886200" cy="3324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812292"/>
            <a:ext cx="3648456" cy="33247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portfolio_sets.py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Sets and Operators — Common Holdings Across Portfolios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reconciliation reports D05.SI and Z74.SI as the common tickers, an overlap of 25% across a combined universe of eight tickers, and every ticker in the union is classified as exactly one of BUY, HOLD or REVIEW with missing data landing in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Data Types and Operators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LO2: Apply Python number and string data types and literal formatting to present financial figures in board-ready precision.</a:t>
            </a:r>
          </a:p>
          <a:p>
            <a:pPr>
              <a:spcAft>
                <a:spcPts val="1000"/>
              </a:spcAft>
            </a:pPr>
            <a:r>
              <a:rPr sz="1700" b="0">
                <a:solidFill>
                  <a:srgbClr val="161B26"/>
                </a:solidFill>
                <a:latin typeface="Arial"/>
              </a:rPr>
              <a:t>•  You can now: LO2: Apply numeric data types and arithmetic operators to solve a financial calculation problem — the monthly instalment on an amortising loan.</a:t>
            </a:r>
          </a:p>
          <a:p>
            <a:pPr>
              <a:spcAft>
                <a:spcPts val="1000"/>
              </a:spcAft>
            </a:pPr>
            <a:r>
              <a:rPr sz="1700" b="0">
                <a:solidFill>
                  <a:srgbClr val="161B26"/>
                </a:solidFill>
                <a:latin typeface="Arial"/>
              </a:rPr>
              <a:t>•  You can now: LO2: Apply numeric data types, arithmetic operators and compound assignment to solve a retirement future-value calculation problem.</a:t>
            </a:r>
          </a:p>
          <a:p>
            <a:pPr>
              <a:spcAft>
                <a:spcPts val="1000"/>
              </a:spcAft>
            </a:pPr>
            <a:r>
              <a:rPr sz="1700" b="0">
                <a:solidFill>
                  <a:srgbClr val="161B26"/>
                </a:solidFill>
                <a:latin typeface="Arial"/>
              </a:rPr>
              <a:t>•  You can now: LO2: Apply the string data type and its methods to parse, clean and classify financial client data.</a:t>
            </a:r>
          </a:p>
          <a:p>
            <a:pPr>
              <a:spcAft>
                <a:spcPts val="1000"/>
              </a:spcAft>
            </a:pPr>
            <a:r>
              <a:rPr sz="1700" b="0">
                <a:solidFill>
                  <a:srgbClr val="161B26"/>
                </a:solidFill>
                <a:latin typeface="Arial"/>
              </a:rPr>
              <a:t>•  You can now: LO2: Apply the list data type, indexing, slicing and sorting to rank financial instruments by a business metric.</a:t>
            </a:r>
          </a:p>
          <a:p>
            <a:pPr>
              <a:spcAft>
                <a:spcPts val="1000"/>
              </a:spcAft>
            </a:pPr>
            <a:r>
              <a:rPr sz="1700" b="0">
                <a:solidFill>
                  <a:srgbClr val="161B26"/>
                </a:solidFill>
                <a:latin typeface="Arial"/>
              </a:rPr>
              <a:t>•  You can now: LO2: Apply the tuple data type and unpacking to represent fixed financial identifiers that must not change during processing.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Problem Solving with Control Structures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If-Else · If-Elif · Ternary · While · For · Range · Enumerate · Zip · Break · Continue · Comprehensions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14%</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Problem Solving with Control Structures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Conditional logic encodes investment rules: a PE ratio or ROE threshold becomes a BUY / HOLD / SELL recommendation.</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While loops repeat until a condition is met — used for Fibonacci sequences underlying the golden ratio in technical analysis.</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For loops with range, enumerate and zip iterate portfolios and combine parallel series such as tickers with their ROE and ROA.</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Break and continue control early exit and skipping when scanning market data.</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List, set and dict comprehensions compute metrics such as net profit margin across a portfolio in a single readable line.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Problem Solving with Control Structures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13–15</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If-Else PE Ratio Valuation — BUY / HOLD / SELL</a:t>
            </a:r>
          </a:p>
          <a:p>
            <a:pPr>
              <a:spcAft>
                <a:spcPts val="900"/>
              </a:spcAft>
            </a:pPr>
            <a:r>
              <a:rPr sz="1400" b="0">
                <a:solidFill>
                  <a:srgbClr val="161B26"/>
                </a:solidFill>
                <a:latin typeface="Arial"/>
              </a:rPr>
              <a:t>•  Activity: Return on Equity (ROE) Screener with a BUY / SELL Threshold</a:t>
            </a:r>
          </a:p>
          <a:p>
            <a:pPr>
              <a:spcAft>
                <a:spcPts val="900"/>
              </a:spcAft>
            </a:pPr>
            <a:r>
              <a:rPr sz="1400" b="0">
                <a:solidFill>
                  <a:srgbClr val="161B26"/>
                </a:solidFill>
                <a:latin typeface="Arial"/>
              </a:rPr>
              <a:t>•  If-Elif Income Grouping and Credit Risk Banding</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16–18</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Ternary Operator — One-Line Trading Decisions</a:t>
            </a:r>
          </a:p>
          <a:p>
            <a:pPr>
              <a:spcAft>
                <a:spcPts val="900"/>
              </a:spcAft>
            </a:pPr>
            <a:r>
              <a:rPr sz="1400" b="0">
                <a:solidFill>
                  <a:srgbClr val="161B26"/>
                </a:solidFill>
                <a:latin typeface="Arial"/>
              </a:rPr>
              <a:t>•  While Loop — Fibonacci Sequence and the Golden Ratio in Technical Analysis</a:t>
            </a:r>
          </a:p>
          <a:p>
            <a:pPr>
              <a:spcAft>
                <a:spcPts val="900"/>
              </a:spcAft>
            </a:pPr>
            <a:r>
              <a:rPr sz="1400" b="0">
                <a:solidFill>
                  <a:srgbClr val="161B26"/>
                </a:solidFill>
                <a:latin typeface="Arial"/>
              </a:rPr>
              <a:t>•  For Loop and Range — Top 10 SGX Return on Assets (ROA) Ranking</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19–20</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Enumerate, Zip, Break and Continue — Combined ROE and ROA Scanner</a:t>
            </a:r>
          </a:p>
          <a:p>
            <a:pPr>
              <a:spcAft>
                <a:spcPts val="900"/>
              </a:spcAft>
            </a:pPr>
            <a:r>
              <a:rPr sz="1400" b="0">
                <a:solidFill>
                  <a:srgbClr val="161B26"/>
                </a:solidFill>
                <a:latin typeface="Arial"/>
              </a:rPr>
              <a:t>•  Comprehensions — Net Profit Margin for 10 Singapore Stocks in One 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If-Else PE Ratio Valuation — BUY / HOLD / SELL</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You encode the first investment rule of the course as Python conditional logic. A PE ratio below 15 is treated as Undervalued (Consider Buying), 15 to 25 as Fairly Valued (Hold), and above 25 as Overvalued (Consider Selling). You start from an if-else skeleton, extend it to a full if-elif-else ladder, then harden it so a negative or non-numeric PE ratio is rejected instead of silently producing a BUY signal on a loss-making company.</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pe_valuation.py — a uv-managed script that reads a PE ratio and prints a formatted valuation and recommendation, with input validation.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If-Else PE Ratio Valuation — BUY / HOLD / SELL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and enter the uv project for this lab.</a:t>
            </a:r>
          </a:p>
        </p:txBody>
      </p:sp>
      <p:sp>
        <p:nvSpPr>
          <p:cNvPr id="11" name="Rectangle 10"/>
          <p:cNvSpPr/>
          <p:nvPr/>
        </p:nvSpPr>
        <p:spPr>
          <a:xfrm>
            <a:off x="7452360" y="1783080"/>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lab-13-pe-valuation &amp;&amp; cd lab-13-pe-valuation</a:t>
            </a:r>
          </a:p>
        </p:txBody>
      </p:sp>
      <p:sp>
        <p:nvSpPr>
          <p:cNvPr id="13" name="Rectangle 12"/>
          <p:cNvSpPr/>
          <p:nvPr/>
        </p:nvSpPr>
        <p:spPr>
          <a:xfrm>
            <a:off x="777240" y="2321433"/>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67153"/>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67153"/>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58009"/>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uv pinned a Python 3.12 interpreter for the project.</a:t>
            </a:r>
          </a:p>
        </p:txBody>
      </p:sp>
      <p:sp>
        <p:nvSpPr>
          <p:cNvPr id="17" name="Rectangle 16"/>
          <p:cNvSpPr/>
          <p:nvPr/>
        </p:nvSpPr>
        <p:spPr>
          <a:xfrm>
            <a:off x="7452360" y="2376297"/>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76297"/>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--version</a:t>
            </a:r>
          </a:p>
        </p:txBody>
      </p:sp>
      <p:sp>
        <p:nvSpPr>
          <p:cNvPr id="19" name="Rectangle 18"/>
          <p:cNvSpPr/>
          <p:nvPr/>
        </p:nvSpPr>
        <p:spPr>
          <a:xfrm>
            <a:off x="777240" y="2914650"/>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2960370"/>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960370"/>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951226"/>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script file that will hold your valuation rule.</a:t>
            </a:r>
          </a:p>
        </p:txBody>
      </p:sp>
      <p:sp>
        <p:nvSpPr>
          <p:cNvPr id="23" name="Rectangle 22"/>
          <p:cNvSpPr/>
          <p:nvPr/>
        </p:nvSpPr>
        <p:spPr>
          <a:xfrm>
            <a:off x="7452360" y="2969514"/>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2969514"/>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pe_valuation.py</a:t>
            </a:r>
          </a:p>
        </p:txBody>
      </p:sp>
      <p:sp>
        <p:nvSpPr>
          <p:cNvPr id="25" name="Rectangle 24"/>
          <p:cNvSpPr/>
          <p:nvPr/>
        </p:nvSpPr>
        <p:spPr>
          <a:xfrm>
            <a:off x="777240" y="3507867"/>
            <a:ext cx="10634472" cy="10035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7993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7993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544443"/>
            <a:ext cx="9692640" cy="9304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simple two-branch if-else first: PE below 15 prints 'Undervalued', otherwise 'Overvalued'. Read the PE ratio with float(input("Enter the stock's PE Ratio: ")).</a:t>
            </a:r>
          </a:p>
        </p:txBody>
      </p:sp>
      <p:sp>
        <p:nvSpPr>
          <p:cNvPr id="29" name="Rectangle 28"/>
          <p:cNvSpPr/>
          <p:nvPr/>
        </p:nvSpPr>
        <p:spPr>
          <a:xfrm>
            <a:off x="777240" y="4602861"/>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648581"/>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48581"/>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639437"/>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and try PE = 12 then PE = 30 to see both branches fire.</a:t>
            </a:r>
          </a:p>
        </p:txBody>
      </p:sp>
      <p:sp>
        <p:nvSpPr>
          <p:cNvPr id="33" name="Rectangle 32"/>
          <p:cNvSpPr/>
          <p:nvPr/>
        </p:nvSpPr>
        <p:spPr>
          <a:xfrm>
            <a:off x="7452360" y="4657725"/>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657725"/>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pe_valuation.py</a:t>
            </a:r>
          </a:p>
        </p:txBody>
      </p:sp>
      <p:sp>
        <p:nvSpPr>
          <p:cNvPr id="35" name="Rectangle 34"/>
          <p:cNvSpPr/>
          <p:nvPr/>
        </p:nvSpPr>
        <p:spPr>
          <a:xfrm>
            <a:off x="777240" y="5196078"/>
            <a:ext cx="10634472" cy="10035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48754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8754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232654"/>
            <a:ext cx="9692640" cy="93040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Extend the two-branch version into a three-branch if / elif / else ladder: PE &lt; 15 gives Undervalued + 'Consider Buying'; 15 &lt;= PE &lt;= 25 gives Fairly Valued + 'Hold'; else Overvalued + 'Consider Selling'.</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If-Else PE Ratio Valuation — BUY / HOLD / SELL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8797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95779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5779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80663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Format the output with f-strings so it reads as an analyst note: print the PE ratio to 2 decimals, then the valuation, then the recommendation on separate lines.</a:t>
            </a:r>
          </a:p>
        </p:txBody>
      </p:sp>
      <p:sp>
        <p:nvSpPr>
          <p:cNvPr id="11" name="Rectangle 10"/>
          <p:cNvSpPr/>
          <p:nvPr/>
        </p:nvSpPr>
        <p:spPr>
          <a:xfrm>
            <a:off x="7452360" y="188464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88464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pe_valuation.py</a:t>
            </a:r>
          </a:p>
        </p:txBody>
      </p:sp>
      <p:sp>
        <p:nvSpPr>
          <p:cNvPr id="13" name="Rectangle 12"/>
          <p:cNvSpPr/>
          <p:nvPr/>
        </p:nvSpPr>
        <p:spPr>
          <a:xfrm>
            <a:off x="777240" y="2699439"/>
            <a:ext cx="10634472" cy="1173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756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756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36015"/>
            <a:ext cx="9692640" cy="109989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in Colab's Gemini panel (or Cursor / Copilot) prompt: "Rewrite this PE ratio valuation script so it validates the input — reject a negative PE ratio with a clear message because a negative PE means the company is loss-making, and reject non-numeric input using try/except ValueError. Keep the if-elif-else structure." Read every line of the generated code before you accept it.</a:t>
            </a:r>
          </a:p>
        </p:txBody>
      </p:sp>
      <p:sp>
        <p:nvSpPr>
          <p:cNvPr id="17" name="Rectangle 16"/>
          <p:cNvSpPr/>
          <p:nvPr/>
        </p:nvSpPr>
        <p:spPr>
          <a:xfrm>
            <a:off x="777240" y="3963923"/>
            <a:ext cx="10634472" cy="8797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19350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19350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000499"/>
            <a:ext cx="5806440" cy="80663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Paste the AI-generated version into pe_valuation.py, then test the edge cases it claims to handle: -5, the string 'abc', and exactly 15 and exactly 25 (the boundary values).</a:t>
            </a:r>
          </a:p>
        </p:txBody>
      </p:sp>
      <p:sp>
        <p:nvSpPr>
          <p:cNvPr id="21" name="Rectangle 20"/>
          <p:cNvSpPr/>
          <p:nvPr/>
        </p:nvSpPr>
        <p:spPr>
          <a:xfrm>
            <a:off x="7452360" y="412035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12035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pe_valuation.py</a:t>
            </a:r>
          </a:p>
        </p:txBody>
      </p:sp>
      <p:sp>
        <p:nvSpPr>
          <p:cNvPr id="23" name="Rectangle 22"/>
          <p:cNvSpPr/>
          <p:nvPr/>
        </p:nvSpPr>
        <p:spPr>
          <a:xfrm>
            <a:off x="777240" y="4935146"/>
            <a:ext cx="10634472" cy="5865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01809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1809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71722"/>
            <a:ext cx="9692640" cy="51337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boundary PE = 25 falls in 'Hold' because the condition uses &lt;=. Change it to &lt; and re-run with 25 to see the recommendation flip — a one-character change that alters a trading signal.</a:t>
            </a:r>
          </a:p>
        </p:txBody>
      </p:sp>
      <p:sp>
        <p:nvSpPr>
          <p:cNvPr id="27" name="Rectangle 26"/>
          <p:cNvSpPr/>
          <p:nvPr/>
        </p:nvSpPr>
        <p:spPr>
          <a:xfrm>
            <a:off x="777240" y="5613108"/>
            <a:ext cx="10634472" cy="5865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96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960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649684"/>
            <a:ext cx="9692640" cy="51337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short comment block at the top of the script naming the source of the 15 and 25 thresholds, so a reviewer knows the rule is a documented policy and not a magic number.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If-Else PE Ratio Valuation — BUY / HOLD / SELL</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pe_valuation.py` five times with PE = 12, 15, 20, 25 and 30. You should see Undervalued/Buy, Fairly Valued/Hold, Fairly Valued/Hold, Fairly Valued/Hold and Overvalued/Sell. Entering -5 or 'abc' must print a validation message instead of a recommendation.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Return on Equity (ROE) Screener with a BUY / SELL Threshold</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752344"/>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You pull DBS Group Holdings (D05.SI) financials with yfinance, compute Return on Equity as Net Income divided by AVERAGE shareholders' equity, and apply a 15% threshold to generate a BUY or SELL signal. Using average equity (latest and prior year) rather than closing equity is the analyst convention, because net income is earned across the whole year. You also meet your first ZeroDivisionError risk: a company with zero or missing equity.</a:t>
            </a:r>
          </a:p>
        </p:txBody>
      </p:sp>
      <p:sp>
        <p:nvSpPr>
          <p:cNvPr id="10" name="Rectangle 9"/>
          <p:cNvSpPr/>
          <p:nvPr/>
        </p:nvSpPr>
        <p:spPr>
          <a:xfrm>
            <a:off x="777240" y="4142231"/>
            <a:ext cx="10698480" cy="20574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06823"/>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654295"/>
            <a:ext cx="10241280" cy="1005841"/>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roe_screener.py — computes ROE for D05.SI from live yfinance statements and prints a threshold-based BUY/SELL recommendation.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Return on Equity (ROE) Screener with a BUY / SELL Threshold  (1/3)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the market-data dependencies.</a:t>
            </a:r>
          </a:p>
        </p:txBody>
      </p:sp>
      <p:sp>
        <p:nvSpPr>
          <p:cNvPr id="11" name="Rectangle 10"/>
          <p:cNvSpPr/>
          <p:nvPr/>
        </p:nvSpPr>
        <p:spPr>
          <a:xfrm>
            <a:off x="7452360" y="2258568"/>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lab-14-roe-screener &amp;&amp; cd lab-14-roe-screener &amp;&amp; uv add yfinance pandas</a:t>
            </a:r>
          </a:p>
        </p:txBody>
      </p:sp>
      <p:sp>
        <p:nvSpPr>
          <p:cNvPr id="13" name="Rectangle 12"/>
          <p:cNvSpPr/>
          <p:nvPr/>
        </p:nvSpPr>
        <p:spPr>
          <a:xfrm>
            <a:off x="777240" y="2688336"/>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34056"/>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34056"/>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4912"/>
            <a:ext cx="58064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that uv recorded yfinance and pandas in pyproject.toml.</a:t>
            </a:r>
          </a:p>
        </p:txBody>
      </p:sp>
      <p:sp>
        <p:nvSpPr>
          <p:cNvPr id="17" name="Rectangle 16"/>
          <p:cNvSpPr/>
          <p:nvPr/>
        </p:nvSpPr>
        <p:spPr>
          <a:xfrm>
            <a:off x="7452360" y="2743200"/>
            <a:ext cx="3886200" cy="2834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43200"/>
            <a:ext cx="3648456" cy="28346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yfinance, pandas; print(yfinance.__version__, pandas.__version__)"</a:t>
            </a:r>
          </a:p>
        </p:txBody>
      </p:sp>
      <p:sp>
        <p:nvSpPr>
          <p:cNvPr id="19" name="Rectangle 18"/>
          <p:cNvSpPr/>
          <p:nvPr/>
        </p:nvSpPr>
        <p:spPr>
          <a:xfrm>
            <a:off x="777240" y="3172968"/>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3558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35584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209544"/>
            <a:ext cx="96926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roe_screener.py and fetch DBS: build a yf.Ticker('D05.SI') object, then read stock.financials into income_stmt and stock.balance_sheet into balance_sheet.</a:t>
            </a:r>
          </a:p>
        </p:txBody>
      </p:sp>
      <p:sp>
        <p:nvSpPr>
          <p:cNvPr id="23" name="Rectangle 22"/>
          <p:cNvSpPr/>
          <p:nvPr/>
        </p:nvSpPr>
        <p:spPr>
          <a:xfrm>
            <a:off x="777240" y="4050792"/>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2336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23367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087368"/>
            <a:ext cx="58064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the raw statements once so you know the row labels you are about to index — print income_stmt.index and balance_sheet.index.</a:t>
            </a:r>
          </a:p>
        </p:txBody>
      </p:sp>
      <p:sp>
        <p:nvSpPr>
          <p:cNvPr id="27" name="Rectangle 26"/>
          <p:cNvSpPr/>
          <p:nvPr/>
        </p:nvSpPr>
        <p:spPr>
          <a:xfrm>
            <a:off x="7452360" y="416052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16052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roe_screener.py</a:t>
            </a:r>
          </a:p>
        </p:txBody>
      </p:sp>
      <p:sp>
        <p:nvSpPr>
          <p:cNvPr id="29" name="Rectangle 28"/>
          <p:cNvSpPr/>
          <p:nvPr/>
        </p:nvSpPr>
        <p:spPr>
          <a:xfrm>
            <a:off x="777240" y="4928616"/>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1114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1114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965192"/>
            <a:ext cx="9692640" cy="71323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Extract Net Income with income_stmt.loc['Net Income'].iloc[0] (iloc[0] is the most recent year), and extract Stockholders Equity for both .iloc[0] and .iloc[1].</a:t>
            </a:r>
          </a:p>
        </p:txBody>
      </p:sp>
      <p:sp>
        <p:nvSpPr>
          <p:cNvPr id="33" name="Rectangle 32"/>
          <p:cNvSpPr/>
          <p:nvPr/>
        </p:nvSpPr>
        <p:spPr>
          <a:xfrm>
            <a:off x="777240" y="5806440"/>
            <a:ext cx="10634472" cy="3931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52160"/>
            <a:ext cx="301752" cy="3017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52160"/>
            <a:ext cx="301752" cy="301752"/>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43016"/>
            <a:ext cx="9692640" cy="3200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Compute avg_equity = (equity_latest + equity_prev) / 2, then roe = (net_income / avg_equity) * 100.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Return on Equity (ROE) Screener with a BUY / SELL Threshold  (2/3)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80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337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37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0750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a formatted report: company name and ticker, Net Income with thousands separators (${:,.0f}), Average Shareholders Equity, and ROE to 2 decimals with a percent sign.</a:t>
            </a:r>
          </a:p>
        </p:txBody>
      </p:sp>
      <p:sp>
        <p:nvSpPr>
          <p:cNvPr id="11" name="Rectangle 10"/>
          <p:cNvSpPr/>
          <p:nvPr/>
        </p:nvSpPr>
        <p:spPr>
          <a:xfrm>
            <a:off x="7452360" y="226056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6056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roe_screener.py</a:t>
            </a:r>
          </a:p>
        </p:txBody>
      </p:sp>
      <p:sp>
        <p:nvSpPr>
          <p:cNvPr id="13" name="Rectangle 12"/>
          <p:cNvSpPr/>
          <p:nvPr/>
        </p:nvSpPr>
        <p:spPr>
          <a:xfrm>
            <a:off x="777240" y="2975800"/>
            <a:ext cx="10634472" cy="680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1058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058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12376"/>
            <a:ext cx="5806440" cy="60750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decision rule with if-else: ROE above 15% prints 'STRONG — Consider BUY', 10% to 15% prints 'MODERATE — HOLD', below 10% prints 'WEAK — Consider SELL'.</a:t>
            </a:r>
          </a:p>
        </p:txBody>
      </p:sp>
      <p:sp>
        <p:nvSpPr>
          <p:cNvPr id="17" name="Rectangle 16"/>
          <p:cNvSpPr/>
          <p:nvPr/>
        </p:nvSpPr>
        <p:spPr>
          <a:xfrm>
            <a:off x="7452360" y="30326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0326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roe_screener.py</a:t>
            </a:r>
          </a:p>
        </p:txBody>
      </p:sp>
      <p:sp>
        <p:nvSpPr>
          <p:cNvPr id="19" name="Rectangle 18"/>
          <p:cNvSpPr/>
          <p:nvPr/>
        </p:nvSpPr>
        <p:spPr>
          <a:xfrm>
            <a:off x="777240" y="3747896"/>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784472"/>
            <a:ext cx="96926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"This script divides net income by average shareholders equity. Add guards so it fails safely: raise or report a clear message if average equity is zero (ZeroDivisionError), if the 'Net Income' or 'Stockholders Equity' row is missing from the statement (KeyError), or if only one year of balance sheet data exists (IndexError). Do not swallow the error silently." Review the generated guards.</a:t>
            </a:r>
          </a:p>
        </p:txBody>
      </p:sp>
      <p:sp>
        <p:nvSpPr>
          <p:cNvPr id="23" name="Rectangle 22"/>
          <p:cNvSpPr/>
          <p:nvPr/>
        </p:nvSpPr>
        <p:spPr>
          <a:xfrm>
            <a:off x="777240" y="4746878"/>
            <a:ext cx="10634472" cy="680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87689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7689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783454"/>
            <a:ext cx="5806440" cy="60750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guarded version and deliberately break it: change the ticker to a nonsense symbol such as 'ZZZZ.SI' and confirm the script reports a clear message rather than crashing with a traceback.</a:t>
            </a:r>
          </a:p>
        </p:txBody>
      </p:sp>
      <p:sp>
        <p:nvSpPr>
          <p:cNvPr id="27" name="Rectangle 26"/>
          <p:cNvSpPr/>
          <p:nvPr/>
        </p:nvSpPr>
        <p:spPr>
          <a:xfrm>
            <a:off x="7452360" y="480374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80374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roe_screener.py</a:t>
            </a:r>
          </a:p>
        </p:txBody>
      </p:sp>
      <p:sp>
        <p:nvSpPr>
          <p:cNvPr id="29" name="Rectangle 28"/>
          <p:cNvSpPr/>
          <p:nvPr/>
        </p:nvSpPr>
        <p:spPr>
          <a:xfrm>
            <a:off x="777240" y="5518974"/>
            <a:ext cx="10634472" cy="680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64899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4899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555550"/>
            <a:ext cx="5806440" cy="60750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Wrap the whole calculation in a loop over three banks — D05.SI, U11.SI, O39.SI — so one run screens all three and prints one recommendation line each.</a:t>
            </a:r>
          </a:p>
        </p:txBody>
      </p:sp>
      <p:sp>
        <p:nvSpPr>
          <p:cNvPr id="33" name="Rectangle 32"/>
          <p:cNvSpPr/>
          <p:nvPr/>
        </p:nvSpPr>
        <p:spPr>
          <a:xfrm>
            <a:off x="7452360" y="557583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57583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roe_screener.py</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Return on Equity (ROE) Screener with a BUY / SELL Threshold  (3/3)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995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399135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9135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39227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does using average equity instead of year-end equity matter most for a company that raised a lot of capital mid-year?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Return on Equity (ROE) Screener with a BUY / SELL Threshold</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roe_screener.py`. You should see a Net Income figure, an Average Shareholders Equity figure and an ROE percentage for each of D05.SI, U11.SI and O39.SI, each followed by a BUY / HOLD / SELL line. Substituting an invalid ticker must produce a readable message, never an unhandled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If-Elif Income Grouping and Credit Risk Banding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Retail banking runs on segmentation. You build a classifier that maps annual income into Low (below $30,000), Middle (up to $80,000), High (up to $150,000) and Super High Income bands, then a second classifier that maps a 300-850 credit score into Excellent / Good / Fair / Poor with the bank's stated lending posture for each. You will see why the ORDER of elif branches is load-bearing: reverse two of them and customers land in the wrong band.</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income_grouping.py — classifies annual income into four bands and a credit score into four risk categories, with range validation.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If-Elif Income Grouping and Credit Risk Banding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for the segmentation lab.</a:t>
            </a:r>
          </a:p>
        </p:txBody>
      </p:sp>
      <p:sp>
        <p:nvSpPr>
          <p:cNvPr id="11" name="Rectangle 10"/>
          <p:cNvSpPr/>
          <p:nvPr/>
        </p:nvSpPr>
        <p:spPr>
          <a:xfrm>
            <a:off x="7452360" y="1783080"/>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lab-15-income-grouping &amp;&amp; cd lab-15-income-grouping</a:t>
            </a:r>
          </a:p>
        </p:txBody>
      </p:sp>
      <p:sp>
        <p:nvSpPr>
          <p:cNvPr id="13" name="Rectangle 12"/>
          <p:cNvSpPr/>
          <p:nvPr/>
        </p:nvSpPr>
        <p:spPr>
          <a:xfrm>
            <a:off x="777240" y="2221077"/>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66797"/>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66797"/>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57653"/>
            <a:ext cx="96926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income_grouping.py and read the customer's annual income with float(input('Enter annual income: ')).</a:t>
            </a:r>
          </a:p>
        </p:txBody>
      </p:sp>
      <p:sp>
        <p:nvSpPr>
          <p:cNvPr id="17" name="Rectangle 16"/>
          <p:cNvSpPr/>
          <p:nvPr/>
        </p:nvSpPr>
        <p:spPr>
          <a:xfrm>
            <a:off x="777240" y="2713938"/>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290504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90504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2750514"/>
            <a:ext cx="96926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if-elif ladder: below 30000 is 'Low Income'; up to 80000 is 'Middle Income'; up to 150000 is 'High Income'; else 'Super High Income'.</a:t>
            </a:r>
          </a:p>
        </p:txBody>
      </p:sp>
      <p:sp>
        <p:nvSpPr>
          <p:cNvPr id="21" name="Rectangle 20"/>
          <p:cNvSpPr/>
          <p:nvPr/>
        </p:nvSpPr>
        <p:spPr>
          <a:xfrm>
            <a:off x="777240" y="3608221"/>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379933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79933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3644797"/>
            <a:ext cx="58064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result with formatting: income as ${:,.2f} and the classification on its own line.</a:t>
            </a:r>
          </a:p>
        </p:txBody>
      </p:sp>
      <p:sp>
        <p:nvSpPr>
          <p:cNvPr id="25" name="Rectangle 24"/>
          <p:cNvSpPr/>
          <p:nvPr/>
        </p:nvSpPr>
        <p:spPr>
          <a:xfrm>
            <a:off x="7452360" y="372617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72617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income_grouping.py</a:t>
            </a:r>
          </a:p>
        </p:txBody>
      </p:sp>
      <p:sp>
        <p:nvSpPr>
          <p:cNvPr id="27" name="Rectangle 26"/>
          <p:cNvSpPr/>
          <p:nvPr/>
        </p:nvSpPr>
        <p:spPr>
          <a:xfrm>
            <a:off x="777240" y="4502504"/>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6936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6936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4539080"/>
            <a:ext cx="58064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band boundaries deliberately: 29999.99, 30000, 80000, 150000 and 150000.01. Note which side of each boundary each value lands on.</a:t>
            </a:r>
          </a:p>
        </p:txBody>
      </p:sp>
      <p:sp>
        <p:nvSpPr>
          <p:cNvPr id="31" name="Rectangle 30"/>
          <p:cNvSpPr/>
          <p:nvPr/>
        </p:nvSpPr>
        <p:spPr>
          <a:xfrm>
            <a:off x="7452360" y="462046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62046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income_grouping.py</a:t>
            </a:r>
          </a:p>
        </p:txBody>
      </p:sp>
      <p:sp>
        <p:nvSpPr>
          <p:cNvPr id="33" name="Rectangle 32"/>
          <p:cNvSpPr/>
          <p:nvPr/>
        </p:nvSpPr>
        <p:spPr>
          <a:xfrm>
            <a:off x="777240" y="5396787"/>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5878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5878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433363"/>
            <a:ext cx="96926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BREAK IT ON PURPOSE: move the 'income &lt;= 150000' branch above the 'income &lt;= 80000' branch, re-run with 50000, and observe it now misclassifies as High Income. Restore the correct order and write one sentence explaining why elif order matters.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If-Elif Income Grouping and Credit Risk Banding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2830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15941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5941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120986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second classifier in the same script: read a credit score with int(input(...)) and band it — 800+ Excellent ('High probability of loan approval at best rates'), 700+ Good ('Likely approved with standard rates'), 600+ Fair ('May be approved with higher interest rates'), else Poor ('High risk; loan approval unlikely').</a:t>
            </a:r>
          </a:p>
        </p:txBody>
      </p:sp>
      <p:sp>
        <p:nvSpPr>
          <p:cNvPr id="11" name="Rectangle 10"/>
          <p:cNvSpPr/>
          <p:nvPr/>
        </p:nvSpPr>
        <p:spPr>
          <a:xfrm>
            <a:off x="7452360" y="208626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08626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income_grouping.py</a:t>
            </a:r>
          </a:p>
        </p:txBody>
      </p:sp>
      <p:sp>
        <p:nvSpPr>
          <p:cNvPr id="13" name="Rectangle 12"/>
          <p:cNvSpPr/>
          <p:nvPr/>
        </p:nvSpPr>
        <p:spPr>
          <a:xfrm>
            <a:off x="777240" y="3102673"/>
            <a:ext cx="10634472" cy="102641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4055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055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139249"/>
            <a:ext cx="9692640" cy="95326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"Add input validation to this banking classifier — reject a negative annual income, and reject any credit score outside the valid 300 to 850 range with a specific message naming the valid range. Use try/except to handle non-numeric input. Then refactor both classifiers into a single reusable function each." Review the generated functions before running them.</a:t>
            </a:r>
          </a:p>
        </p:txBody>
      </p:sp>
      <p:sp>
        <p:nvSpPr>
          <p:cNvPr id="17" name="Rectangle 16"/>
          <p:cNvSpPr/>
          <p:nvPr/>
        </p:nvSpPr>
        <p:spPr>
          <a:xfrm>
            <a:off x="777240" y="4220527"/>
            <a:ext cx="10634472" cy="5132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26681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6681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57103"/>
            <a:ext cx="5806440" cy="44005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AI-refactored script and test the invalid paths: income of -1000, credit score of 250, credit score of 900, and the text 'seven hundred'.</a:t>
            </a:r>
          </a:p>
        </p:txBody>
      </p:sp>
      <p:sp>
        <p:nvSpPr>
          <p:cNvPr id="21" name="Rectangle 20"/>
          <p:cNvSpPr/>
          <p:nvPr/>
        </p:nvSpPr>
        <p:spPr>
          <a:xfrm>
            <a:off x="7452360" y="4275391"/>
            <a:ext cx="3886200" cy="40347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275391"/>
            <a:ext cx="3648456" cy="40347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income_grouping.py</a:t>
            </a:r>
          </a:p>
        </p:txBody>
      </p:sp>
      <p:sp>
        <p:nvSpPr>
          <p:cNvPr id="23" name="Rectangle 22"/>
          <p:cNvSpPr/>
          <p:nvPr/>
        </p:nvSpPr>
        <p:spPr>
          <a:xfrm>
            <a:off x="777240" y="4825174"/>
            <a:ext cx="10634472" cy="76981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9976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9976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61750"/>
            <a:ext cx="5806440" cy="69665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combined rule at the end: a customer in the High or Super High income band AND with a credit score of 700 or above is flagged 'PRIORITY WEALTH SEGMENT'. Use the logical `and` operator inside a single if.</a:t>
            </a:r>
          </a:p>
        </p:txBody>
      </p:sp>
      <p:sp>
        <p:nvSpPr>
          <p:cNvPr id="27" name="Rectangle 26"/>
          <p:cNvSpPr/>
          <p:nvPr/>
        </p:nvSpPr>
        <p:spPr>
          <a:xfrm>
            <a:off x="7452360" y="492661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92661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income_grouping.py</a:t>
            </a:r>
          </a:p>
        </p:txBody>
      </p:sp>
      <p:sp>
        <p:nvSpPr>
          <p:cNvPr id="29" name="Rectangle 28"/>
          <p:cNvSpPr/>
          <p:nvPr/>
        </p:nvSpPr>
        <p:spPr>
          <a:xfrm>
            <a:off x="777240" y="5686424"/>
            <a:ext cx="10634472" cy="5132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7327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327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723000"/>
            <a:ext cx="9692640" cy="44005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bands here are hard-coded. What is the operational risk when the bank's segmentation policy changes and this rule is duplicated across five scripts?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If-Elif Income Grouping and Credit Risk Banding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income_grouping.py` and enter income 25000 / 55000 / 120000 / 250000 — you should get Low, Middle, High and Super High Income respectively. A credit score of 810 must return Excellent; 250 and 900 must both be rejected with a range message. Income 160000 with score 750 must print PRIORITY WEALTH SEGMENT.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Ternary Operator — One-Line Trading Decisions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ternary operator collapses a four-line if-else into one expression: value_if_true if condition else value_if_false. You use it for a price-versus-target buy/wait decision, a margin-call check, a dividend-yield flag and a safe division that returns 0 instead of raising ZeroDivisionError. You then meet its limit — a nested ternary that is technically correct but unreadable — and learn when to go back to if-elif.</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ternary_decisions.py — a set of one-line ternary rules covering buy/wait, margin call, yield flagging and zero-safe division.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Ternary Operator — One-Line Trading Decisions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lab-16-ternary-decisions &amp;&amp; cd lab-16-ternary-decisions</a:t>
            </a:r>
          </a:p>
        </p:txBody>
      </p:sp>
      <p:sp>
        <p:nvSpPr>
          <p:cNvPr id="13" name="Rectangle 12"/>
          <p:cNvSpPr/>
          <p:nvPr/>
        </p:nvSpPr>
        <p:spPr>
          <a:xfrm>
            <a:off x="777240" y="2203704"/>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229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229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ternary_decisions.py. Set current_price = 145.50 and target_price = 150.00, then write decision = 'Buy' if current_price &lt; target_price else 'Wait'.</a:t>
            </a:r>
          </a:p>
        </p:txBody>
      </p:sp>
      <p:sp>
        <p:nvSpPr>
          <p:cNvPr id="17" name="Rectangle 16"/>
          <p:cNvSpPr/>
          <p:nvPr/>
        </p:nvSpPr>
        <p:spPr>
          <a:xfrm>
            <a:off x="777240" y="2954274"/>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07352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07352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2990850"/>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current price, target price and decision, all formatted to 2 decimals.</a:t>
            </a:r>
          </a:p>
        </p:txBody>
      </p:sp>
      <p:sp>
        <p:nvSpPr>
          <p:cNvPr id="21" name="Rectangle 20"/>
          <p:cNvSpPr/>
          <p:nvPr/>
        </p:nvSpPr>
        <p:spPr>
          <a:xfrm>
            <a:off x="7452360" y="3009138"/>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009138"/>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ternary_decisions.py</a:t>
            </a:r>
          </a:p>
        </p:txBody>
      </p:sp>
      <p:sp>
        <p:nvSpPr>
          <p:cNvPr id="23" name="Rectangle 22"/>
          <p:cNvSpPr/>
          <p:nvPr/>
        </p:nvSpPr>
        <p:spPr>
          <a:xfrm>
            <a:off x="777240" y="3704844"/>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382409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82409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3741420"/>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same rule the long way as a four-line if-else, print both results, and confirm they agree. Keep both in the file as a side-by-side comparison.</a:t>
            </a:r>
          </a:p>
        </p:txBody>
      </p:sp>
      <p:sp>
        <p:nvSpPr>
          <p:cNvPr id="27" name="Rectangle 26"/>
          <p:cNvSpPr/>
          <p:nvPr/>
        </p:nvSpPr>
        <p:spPr>
          <a:xfrm>
            <a:off x="7452360" y="3759708"/>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759708"/>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ternary_decisions.py</a:t>
            </a:r>
          </a:p>
        </p:txBody>
      </p:sp>
      <p:sp>
        <p:nvSpPr>
          <p:cNvPr id="29" name="Rectangle 28"/>
          <p:cNvSpPr/>
          <p:nvPr/>
        </p:nvSpPr>
        <p:spPr>
          <a:xfrm>
            <a:off x="777240" y="4455414"/>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57466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57466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491990"/>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margin-call ternary: given account_equity = 18000 and maintenance_margin = 20000, set status = 'MARGIN CALL' if account_equity &lt; maintenance_margin else 'OK'.</a:t>
            </a:r>
          </a:p>
        </p:txBody>
      </p:sp>
      <p:sp>
        <p:nvSpPr>
          <p:cNvPr id="33" name="Rectangle 32"/>
          <p:cNvSpPr/>
          <p:nvPr/>
        </p:nvSpPr>
        <p:spPr>
          <a:xfrm>
            <a:off x="777240" y="5205984"/>
            <a:ext cx="10634472" cy="9936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4924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4924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242560"/>
            <a:ext cx="5806440" cy="9204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zero-safe ternary — the pattern you will reuse all course: margin = (net_income / revenue) * 100 if revenue != 0 else 0. Test it with revenue = 0 and confirm no ZeroDivisionError.</a:t>
            </a:r>
          </a:p>
        </p:txBody>
      </p:sp>
      <p:sp>
        <p:nvSpPr>
          <p:cNvPr id="37" name="Rectangle 36"/>
          <p:cNvSpPr/>
          <p:nvPr/>
        </p:nvSpPr>
        <p:spPr>
          <a:xfrm>
            <a:off x="7452360" y="54193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4193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ternary_decisions.py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Ternary Operator — One-Line Trading Decisions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8797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95779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5779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80663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Use a ternary inside an f-string to flag high-yield stocks: for a dividend yield of 5.8%, print a line ending in 'HIGH YIELD' if the yield exceeds 4 else 'STANDARD'.</a:t>
            </a:r>
          </a:p>
        </p:txBody>
      </p:sp>
      <p:sp>
        <p:nvSpPr>
          <p:cNvPr id="11" name="Rectangle 10"/>
          <p:cNvSpPr/>
          <p:nvPr/>
        </p:nvSpPr>
        <p:spPr>
          <a:xfrm>
            <a:off x="7452360" y="188464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88464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ternary_decisions.py</a:t>
            </a:r>
          </a:p>
        </p:txBody>
      </p:sp>
      <p:sp>
        <p:nvSpPr>
          <p:cNvPr id="13" name="Rectangle 12"/>
          <p:cNvSpPr/>
          <p:nvPr/>
        </p:nvSpPr>
        <p:spPr>
          <a:xfrm>
            <a:off x="777240" y="2699439"/>
            <a:ext cx="10634472" cy="8797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2901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2901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36015"/>
            <a:ext cx="9692640" cy="80663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"Convert this PE-ratio if-elif-else ladder with three branches (Undervalued / Fairly Valued / Overvalued) into a nested ternary expression, then tell me honestly whether the nested version is more readable and when I should NOT use a ternary." Read the answer critically.</a:t>
            </a:r>
          </a:p>
        </p:txBody>
      </p:sp>
      <p:sp>
        <p:nvSpPr>
          <p:cNvPr id="17" name="Rectangle 16"/>
          <p:cNvSpPr/>
          <p:nvPr/>
        </p:nvSpPr>
        <p:spPr>
          <a:xfrm>
            <a:off x="777240" y="3670662"/>
            <a:ext cx="10634472" cy="8797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90024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0024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707238"/>
            <a:ext cx="5806440" cy="80663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Paste the nested ternary in, run it against PE values of 12, 20 and 30, and confirm it matches Lab 13's output. Then write a one-line comment recording your own judgement on readability.</a:t>
            </a:r>
          </a:p>
        </p:txBody>
      </p:sp>
      <p:sp>
        <p:nvSpPr>
          <p:cNvPr id="21" name="Rectangle 20"/>
          <p:cNvSpPr/>
          <p:nvPr/>
        </p:nvSpPr>
        <p:spPr>
          <a:xfrm>
            <a:off x="7452360" y="382708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82708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ternary_decisions.py</a:t>
            </a:r>
          </a:p>
        </p:txBody>
      </p:sp>
      <p:sp>
        <p:nvSpPr>
          <p:cNvPr id="23" name="Rectangle 22"/>
          <p:cNvSpPr/>
          <p:nvPr/>
        </p:nvSpPr>
        <p:spPr>
          <a:xfrm>
            <a:off x="777240" y="4641885"/>
            <a:ext cx="10634472" cy="8797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8714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7146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678461"/>
            <a:ext cx="5806440" cy="80663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ternary across a small portfolio: loop over the list [('D05.SI', 35.50), ('U11.SI', 28.40), ('O39.SI', 13.10)] with a target of 30.00 and print a Buy/Wait decision per ticker in an aligned table.</a:t>
            </a:r>
          </a:p>
        </p:txBody>
      </p:sp>
      <p:sp>
        <p:nvSpPr>
          <p:cNvPr id="27" name="Rectangle 26"/>
          <p:cNvSpPr/>
          <p:nvPr/>
        </p:nvSpPr>
        <p:spPr>
          <a:xfrm>
            <a:off x="7452360" y="479831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79831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ternary_decisions.py</a:t>
            </a:r>
          </a:p>
        </p:txBody>
      </p:sp>
      <p:sp>
        <p:nvSpPr>
          <p:cNvPr id="29" name="Rectangle 28"/>
          <p:cNvSpPr/>
          <p:nvPr/>
        </p:nvSpPr>
        <p:spPr>
          <a:xfrm>
            <a:off x="777240" y="5613108"/>
            <a:ext cx="10634472" cy="5865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696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960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649684"/>
            <a:ext cx="9692640" cy="51337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a ternary always evaluates to a value, so it can sit inside a list comprehension or a function argument — where an if statement cannot. Name one place in your own code where that matters.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Ternary Operator — One-Line Trading Decisions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ternary_decisions.py`. The buy/wait decision must be 'Buy' (145.50 &lt; 150.00), the margin status must be 'MARGIN CALL', the zero-revenue margin must print 0 with no traceback, and the portfolio table must show one Buy/Wait decision per ticker.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While Loop — Fibonacci Sequence and the Golden Ratio in Technical Analysis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Fibonacci retracement is one of the most widely used tools in technical analysis, and it rests on the golden ratio 1.618034 that successive Fibonacci numbers converge to. You generate the sequence with a while loop and multiple assignment (a, b = b, a + b), watch the ratio b/a converge, then apply the derived levels — 23.6%, 38.2%, 50%, 61.8% and 78.6% — to a real price swing to produce actual support and resistance prices. You also add the guard every while loop needs: a maximum iteration count so a bad condition cannot loop forever.</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fibonacci_ta.py — generates the Fibonacci sequence with a while loop, shows golden-ratio convergence, and prints Fibonacci retracement price levels for a stock's swing high and low.</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While Loop — Fibonacci Sequence and the Golden Ratio in Technical Analysis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lab-17-fibonacci-ta &amp;&amp; cd lab-17-fibonacci-ta</a:t>
            </a:r>
          </a:p>
        </p:txBody>
      </p:sp>
      <p:sp>
        <p:nvSpPr>
          <p:cNvPr id="13" name="Rectangle 12"/>
          <p:cNvSpPr/>
          <p:nvPr/>
        </p:nvSpPr>
        <p:spPr>
          <a:xfrm>
            <a:off x="777240" y="2679192"/>
            <a:ext cx="10634472" cy="8401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889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889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669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Warm up with a savings while loop: goal 5000, monthly deposit 450, balance starting at 0. Loop while balance &lt; goal, adding the deposit and counting months, printing each month's balance. Confirm it terminates.</a:t>
            </a:r>
          </a:p>
        </p:txBody>
      </p:sp>
      <p:sp>
        <p:nvSpPr>
          <p:cNvPr id="17" name="Rectangle 16"/>
          <p:cNvSpPr/>
          <p:nvPr/>
        </p:nvSpPr>
        <p:spPr>
          <a:xfrm>
            <a:off x="7452360" y="281578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81578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fibonacci_ta.py</a:t>
            </a:r>
          </a:p>
        </p:txBody>
      </p:sp>
      <p:sp>
        <p:nvSpPr>
          <p:cNvPr id="19" name="Rectangle 18"/>
          <p:cNvSpPr/>
          <p:nvPr/>
        </p:nvSpPr>
        <p:spPr>
          <a:xfrm>
            <a:off x="777240" y="3610737"/>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7303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7303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47313"/>
            <a:ext cx="96926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Now build the Fibonacci generator: read n_terms with int(input('How many terms? ')), set a, b = 0, 1 and count = 0, and loop while count &lt; n_terms appending a to a list.</a:t>
            </a:r>
          </a:p>
        </p:txBody>
      </p:sp>
      <p:sp>
        <p:nvSpPr>
          <p:cNvPr id="23" name="Rectangle 22"/>
          <p:cNvSpPr/>
          <p:nvPr/>
        </p:nvSpPr>
        <p:spPr>
          <a:xfrm>
            <a:off x="777240" y="4247388"/>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30968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0968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283964"/>
            <a:ext cx="58064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Inside the loop, use the multiple assignment a, b = b, a + b to advance the sequence, and increment count. Print the finished sequence for 15 terms.</a:t>
            </a:r>
          </a:p>
        </p:txBody>
      </p:sp>
      <p:sp>
        <p:nvSpPr>
          <p:cNvPr id="27" name="Rectangle 26"/>
          <p:cNvSpPr/>
          <p:nvPr/>
        </p:nvSpPr>
        <p:spPr>
          <a:xfrm>
            <a:off x="7452360" y="4302252"/>
            <a:ext cx="3886200" cy="4354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302252"/>
            <a:ext cx="3648456" cy="43548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fibonacci_ta.py</a:t>
            </a:r>
          </a:p>
        </p:txBody>
      </p:sp>
      <p:sp>
        <p:nvSpPr>
          <p:cNvPr id="29" name="Rectangle 28"/>
          <p:cNvSpPr/>
          <p:nvPr/>
        </p:nvSpPr>
        <p:spPr>
          <a:xfrm>
            <a:off x="777240" y="4884039"/>
            <a:ext cx="10634472" cy="8401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09377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09377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920615"/>
            <a:ext cx="5806440" cy="7669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ratio tracking: inside the loop, when a is not zero, append b / a to a ratios list. Print the last five ratios to 6 decimal places alongside the target golden ratio ~1.618034 and watch them converge.</a:t>
            </a:r>
          </a:p>
        </p:txBody>
      </p:sp>
      <p:sp>
        <p:nvSpPr>
          <p:cNvPr id="33" name="Rectangle 32"/>
          <p:cNvSpPr/>
          <p:nvPr/>
        </p:nvSpPr>
        <p:spPr>
          <a:xfrm>
            <a:off x="7452360" y="502062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02062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fibonacci_ta.py</a:t>
            </a:r>
          </a:p>
        </p:txBody>
      </p:sp>
      <p:sp>
        <p:nvSpPr>
          <p:cNvPr id="35" name="Rectangle 34"/>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Explain in a comment why the `if a != 0` guard is required — the very first term would otherwise raise ZeroDivisionError.</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While Loop — Fibonacci Sequence and the Golden Ratio in Technical Analysis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9436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46522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6522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87050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it to markets: set swing_high = 42.80 and swing_low = 31.20 for an SGX bank. Compute the price range, then loop over the retracement levels [0.236, 0.382, 0.5, 0.618, 0.786] and print swing_high - (range * level) for each, formatted as ${:.2f}.</a:t>
            </a:r>
          </a:p>
        </p:txBody>
      </p:sp>
      <p:sp>
        <p:nvSpPr>
          <p:cNvPr id="11" name="Rectangle 10"/>
          <p:cNvSpPr/>
          <p:nvPr/>
        </p:nvSpPr>
        <p:spPr>
          <a:xfrm>
            <a:off x="7452360" y="239207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39207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fibonacci_ta.py</a:t>
            </a:r>
          </a:p>
        </p:txBody>
      </p:sp>
      <p:sp>
        <p:nvSpPr>
          <p:cNvPr id="13" name="Rectangle 12"/>
          <p:cNvSpPr/>
          <p:nvPr/>
        </p:nvSpPr>
        <p:spPr>
          <a:xfrm>
            <a:off x="777240" y="3238804"/>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84524"/>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84524"/>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275380"/>
            <a:ext cx="96926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Note in a comment that 0.618 is 1/1.618034 and 0.382 is 0.618 squared — the retracement grid is derived from the ratio your while loop just converged to.</a:t>
            </a:r>
          </a:p>
        </p:txBody>
      </p:sp>
      <p:sp>
        <p:nvSpPr>
          <p:cNvPr id="17" name="Rectangle 16"/>
          <p:cNvSpPr/>
          <p:nvPr/>
        </p:nvSpPr>
        <p:spPr>
          <a:xfrm>
            <a:off x="777240" y="3802074"/>
            <a:ext cx="10634472" cy="7077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9456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456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838650"/>
            <a:ext cx="9692640" cy="63459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"Add a safety guard to this while loop so it can never run forever — cap it at a maximum of 500 iterations and print a warning if the cap is hit. Also validate that n_terms is a positive integer, and explain what happens today if the user enters 0 or a negative number." Review and apply the guard.</a:t>
            </a:r>
          </a:p>
        </p:txBody>
      </p:sp>
      <p:sp>
        <p:nvSpPr>
          <p:cNvPr id="21" name="Rectangle 20"/>
          <p:cNvSpPr/>
          <p:nvPr/>
        </p:nvSpPr>
        <p:spPr>
          <a:xfrm>
            <a:off x="777240" y="4601259"/>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646979"/>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646979"/>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637835"/>
            <a:ext cx="58064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guard: enter 0 terms, then -5 terms, then 500 terms, and confirm the script handles all three without hanging or crashing.</a:t>
            </a:r>
          </a:p>
        </p:txBody>
      </p:sp>
      <p:sp>
        <p:nvSpPr>
          <p:cNvPr id="25" name="Rectangle 24"/>
          <p:cNvSpPr/>
          <p:nvPr/>
        </p:nvSpPr>
        <p:spPr>
          <a:xfrm>
            <a:off x="7452360" y="4656123"/>
            <a:ext cx="3886200" cy="3621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656123"/>
            <a:ext cx="3648456" cy="3621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fibonacci_ta.py</a:t>
            </a:r>
          </a:p>
        </p:txBody>
      </p:sp>
      <p:sp>
        <p:nvSpPr>
          <p:cNvPr id="27" name="Rectangle 26"/>
          <p:cNvSpPr/>
          <p:nvPr/>
        </p:nvSpPr>
        <p:spPr>
          <a:xfrm>
            <a:off x="777240" y="5164529"/>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210249"/>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210249"/>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201105"/>
            <a:ext cx="58064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decision line: given a current price of 35.90, use an if-elif ladder to report which two retracement levels the price currently sits between.</a:t>
            </a:r>
          </a:p>
        </p:txBody>
      </p:sp>
      <p:sp>
        <p:nvSpPr>
          <p:cNvPr id="31" name="Rectangle 30"/>
          <p:cNvSpPr/>
          <p:nvPr/>
        </p:nvSpPr>
        <p:spPr>
          <a:xfrm>
            <a:off x="7452360" y="5219393"/>
            <a:ext cx="3886200" cy="3621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219393"/>
            <a:ext cx="3648456" cy="3621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fibonacci_ta.py</a:t>
            </a:r>
          </a:p>
        </p:txBody>
      </p:sp>
      <p:sp>
        <p:nvSpPr>
          <p:cNvPr id="33" name="Rectangle 32"/>
          <p:cNvSpPr/>
          <p:nvPr/>
        </p:nvSpPr>
        <p:spPr>
          <a:xfrm>
            <a:off x="777240" y="5727799"/>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773519"/>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773519"/>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764375"/>
            <a:ext cx="96926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a while loop is the right choice here because you do not know in advance how many terms are needed to converge. Name one financial task where a for loop would be the better choice instead.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While Loop — Fibonacci Sequence and the Golden Ratio in Technical Analysis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fibonacci_ta.py` and enter 15 terms. The sequence must begin 0, 1, 1, 2, 3, 5, 8, 13 and the last printed ratios must be within 0.0001 of 1.618034. The retracement block must print five price levels between $31.20 and $42.80, with the 61.8% level at approximately $35.63. Entering 0 or -5 must be rejected without hanging.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For Loop and Range — Top 10 SGX Return on Assets (ROA) Ranking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You iterate a list of ten major SGX tickers — DBS, UOB, OCBC, SingTel, Jardine, Keppel, Venture, CapitaLand Integrated, Ascendas REIT and City Developments — fetching Net Income and Total Assets for each and computing ROA = Net Income / Total Assets * 100. You then sort the results and print a ranked league table. Along the way you use range for a compound-growth projection and learn why a per-ticker try/except keeps a ten-stock scan alive when one ticker's data is missing.</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roa_ranking.py — fetches fundamentals for 10 SGX tickers in a for loop and prints a sorted Top 10 ROA league table.</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For Loop and Range — Top 10 SGX Return on Assets (ROA) Ranking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market-data dependencies.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lab-18-roa-ranking &amp;&amp; cd lab-18-roa-ranking &amp;&amp; uv add yfinance pandas</a:t>
            </a:r>
          </a:p>
        </p:txBody>
      </p:sp>
      <p:sp>
        <p:nvSpPr>
          <p:cNvPr id="13" name="Rectangle 12"/>
          <p:cNvSpPr/>
          <p:nvPr/>
        </p:nvSpPr>
        <p:spPr>
          <a:xfrm>
            <a:off x="777240" y="2679192"/>
            <a:ext cx="10634472" cy="7942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6601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6601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2111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Warm up with range: in roa_ranking.py project a $1,000 principal at 5% for 10 years using `for year in range(1, years + 1)` and the formula principal * (1 + rate) ** year, printing each year-end balance.</a:t>
            </a:r>
          </a:p>
        </p:txBody>
      </p:sp>
      <p:sp>
        <p:nvSpPr>
          <p:cNvPr id="17" name="Rectangle 16"/>
          <p:cNvSpPr/>
          <p:nvPr/>
        </p:nvSpPr>
        <p:spPr>
          <a:xfrm>
            <a:off x="7452360" y="279285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9285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roa_ranking.py</a:t>
            </a:r>
          </a:p>
        </p:txBody>
      </p:sp>
      <p:sp>
        <p:nvSpPr>
          <p:cNvPr id="19" name="Rectangle 18"/>
          <p:cNvSpPr/>
          <p:nvPr/>
        </p:nvSpPr>
        <p:spPr>
          <a:xfrm>
            <a:off x="777240" y="3564894"/>
            <a:ext cx="10634472" cy="5220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156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156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01470"/>
            <a:ext cx="9692640" cy="4489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Define the ticker list: sgx_tickers = ['D05.SI', 'U11.SI', 'O39.SI', 'Z74.SI', 'J36.SI', 'BN4.SI', 'V03.SI', 'C38U.SI', 'A17U.SI', 'C07.SI'].</a:t>
            </a:r>
          </a:p>
        </p:txBody>
      </p:sp>
      <p:sp>
        <p:nvSpPr>
          <p:cNvPr id="23" name="Rectangle 22"/>
          <p:cNvSpPr/>
          <p:nvPr/>
        </p:nvSpPr>
        <p:spPr>
          <a:xfrm>
            <a:off x="777240" y="4178386"/>
            <a:ext cx="10634472" cy="5220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2291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22910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214962"/>
            <a:ext cx="9692640" cy="4489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main for loop: for each ticker build a yf.Ticker object, read stock.financials and stock.balance_sheet, extract Net Income and Total Assets with .loc[...].iloc[0], compute ROA, and append a dict {'name', 'ticker', 'roa'} to a results list.</a:t>
            </a:r>
          </a:p>
        </p:txBody>
      </p:sp>
      <p:sp>
        <p:nvSpPr>
          <p:cNvPr id="27" name="Rectangle 26"/>
          <p:cNvSpPr/>
          <p:nvPr/>
        </p:nvSpPr>
        <p:spPr>
          <a:xfrm>
            <a:off x="777240" y="4791878"/>
            <a:ext cx="10634472" cy="7942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97869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97869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4828454"/>
            <a:ext cx="5806440" cy="72111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Wrap the body of the loop in try/except so a single failing ticker prints a skip message and the loop continues to the next one instead of aborting the whole scan.</a:t>
            </a:r>
          </a:p>
        </p:txBody>
      </p:sp>
      <p:sp>
        <p:nvSpPr>
          <p:cNvPr id="31" name="Rectangle 30"/>
          <p:cNvSpPr/>
          <p:nvPr/>
        </p:nvSpPr>
        <p:spPr>
          <a:xfrm>
            <a:off x="7452360" y="490554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90554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roa_ranking.py</a:t>
            </a:r>
          </a:p>
        </p:txBody>
      </p:sp>
      <p:sp>
        <p:nvSpPr>
          <p:cNvPr id="33" name="Rectangle 32"/>
          <p:cNvSpPr/>
          <p:nvPr/>
        </p:nvSpPr>
        <p:spPr>
          <a:xfrm>
            <a:off x="777240" y="5677580"/>
            <a:ext cx="10634472" cy="5220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72829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72829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714156"/>
            <a:ext cx="9692640" cy="4489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Pull a readable company name with stock.info.get('shortName', ticker) — the .get default means a missing name falls back to the ticker rather than raising KeyError.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For Loop and Range — Top 10 SGX Return on Assets (ROA) Ranking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Sort the results descending by ROA using sorted(results, key=lambda x: x['roa'], reverse=True).</a:t>
            </a:r>
          </a:p>
        </p:txBody>
      </p:sp>
      <p:sp>
        <p:nvSpPr>
          <p:cNvPr id="11" name="Rectangle 10"/>
          <p:cNvSpPr/>
          <p:nvPr/>
        </p:nvSpPr>
        <p:spPr>
          <a:xfrm>
            <a:off x="777240" y="2679192"/>
            <a:ext cx="10634472" cy="6781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80793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0793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715768"/>
            <a:ext cx="5806440" cy="6049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a ranked table with aligned columns: use enumerate(..., 1) for the rank number and f-string width specifiers such as {name:&lt;28} {ticker:&lt;10} {roa:&gt;8.2f}, under a header row and a separator line.</a:t>
            </a:r>
          </a:p>
        </p:txBody>
      </p:sp>
      <p:sp>
        <p:nvSpPr>
          <p:cNvPr id="15" name="Rectangle 14"/>
          <p:cNvSpPr/>
          <p:nvPr/>
        </p:nvSpPr>
        <p:spPr>
          <a:xfrm>
            <a:off x="7452360" y="273478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273478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roa_ranking.py</a:t>
            </a:r>
          </a:p>
        </p:txBody>
      </p:sp>
      <p:sp>
        <p:nvSpPr>
          <p:cNvPr id="17" name="Rectangle 16"/>
          <p:cNvSpPr/>
          <p:nvPr/>
        </p:nvSpPr>
        <p:spPr>
          <a:xfrm>
            <a:off x="777240" y="3448751"/>
            <a:ext cx="10634472" cy="9140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69545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9545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485327"/>
            <a:ext cx="9692640" cy="8408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"This loop makes one network call per ticker and re-fetches on every run. Add a simple check that skips a ticker whose Total Assets is zero or missing to avoid ZeroDivisionError, count how many tickers succeeded versus were skipped, and print that summary at the end. Do not add any external caching library." Review the changes before applying.</a:t>
            </a:r>
          </a:p>
        </p:txBody>
      </p:sp>
      <p:sp>
        <p:nvSpPr>
          <p:cNvPr id="21" name="Rectangle 20"/>
          <p:cNvSpPr/>
          <p:nvPr/>
        </p:nvSpPr>
        <p:spPr>
          <a:xfrm>
            <a:off x="777240" y="4454225"/>
            <a:ext cx="10634472" cy="6781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5829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58297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490801"/>
            <a:ext cx="5806440" cy="6049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AI version and deliberately insert an invalid ticker such as 'XXXX.SI' in the middle of the list. Confirm the scan completes all ten, reports the skip, and the summary counts are correct.</a:t>
            </a:r>
          </a:p>
        </p:txBody>
      </p:sp>
      <p:sp>
        <p:nvSpPr>
          <p:cNvPr id="25" name="Rectangle 24"/>
          <p:cNvSpPr/>
          <p:nvPr/>
        </p:nvSpPr>
        <p:spPr>
          <a:xfrm>
            <a:off x="7452360" y="450982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50982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roa_ranking.py</a:t>
            </a:r>
          </a:p>
        </p:txBody>
      </p:sp>
      <p:sp>
        <p:nvSpPr>
          <p:cNvPr id="27" name="Rectangle 26"/>
          <p:cNvSpPr/>
          <p:nvPr/>
        </p:nvSpPr>
        <p:spPr>
          <a:xfrm>
            <a:off x="777240" y="5223784"/>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269504"/>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269504"/>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260360"/>
            <a:ext cx="58064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range-based slice of the league table: use `for i in range(3)` to print only the top three performers under a 'BEST IN CLASS' heading.</a:t>
            </a:r>
          </a:p>
        </p:txBody>
      </p:sp>
      <p:sp>
        <p:nvSpPr>
          <p:cNvPr id="31" name="Rectangle 30"/>
          <p:cNvSpPr/>
          <p:nvPr/>
        </p:nvSpPr>
        <p:spPr>
          <a:xfrm>
            <a:off x="7452360" y="5278648"/>
            <a:ext cx="3886200" cy="3324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278648"/>
            <a:ext cx="3648456" cy="33247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roa_ranking.py</a:t>
            </a:r>
          </a:p>
        </p:txBody>
      </p:sp>
      <p:sp>
        <p:nvSpPr>
          <p:cNvPr id="33" name="Rectangle 32"/>
          <p:cNvSpPr/>
          <p:nvPr/>
        </p:nvSpPr>
        <p:spPr>
          <a:xfrm>
            <a:off x="777240" y="5757428"/>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03148"/>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03148"/>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794004"/>
            <a:ext cx="96926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ROA and ROE tell different stories for a bank, which is highly leveraged. Which of the two is more comparable across a bank and a REIT, and why?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For Loop and Range — Top 10 SGX Return on Assets (ROA) Ranking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roa_ranking.py`. You should see the 10-year compound projection, then a ranked ROA table with up to 10 rows sorted highest ROA first, a BEST IN CLASS top-three block, and a final summary line counting successes and skips. Inserting 'XXXX.SI' must not stop the scan.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Enumerate, Zip, Break and Continue — Combined ROE and ROA Scanner</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Real screening code walks several parallel lists at once — tickers, ROE values and ROA values — and must decide row by row whether to include, skip or stop. You use zip to fuse the three series into one table, enumerate to rank it, continue to skip tickers with missing data or negative returns, and break to stop a budget-constrained buying loop the moment the cash limit would be breached. You also see the classic zip trap: zip stops silently at the SHORTEST list, so a mismatched length loses data without any error.</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roe_roa_scanner.py — a combined ROE + ROA screening table built with zip and enumerate, with continue-based skipping and a break-controlled budget allocator.</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Enumerate, Zip, Break and Continue — Combined ROE and ROA Scanner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yfinance.</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lab-19-roe-roa-scanner &amp;&amp; cd lab-19-roe-roa-scanner &amp;&amp; uv add yfinance</a:t>
            </a:r>
          </a:p>
        </p:txBody>
      </p:sp>
      <p:sp>
        <p:nvSpPr>
          <p:cNvPr id="13" name="Rectangle 12"/>
          <p:cNvSpPr/>
          <p:nvPr/>
        </p:nvSpPr>
        <p:spPr>
          <a:xfrm>
            <a:off x="777240" y="2679192"/>
            <a:ext cx="10634472" cy="479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387836" cy="3878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387836" cy="387836"/>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406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roe_roa_scanner.py, loop over sgx_tickers = ['D05.SI', 'U11.SI', 'O39.SI', 'Z74.SI', 'V03.SI'], read stock.info, and append to three parallel lists: tickers, roes (info.get('returnOnEquity', 0) * 100) and roas (info.get('returnOnAssets', 0) * 100).</a:t>
            </a:r>
          </a:p>
        </p:txBody>
      </p:sp>
      <p:sp>
        <p:nvSpPr>
          <p:cNvPr id="17" name="Rectangle 16"/>
          <p:cNvSpPr/>
          <p:nvPr/>
        </p:nvSpPr>
        <p:spPr>
          <a:xfrm>
            <a:off x="777240" y="3249908"/>
            <a:ext cx="10634472" cy="479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295628"/>
            <a:ext cx="387836" cy="3878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295628"/>
            <a:ext cx="387836" cy="387836"/>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286484"/>
            <a:ext cx="5806440" cy="406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Fuse the three lists with data = zip(tickers, roes, roas) and print a header row plus one aligned line per stock using {t:&lt;10} {roe:&lt;10.2f} {roa:&lt;10.2f}.</a:t>
            </a:r>
          </a:p>
        </p:txBody>
      </p:sp>
      <p:sp>
        <p:nvSpPr>
          <p:cNvPr id="21" name="Rectangle 20"/>
          <p:cNvSpPr/>
          <p:nvPr/>
        </p:nvSpPr>
        <p:spPr>
          <a:xfrm>
            <a:off x="7452360" y="3304772"/>
            <a:ext cx="3886200" cy="3695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304772"/>
            <a:ext cx="3648456" cy="36954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23" name="Rectangle 22"/>
          <p:cNvSpPr/>
          <p:nvPr/>
        </p:nvSpPr>
        <p:spPr>
          <a:xfrm>
            <a:off x="777240" y="3820624"/>
            <a:ext cx="10634472" cy="7320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397633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7633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3857200"/>
            <a:ext cx="5806440" cy="6588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SEE THE ZIP TRAP: temporarily append one extra ticker to `tickers` only, re-run, and confirm the extra row disappears with no error. Restore the lists and add a comment recording the lesson.</a:t>
            </a:r>
          </a:p>
        </p:txBody>
      </p:sp>
      <p:sp>
        <p:nvSpPr>
          <p:cNvPr id="27" name="Rectangle 26"/>
          <p:cNvSpPr/>
          <p:nvPr/>
        </p:nvSpPr>
        <p:spPr>
          <a:xfrm>
            <a:off x="7452360" y="390318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90318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29" name="Rectangle 28"/>
          <p:cNvSpPr/>
          <p:nvPr/>
        </p:nvSpPr>
        <p:spPr>
          <a:xfrm>
            <a:off x="777240" y="4644106"/>
            <a:ext cx="10634472" cy="732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7998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998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680682"/>
            <a:ext cx="5806440" cy="6588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enumerate to rank the table: `for rank, (t, roe, roa) in enumerate(zip(tickers, roes, roas), 1)` and print the rank in the first column. Note that start=1 gives human-readable ranks.</a:t>
            </a:r>
          </a:p>
        </p:txBody>
      </p:sp>
      <p:sp>
        <p:nvSpPr>
          <p:cNvPr id="33" name="Rectangle 32"/>
          <p:cNvSpPr/>
          <p:nvPr/>
        </p:nvSpPr>
        <p:spPr>
          <a:xfrm>
            <a:off x="7452360" y="472666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72666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35" name="Rectangle 34"/>
          <p:cNvSpPr/>
          <p:nvPr/>
        </p:nvSpPr>
        <p:spPr>
          <a:xfrm>
            <a:off x="777240" y="5467589"/>
            <a:ext cx="10634472" cy="732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6232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6232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504165"/>
            <a:ext cx="5806440" cy="6588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Use continue to skip rows with no usable data: inside the loop, if roe == 0 or roa == 0, print a 'no data — skipped' line and continue to the next ticker.</a:t>
            </a:r>
          </a:p>
        </p:txBody>
      </p:sp>
      <p:sp>
        <p:nvSpPr>
          <p:cNvPr id="39" name="Rectangle 38"/>
          <p:cNvSpPr/>
          <p:nvPr/>
        </p:nvSpPr>
        <p:spPr>
          <a:xfrm>
            <a:off x="7452360" y="555014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55014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Enumerate, Zip, Break and Continue — Combined ROE and ROA Scanner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quality flag column computed with a ternary: 'QUALITY' when ROE &gt; 10 and ROA &gt; 1, otherwise 'REVIEW'.</a:t>
            </a:r>
          </a:p>
        </p:txBody>
      </p:sp>
      <p:sp>
        <p:nvSpPr>
          <p:cNvPr id="11" name="Rectangle 10"/>
          <p:cNvSpPr/>
          <p:nvPr/>
        </p:nvSpPr>
        <p:spPr>
          <a:xfrm>
            <a:off x="7452360" y="2258568"/>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13" name="Rectangle 12"/>
          <p:cNvSpPr/>
          <p:nvPr/>
        </p:nvSpPr>
        <p:spPr>
          <a:xfrm>
            <a:off x="777240" y="2737485"/>
            <a:ext cx="10634472" cy="8846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6951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6951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74061"/>
            <a:ext cx="5806440" cy="8115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the break demo — a budget allocator: with budget = 100000 and a list of intended trade sizes [20000, 35000, 30000, 25000, 40000], accumulate them in a for loop and break the moment the next trade would exceed the budget, printing which trade was refused.</a:t>
            </a:r>
          </a:p>
        </p:txBody>
      </p:sp>
      <p:sp>
        <p:nvSpPr>
          <p:cNvPr id="17" name="Rectangle 16"/>
          <p:cNvSpPr/>
          <p:nvPr/>
        </p:nvSpPr>
        <p:spPr>
          <a:xfrm>
            <a:off x="7452360" y="289636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89636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19" name="Rectangle 18"/>
          <p:cNvSpPr/>
          <p:nvPr/>
        </p:nvSpPr>
        <p:spPr>
          <a:xfrm>
            <a:off x="777240" y="3713607"/>
            <a:ext cx="10634472" cy="6635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83505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3505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750183"/>
            <a:ext cx="5806440" cy="5903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second continue demo on a transaction feed: given [120.50, -50.00, 300.25, -20.00, 150.00, 0, 45.75], skip every non-positive amount (refunds and zeros) and total only genuine expenses.</a:t>
            </a:r>
          </a:p>
        </p:txBody>
      </p:sp>
      <p:sp>
        <p:nvSpPr>
          <p:cNvPr id="23" name="Rectangle 22"/>
          <p:cNvSpPr/>
          <p:nvPr/>
        </p:nvSpPr>
        <p:spPr>
          <a:xfrm>
            <a:off x="7452360" y="3768471"/>
            <a:ext cx="3886200" cy="553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768471"/>
            <a:ext cx="3648456" cy="55378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roe_roa_scanner.py</a:t>
            </a:r>
          </a:p>
        </p:txBody>
      </p:sp>
      <p:sp>
        <p:nvSpPr>
          <p:cNvPr id="25" name="Rectangle 24"/>
          <p:cNvSpPr/>
          <p:nvPr/>
        </p:nvSpPr>
        <p:spPr>
          <a:xfrm>
            <a:off x="777240" y="4468558"/>
            <a:ext cx="10634472" cy="6635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59000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59000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505134"/>
            <a:ext cx="9692640" cy="5903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"Rewrite this scanner so the three parallel lists become a single list of dictionaries, and explain why that is safer than zipping three separate lists that must stay the same length. Keep the enumerate ranking, the continue-based skipping and the identical printed output." Compare the two designs side by side.</a:t>
            </a:r>
          </a:p>
        </p:txBody>
      </p:sp>
      <p:sp>
        <p:nvSpPr>
          <p:cNvPr id="29" name="Rectangle 28"/>
          <p:cNvSpPr/>
          <p:nvPr/>
        </p:nvSpPr>
        <p:spPr>
          <a:xfrm>
            <a:off x="777240" y="5223509"/>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269229"/>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69229"/>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260085"/>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AI refactor into a second file, run both, and confirm the printed tables are byte-for-byte identical.</a:t>
            </a:r>
          </a:p>
        </p:txBody>
      </p:sp>
      <p:sp>
        <p:nvSpPr>
          <p:cNvPr id="33" name="Rectangle 32"/>
          <p:cNvSpPr/>
          <p:nvPr/>
        </p:nvSpPr>
        <p:spPr>
          <a:xfrm>
            <a:off x="7452360" y="5278373"/>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278373"/>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roe_roa_scanner_v2.py</a:t>
            </a:r>
          </a:p>
        </p:txBody>
      </p:sp>
      <p:sp>
        <p:nvSpPr>
          <p:cNvPr id="35" name="Rectangle 34"/>
          <p:cNvSpPr/>
          <p:nvPr/>
        </p:nvSpPr>
        <p:spPr>
          <a:xfrm>
            <a:off x="777240" y="5757290"/>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03010"/>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03010"/>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793866"/>
            <a:ext cx="96926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break exits the loop entirely while continue only skips the current iteration. In a compliance scan of 5,000 transactions, which one would you use to skip malformed records, and which to abort on a hard stop rule?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Enumerate, Zip, Break and Continue — Combined ROE and ROA Scanner</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roe_roa_scanner.py`. The scanner must print a ranked table with Rank, Ticker, ROE %, ROA % and a QUALITY/REVIEW flag for each stock that returned data, skip lines for any that did not, a budget allocator that stops before breaching $100,000, and a total-valid-expenses figure of $616.50 from the transaction feed.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Comprehensions — Net Profit Margin for 10 Singapore Stocks in One Line</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752344"/>
            <a:ext cx="10698480" cy="175564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Comprehensions are the idiom that makes Python financial code short and reviewable. You build up from simple currency conversion and GST examples to the topic's headline activity: net profit margin (Net Income / Total Revenue * 100) computed across ten SGX tickers with a single list comprehension, plus a set comprehension that de-duplicates tickers from a transaction history and a dict comprehension that builds a ticker-to-margin lookup and filters it to the high-margin names. You finish by comparing the comprehension against the equivalent for loop.</a:t>
            </a:r>
          </a:p>
        </p:txBody>
      </p:sp>
      <p:sp>
        <p:nvSpPr>
          <p:cNvPr id="10" name="Rectangle 9"/>
          <p:cNvSpPr/>
          <p:nvPr/>
        </p:nvSpPr>
        <p:spPr>
          <a:xfrm>
            <a:off x="777240" y="4690872"/>
            <a:ext cx="10698480"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85546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5202936"/>
            <a:ext cx="10241280" cy="45720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margin_comprehensions.py — computes net profit margin for 10 SGX stocks with a list comprehension, plus set and dict comprehension utilities and a filtered high-margin lookup.</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Comprehensions — Net Profit Margin for 10 Singapore Stocks in One Line  (1/3)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the dependencies.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lab-20-margin-comprehensions &amp;&amp; cd lab-20-margin-comprehensions &amp;&amp; uv add yfinance pandas</a:t>
            </a:r>
          </a:p>
        </p:txBody>
      </p:sp>
      <p:sp>
        <p:nvSpPr>
          <p:cNvPr id="13" name="Rectangle 12"/>
          <p:cNvSpPr/>
          <p:nvPr/>
        </p:nvSpPr>
        <p:spPr>
          <a:xfrm>
            <a:off x="777240" y="2679192"/>
            <a:ext cx="10634472" cy="7967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672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672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235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Warm up with three list comprehensions in margin_comprehensions.py: convert prices_sgd = [35.50, 28.40, 13.10, 5.20] to USD at 0.74; apply 9% GST to subtotals [100, 250, 45] with round(amt * 1.09, 2); and select tickers priced above $20 using [t for t, p in zip(tickers, prices) if p &gt; 20].</a:t>
            </a:r>
          </a:p>
        </p:txBody>
      </p:sp>
      <p:sp>
        <p:nvSpPr>
          <p:cNvPr id="17" name="Rectangle 16"/>
          <p:cNvSpPr/>
          <p:nvPr/>
        </p:nvSpPr>
        <p:spPr>
          <a:xfrm>
            <a:off x="7452360" y="279409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9409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19" name="Rectangle 18"/>
          <p:cNvSpPr/>
          <p:nvPr/>
        </p:nvSpPr>
        <p:spPr>
          <a:xfrm>
            <a:off x="777240" y="3567370"/>
            <a:ext cx="10634472" cy="5885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5134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5134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03946"/>
            <a:ext cx="5806440" cy="5154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set comprehension over a transaction history list of dicts to extract the unique tickers: {t['ticker'] for t in transactions}. Print the set and its length to prove duplicates were removed.</a:t>
            </a:r>
          </a:p>
        </p:txBody>
      </p:sp>
      <p:sp>
        <p:nvSpPr>
          <p:cNvPr id="23" name="Rectangle 22"/>
          <p:cNvSpPr/>
          <p:nvPr/>
        </p:nvSpPr>
        <p:spPr>
          <a:xfrm>
            <a:off x="7452360" y="3622234"/>
            <a:ext cx="3886200" cy="47885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622234"/>
            <a:ext cx="3648456" cy="47885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25" name="Rectangle 24"/>
          <p:cNvSpPr/>
          <p:nvPr/>
        </p:nvSpPr>
        <p:spPr>
          <a:xfrm>
            <a:off x="777240" y="4247388"/>
            <a:ext cx="10634472" cy="7967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43544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43544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283964"/>
            <a:ext cx="5806440" cy="7235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two dict comprehensions: build a market-cap lookup from parallel lists with {t: c for t, c in zip(tickers, market_caps)}, then filter an existing price dict to only stocks above $20 with {t: p for t, p in prices.items() if p &gt; 20}.</a:t>
            </a:r>
          </a:p>
        </p:txBody>
      </p:sp>
      <p:sp>
        <p:nvSpPr>
          <p:cNvPr id="29" name="Rectangle 28"/>
          <p:cNvSpPr/>
          <p:nvPr/>
        </p:nvSpPr>
        <p:spPr>
          <a:xfrm>
            <a:off x="7452360" y="436229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36229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31" name="Rectangle 30"/>
          <p:cNvSpPr/>
          <p:nvPr/>
        </p:nvSpPr>
        <p:spPr>
          <a:xfrm>
            <a:off x="777240" y="5135566"/>
            <a:ext cx="10634472" cy="5885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21954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21954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5172142"/>
            <a:ext cx="9692640" cy="5154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Now the main activity. Define a helper function get_margin(ticker) that fetches stock.financials, reads Net Income and Total Revenue with .loc[...].iloc[0], and returns {'ticker': ticker, 'margin': (net_income / revenue) * 100}, returning a margin of None inside an except block.</a:t>
            </a:r>
          </a:p>
        </p:txBody>
      </p:sp>
      <p:sp>
        <p:nvSpPr>
          <p:cNvPr id="35" name="Rectangle 34"/>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Define the ten tickers ['D05.SI', 'U11.SI', 'O39.SI', 'Z74.SI', 'J36.SI', 'BN4.SI', 'V03.SI', 'C38U.SI', 'A17U.SI', 'C07.SI'] and compute every margin in ONE line: results = [get_margin(t) for t in sgx_tickers].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Comprehensions — Net Profit Margin for 10 Singapore Stocks in One Line  (2/3)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564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564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results as an aligned table with a header, handling the None case in the f-string so a failed fetch shows 'N/A' rather than crashing on format.</a:t>
            </a:r>
          </a:p>
        </p:txBody>
      </p:sp>
      <p:sp>
        <p:nvSpPr>
          <p:cNvPr id="11" name="Rectangle 10"/>
          <p:cNvSpPr/>
          <p:nvPr/>
        </p:nvSpPr>
        <p:spPr>
          <a:xfrm>
            <a:off x="7452360" y="228325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8325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13" name="Rectangle 12"/>
          <p:cNvSpPr/>
          <p:nvPr/>
        </p:nvSpPr>
        <p:spPr>
          <a:xfrm>
            <a:off x="777240" y="3021177"/>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17388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7388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57753"/>
            <a:ext cx="58064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filtering comprehension on top of the results: high_margin = [r for r in results if r['margin'] is not None and r['margin'] &gt; 20] and print how many of the ten cleared the 20% bar.</a:t>
            </a:r>
          </a:p>
        </p:txBody>
      </p:sp>
      <p:sp>
        <p:nvSpPr>
          <p:cNvPr id="17" name="Rectangle 16"/>
          <p:cNvSpPr/>
          <p:nvPr/>
        </p:nvSpPr>
        <p:spPr>
          <a:xfrm>
            <a:off x="7452360" y="310072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10072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19" name="Rectangle 18"/>
          <p:cNvSpPr/>
          <p:nvPr/>
        </p:nvSpPr>
        <p:spPr>
          <a:xfrm>
            <a:off x="777240" y="3838650"/>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99135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99135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875226"/>
            <a:ext cx="58064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the dict lookup with a dict comprehension: margin_lookup = {r['ticker']: round(r['margin'], 2) for r in results if r['margin'] is not None}, then query a single ticker from it.</a:t>
            </a:r>
          </a:p>
        </p:txBody>
      </p:sp>
      <p:sp>
        <p:nvSpPr>
          <p:cNvPr id="23" name="Rectangle 22"/>
          <p:cNvSpPr/>
          <p:nvPr/>
        </p:nvSpPr>
        <p:spPr>
          <a:xfrm>
            <a:off x="7452360" y="391820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91820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25" name="Rectangle 24"/>
          <p:cNvSpPr/>
          <p:nvPr/>
        </p:nvSpPr>
        <p:spPr>
          <a:xfrm>
            <a:off x="777240" y="4656123"/>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80882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0882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692699"/>
            <a:ext cx="96926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"Rewrite this single-line list comprehension as an explicit for loop with the same behaviour, then tell me which version you would approve in a code review for a financial reporting system and why. Also point out any case where the comprehension silently hides an error that the for loop would surface." Read the reasoning carefully.</a:t>
            </a:r>
          </a:p>
        </p:txBody>
      </p:sp>
      <p:sp>
        <p:nvSpPr>
          <p:cNvPr id="29" name="Rectangle 28"/>
          <p:cNvSpPr/>
          <p:nvPr/>
        </p:nvSpPr>
        <p:spPr>
          <a:xfrm>
            <a:off x="777240" y="5473596"/>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6263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2630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510172"/>
            <a:ext cx="58064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AI's for-loop version alongside the comprehension, run both, and assert they produce identical results with a simple equality check printed as PASS or FAIL.</a:t>
            </a:r>
          </a:p>
        </p:txBody>
      </p:sp>
      <p:sp>
        <p:nvSpPr>
          <p:cNvPr id="33" name="Rectangle 32"/>
          <p:cNvSpPr/>
          <p:nvPr/>
        </p:nvSpPr>
        <p:spPr>
          <a:xfrm>
            <a:off x="7452360" y="555314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55314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Comprehensions — Net Profit Margin for 10 Singapore Stocks in One Line  (3/3)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995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399135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9135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9227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bare `except:` inside get_margin catches everything, including a typo in a row label. Replace it with `except (KeyError, IndexError, ZeroDivisionError)` and re-run — does anything now fail loudly that was silently returning None before?</a:t>
            </a:r>
          </a:p>
        </p:txBody>
      </p:sp>
      <p:sp>
        <p:nvSpPr>
          <p:cNvPr id="11" name="Rectangle 10"/>
          <p:cNvSpPr/>
          <p:nvPr/>
        </p:nvSpPr>
        <p:spPr>
          <a:xfrm>
            <a:off x="7452360" y="391820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391820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margin_comprehensions.py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Comprehensions — Net Profit Margin for 10 Singapore Stocks in One Line</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margin_comprehensions.py`. It must print the USD prices, GST totals and &gt;$20 ticker list; a unique-ticker set of size 3; a market-cap dict and a filtered high-value price dict; a 10-row net profit margin table where any failed fetch shows N/A; a count of stocks above a 20% margin; and a final PASS line confirming the comprehension and the for-loop versions agree.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Problem Solving with Control Structures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LO2: Apply control structures to classify a stock's valuation and produce a BUY / HOLD / SELL recommendation from its PE ratio.</a:t>
            </a:r>
          </a:p>
          <a:p>
            <a:pPr>
              <a:spcAft>
                <a:spcPts val="1000"/>
              </a:spcAft>
            </a:pPr>
            <a:r>
              <a:rPr sz="1700" b="0">
                <a:solidFill>
                  <a:srgbClr val="161B26"/>
                </a:solidFill>
                <a:latin typeface="Arial"/>
              </a:rPr>
              <a:t>•  You can now: LO2: Apply conditional logic to a real SGX fundamental metric, computing ROE from live financial statements and converting it into an investment decision.</a:t>
            </a:r>
          </a:p>
          <a:p>
            <a:pPr>
              <a:spcAft>
                <a:spcPts val="1000"/>
              </a:spcAft>
            </a:pPr>
            <a:r>
              <a:rPr sz="1700" b="0">
                <a:solidFill>
                  <a:srgbClr val="161B26"/>
                </a:solidFill>
                <a:latin typeface="Arial"/>
              </a:rPr>
              <a:t>•  You can now: LO2: Apply a multi-branch if-elif-else ladder to classify bank customers into income bands and credit-risk categories.</a:t>
            </a:r>
          </a:p>
          <a:p>
            <a:pPr>
              <a:spcAft>
                <a:spcPts val="1000"/>
              </a:spcAft>
            </a:pPr>
            <a:r>
              <a:rPr sz="1700" b="0">
                <a:solidFill>
                  <a:srgbClr val="161B26"/>
                </a:solidFill>
                <a:latin typeface="Arial"/>
              </a:rPr>
              <a:t>•  You can now: LO2: Apply the ternary conditional expression to write compact, readable one-line financial decision rules.</a:t>
            </a:r>
          </a:p>
          <a:p>
            <a:pPr>
              <a:spcAft>
                <a:spcPts val="1000"/>
              </a:spcAft>
            </a:pPr>
            <a:r>
              <a:rPr sz="1700" b="0">
                <a:solidFill>
                  <a:srgbClr val="161B26"/>
                </a:solidFill>
                <a:latin typeface="Arial"/>
              </a:rPr>
              <a:t>•  You can now: LO2: Apply a while loop to generate a sequence that repeats until a condition is met, and use it to derive the Fibonacci retracement levels used in technical analysis.</a:t>
            </a:r>
          </a:p>
          <a:p>
            <a:pPr>
              <a:spcAft>
                <a:spcPts val="1000"/>
              </a:spcAft>
            </a:pPr>
            <a:r>
              <a:rPr sz="1700" b="0">
                <a:solidFill>
                  <a:srgbClr val="161B26"/>
                </a:solidFill>
                <a:latin typeface="Arial"/>
              </a:rPr>
              <a:t>•  You can now: LO2: Apply for loops and the range function to iterate a portfolio of tickers, compute Return on Assets for each, and rank the results.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DAY 1 COMPLETE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End of Day 1</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today's labs and bring your questions to tomorrow morning.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START OF DAY 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Day 2</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Reusable and Robust Code — functions, lambda and exception handling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DIGITAL ATTENDANCE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It is mandatory to take the AM, PM and Assessment digital attendance for this funded course.</a:t>
            </a:r>
          </a:p>
          <a:p>
            <a:pPr>
              <a:spcAft>
                <a:spcPts val="1000"/>
              </a:spcAft>
            </a:pPr>
            <a:r>
              <a:rPr sz="2000" b="0">
                <a:solidFill>
                  <a:srgbClr val="161B26"/>
                </a:solidFill>
                <a:latin typeface="Arial"/>
              </a:rPr>
              <a:t>•  The trainer/administrator displays the digital attendance QR code from the training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IBF-STS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Scripting with Function and Lambda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Functions · Return values · Argument styles · Lambda · Map · Filter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14%</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Scripting with Function and Lambda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Functions are reusable blocks that turn a business requirement into a named, testable unit.</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A function can return multiple values, letting one call deliver a full set of financial ratios.</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Multiple, default, named and variable arguments make a pricing or ratio function flexible without duplication.</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Lambda creates small anonymous functions for one-off financial formulas.</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Map applies a lambda across a sequence of stocks; filter selects the subset that meets a business threshold such as high-income customers.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Scripting with Function and Lambda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21–23</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Functions — A Reusable Financial Formula Library</a:t>
            </a:r>
          </a:p>
          <a:p>
            <a:pPr>
              <a:spcAft>
                <a:spcPts val="900"/>
              </a:spcAft>
            </a:pPr>
            <a:r>
              <a:rPr sz="1400" b="0">
                <a:solidFill>
                  <a:srgbClr val="161B26"/>
                </a:solidFill>
                <a:latin typeface="Arial"/>
              </a:rPr>
              <a:t>•  Return Multiple Values — A Full Income Statement Analysis in One Call</a:t>
            </a:r>
          </a:p>
          <a:p>
            <a:pPr>
              <a:spcAft>
                <a:spcPts val="900"/>
              </a:spcAft>
            </a:pPr>
            <a:r>
              <a:rPr sz="1400" b="0">
                <a:solidFill>
                  <a:srgbClr val="161B26"/>
                </a:solidFill>
                <a:latin typeface="Arial"/>
              </a:rPr>
              <a:t>•  Activity: Net Profit Margin Function with Zero-Revenue Handling</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24–26</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Multiple, Default and Named Arguments — A Flexible Valuation Toolkit</a:t>
            </a:r>
          </a:p>
          <a:p>
            <a:pPr>
              <a:spcAft>
                <a:spcPts val="900"/>
              </a:spcAft>
            </a:pPr>
            <a:r>
              <a:rPr sz="1400" b="0">
                <a:solidFill>
                  <a:srgbClr val="161B26"/>
                </a:solidFill>
                <a:latin typeface="Arial"/>
              </a:rPr>
              <a:t>•  Variable Arguments — *args and **kwargs for Portfolios of Any Size</a:t>
            </a:r>
          </a:p>
          <a:p>
            <a:pPr>
              <a:spcAft>
                <a:spcPts val="900"/>
              </a:spcAft>
            </a:pPr>
            <a:r>
              <a:rPr sz="1400" b="0">
                <a:solidFill>
                  <a:srgbClr val="161B26"/>
                </a:solidFill>
                <a:latin typeface="Arial"/>
              </a:rPr>
              <a:t>•  Activity: Max ROE Function — Finding the Best Performer in a Portfolio</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27–28</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Lambda and Map — Gross Profit Margin and ROE Across a Portfolio</a:t>
            </a:r>
          </a:p>
          <a:p>
            <a:pPr>
              <a:spcAft>
                <a:spcPts val="900"/>
              </a:spcAft>
            </a:pPr>
            <a:r>
              <a:rPr sz="1400" b="0">
                <a:solidFill>
                  <a:srgbClr val="161B26"/>
                </a:solidFill>
                <a:latin typeface="Arial"/>
              </a:rPr>
              <a:t>•  Filter — Top Income Customers and High-ROE Stock Screening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Functions — A Reusable Financial Formula Library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You build your first reusable module: three named functions covering Compound Annual Growth Rate, simple interest and break-even units. Each gets a docstring stating the formula, because in a regulated environment the formula must be auditable from the code. You then see the difference between a function that returns a value and one that only prints, and why the returning version is the only one you can test.</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finance_formulas.py — a module of documented, reusable financial functions (CAGR, simple interest, break-even units) with a demonstration block.</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Functions — A Reusable Financial Formula Library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for your formula library.</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lab-21-finance-formulas &amp;&amp; cd lab-21-finance-formulas</a:t>
            </a:r>
          </a:p>
        </p:txBody>
      </p:sp>
      <p:sp>
        <p:nvSpPr>
          <p:cNvPr id="13" name="Rectangle 12"/>
          <p:cNvSpPr/>
          <p:nvPr/>
        </p:nvSpPr>
        <p:spPr>
          <a:xfrm>
            <a:off x="777240" y="2203704"/>
            <a:ext cx="10634472" cy="5119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49424"/>
            <a:ext cx="420501" cy="4205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49424"/>
            <a:ext cx="420501" cy="42050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9692640" cy="4387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finance_formulas.py define calculate_cagr(beginning_value, ending_value, years) returning ((ending_value / beginning_value) ** (1 / years)) - 1, with a one-line docstring naming the metric.</a:t>
            </a:r>
          </a:p>
        </p:txBody>
      </p:sp>
      <p:sp>
        <p:nvSpPr>
          <p:cNvPr id="17" name="Rectangle 16"/>
          <p:cNvSpPr/>
          <p:nvPr/>
        </p:nvSpPr>
        <p:spPr>
          <a:xfrm>
            <a:off x="777240" y="2807085"/>
            <a:ext cx="10634472" cy="5119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2852805"/>
            <a:ext cx="420502" cy="42050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52805"/>
            <a:ext cx="420502" cy="420502"/>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2843661"/>
            <a:ext cx="9692640" cy="4387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Define calculate_simple_interest(principal, rate, time) returning principal * (rate / 100) * time — note the rate is passed as a whole number of percent, and say so in the docstring.</a:t>
            </a:r>
          </a:p>
        </p:txBody>
      </p:sp>
      <p:sp>
        <p:nvSpPr>
          <p:cNvPr id="21" name="Rectangle 20"/>
          <p:cNvSpPr/>
          <p:nvPr/>
        </p:nvSpPr>
        <p:spPr>
          <a:xfrm>
            <a:off x="777240" y="3410467"/>
            <a:ext cx="10634472" cy="5119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3456187"/>
            <a:ext cx="420502" cy="42050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456187"/>
            <a:ext cx="420502" cy="420502"/>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3447043"/>
            <a:ext cx="9692640" cy="4387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Define break_even_units(fixed_costs, price_per_unit, variable_cost_per_unit) returning fixed_costs / (price_per_unit - variable_cost_per_unit).</a:t>
            </a:r>
          </a:p>
        </p:txBody>
      </p:sp>
      <p:sp>
        <p:nvSpPr>
          <p:cNvPr id="25" name="Rectangle 24"/>
          <p:cNvSpPr/>
          <p:nvPr/>
        </p:nvSpPr>
        <p:spPr>
          <a:xfrm>
            <a:off x="777240" y="4013849"/>
            <a:ext cx="10634472" cy="13147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46093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46093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4050425"/>
            <a:ext cx="5806440" cy="124163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Call all three with the worked examples — CAGR from 10000 to 15000 over 5 years, simple interest on 5000 at 4.5% for 2 years, break-even on 20000 fixed costs at a $50 price and $30 variable cost — and print each result with the right format specifier ({:.2%} for CAGR, ${:.2f} for interest, whole units for break-even).</a:t>
            </a:r>
          </a:p>
        </p:txBody>
      </p:sp>
      <p:sp>
        <p:nvSpPr>
          <p:cNvPr id="29" name="Rectangle 28"/>
          <p:cNvSpPr/>
          <p:nvPr/>
        </p:nvSpPr>
        <p:spPr>
          <a:xfrm>
            <a:off x="7452360" y="438777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38777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finance_formulas.py</a:t>
            </a:r>
          </a:p>
        </p:txBody>
      </p:sp>
      <p:sp>
        <p:nvSpPr>
          <p:cNvPr id="31" name="Rectangle 30"/>
          <p:cNvSpPr/>
          <p:nvPr/>
        </p:nvSpPr>
        <p:spPr>
          <a:xfrm>
            <a:off x="777240" y="5420075"/>
            <a:ext cx="10634472" cy="7795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59954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59954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456651"/>
            <a:ext cx="5806440" cy="7064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CONTRAST: write a fourth function that prints the CAGR instead of returning it. Try to use its output in a further calculation and observe that you get None. Write a comment recording why 'return' beats 'print' in a library.</a:t>
            </a:r>
          </a:p>
        </p:txBody>
      </p:sp>
      <p:sp>
        <p:nvSpPr>
          <p:cNvPr id="35" name="Rectangle 34"/>
          <p:cNvSpPr/>
          <p:nvPr/>
        </p:nvSpPr>
        <p:spPr>
          <a:xfrm>
            <a:off x="7452360" y="552638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52638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finance_formulas.py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Functions — A Reusable Financial Formula Library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2632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14954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954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1901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"Add input validation to these three financial functions. calculate_cagr must reject a zero or negative beginning value and zero years; break_even_units must reject a contribution margin of zero or below because that means the product never breaks even (ZeroDivisionError). Raise ValueError with a message naming the offending argument." Review the exceptions it chose.</a:t>
            </a:r>
          </a:p>
        </p:txBody>
      </p:sp>
      <p:sp>
        <p:nvSpPr>
          <p:cNvPr id="11" name="Rectangle 10"/>
          <p:cNvSpPr/>
          <p:nvPr/>
        </p:nvSpPr>
        <p:spPr>
          <a:xfrm>
            <a:off x="777240" y="3082934"/>
            <a:ext cx="10634472" cy="94745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34635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4635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119510"/>
            <a:ext cx="5806440" cy="87430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validated version and test each failure path: CAGR with beginning_value = 0, CAGR with years = 0, and break-even where the variable cost exceeds the price.</a:t>
            </a:r>
          </a:p>
        </p:txBody>
      </p:sp>
      <p:sp>
        <p:nvSpPr>
          <p:cNvPr id="15" name="Rectangle 14"/>
          <p:cNvSpPr/>
          <p:nvPr/>
        </p:nvSpPr>
        <p:spPr>
          <a:xfrm>
            <a:off x="7452360" y="327319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327319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finance_formulas.py</a:t>
            </a:r>
          </a:p>
        </p:txBody>
      </p:sp>
      <p:sp>
        <p:nvSpPr>
          <p:cNvPr id="17" name="Rectangle 16"/>
          <p:cNvSpPr/>
          <p:nvPr/>
        </p:nvSpPr>
        <p:spPr>
          <a:xfrm>
            <a:off x="777240" y="4121833"/>
            <a:ext cx="10634472" cy="631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22734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2734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158409"/>
            <a:ext cx="5806440" cy="55848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`if __name__ == '__main__':` guard around the demonstration block so the module can be imported by later labs without running the demo.</a:t>
            </a:r>
          </a:p>
        </p:txBody>
      </p:sp>
      <p:sp>
        <p:nvSpPr>
          <p:cNvPr id="21" name="Rectangle 20"/>
          <p:cNvSpPr/>
          <p:nvPr/>
        </p:nvSpPr>
        <p:spPr>
          <a:xfrm>
            <a:off x="7452360" y="4176697"/>
            <a:ext cx="3886200" cy="52191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176697"/>
            <a:ext cx="3648456" cy="52191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finance_formulas.py</a:t>
            </a:r>
          </a:p>
        </p:txBody>
      </p:sp>
      <p:sp>
        <p:nvSpPr>
          <p:cNvPr id="23" name="Rectangle 22"/>
          <p:cNvSpPr/>
          <p:nvPr/>
        </p:nvSpPr>
        <p:spPr>
          <a:xfrm>
            <a:off x="777240" y="4844912"/>
            <a:ext cx="10634472" cy="631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504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5041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81488"/>
            <a:ext cx="5806440" cy="55848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the guard works by importing the module and calling one function from a one-liner.</a:t>
            </a:r>
          </a:p>
        </p:txBody>
      </p:sp>
      <p:sp>
        <p:nvSpPr>
          <p:cNvPr id="27" name="Rectangle 26"/>
          <p:cNvSpPr/>
          <p:nvPr/>
        </p:nvSpPr>
        <p:spPr>
          <a:xfrm>
            <a:off x="7452360" y="4899776"/>
            <a:ext cx="3886200" cy="52191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899776"/>
            <a:ext cx="3648456" cy="52191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finance_formulas import calculate_cagr; print(f'{calculate_cagr(10000, 15000, 5):.2%}')"</a:t>
            </a:r>
          </a:p>
        </p:txBody>
      </p:sp>
      <p:sp>
        <p:nvSpPr>
          <p:cNvPr id="29" name="Rectangle 28"/>
          <p:cNvSpPr/>
          <p:nvPr/>
        </p:nvSpPr>
        <p:spPr>
          <a:xfrm>
            <a:off x="777240" y="5567991"/>
            <a:ext cx="10634472" cy="631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6734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734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604567"/>
            <a:ext cx="9692640" cy="55848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what does the CAGR figure hide about the year-by-year path an investment took, and why does that matter to a client conversation?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Functions — A Reusable Financial Formula Library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finance_formulas.py`. CAGR must print 8.45%, simple interest $450.00, and break-even 1000 units. The import one-liner must print 8.45% with no demonstration output, proving the __main__ guard works. All three invalid-input tests must raise a ValueError naming the bad argument.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Return Multiple Values — A Full Income Statement Analysis in One Call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752344"/>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A single call should be able to hand back a whole analysis. You build analyze_income_statement(revenue, cogs, operating_expenses) which returns gross profit, net income and profit margin as a tuple, then unpack all three in one assignment. You compare tuple return against dictionary return, learn why the tuple's ORDER is a silent trap when a caller unpacks it wrongly, and finish with a named-tuple version that removes the trap.</a:t>
            </a:r>
          </a:p>
        </p:txBody>
      </p:sp>
      <p:sp>
        <p:nvSpPr>
          <p:cNvPr id="10" name="Rectangle 9"/>
          <p:cNvSpPr/>
          <p:nvPr/>
        </p:nvSpPr>
        <p:spPr>
          <a:xfrm>
            <a:off x="777240" y="4142231"/>
            <a:ext cx="10698480" cy="20574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06823"/>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654295"/>
            <a:ext cx="10241280" cy="1005841"/>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income_analysis.py — an income statement analyser returning gross profit, net income and margin, in tuple, dict and namedtuple variants.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Return Multiple Values — A Full Income Statement Analysis in One Call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lab-22-income-analysis &amp;&amp; cd lab-22-income-analysis</a:t>
            </a:r>
          </a:p>
        </p:txBody>
      </p:sp>
      <p:sp>
        <p:nvSpPr>
          <p:cNvPr id="13" name="Rectangle 12"/>
          <p:cNvSpPr/>
          <p:nvPr/>
        </p:nvSpPr>
        <p:spPr>
          <a:xfrm>
            <a:off x="777240" y="2679192"/>
            <a:ext cx="10634472" cy="5220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99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99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4489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income_analysis.py define analyze_income_statement(revenue, cogs, operating_expenses). Compute gross_profit = revenue - cogs, net_income = gross_profit - operating_expenses, and profit_margin = (net_income / revenue) * 100 if revenue != 0 else 0.</a:t>
            </a:r>
          </a:p>
        </p:txBody>
      </p:sp>
      <p:sp>
        <p:nvSpPr>
          <p:cNvPr id="17" name="Rectangle 16"/>
          <p:cNvSpPr/>
          <p:nvPr/>
        </p:nvSpPr>
        <p:spPr>
          <a:xfrm>
            <a:off x="777240" y="3292684"/>
            <a:ext cx="10634472" cy="5220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3433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3433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329260"/>
            <a:ext cx="9692640" cy="4489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Return all three as a tuple: `return gross_profit, net_income, profit_margin`. Note in the docstring that this is a tuple return even though there are no parentheses.</a:t>
            </a:r>
          </a:p>
        </p:txBody>
      </p:sp>
      <p:sp>
        <p:nvSpPr>
          <p:cNvPr id="21" name="Rectangle 20"/>
          <p:cNvSpPr/>
          <p:nvPr/>
        </p:nvSpPr>
        <p:spPr>
          <a:xfrm>
            <a:off x="777240" y="3906176"/>
            <a:ext cx="10634472" cy="5220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395689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5689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3942752"/>
            <a:ext cx="9692640" cy="4489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Call it with revenue 500000, COGS 200000 and operating expenses 150000, unpacking with `gp, ni, pm = analyze_income_statement(...)`.</a:t>
            </a:r>
          </a:p>
        </p:txBody>
      </p:sp>
      <p:sp>
        <p:nvSpPr>
          <p:cNvPr id="25" name="Rectangle 24"/>
          <p:cNvSpPr/>
          <p:nvPr/>
        </p:nvSpPr>
        <p:spPr>
          <a:xfrm>
            <a:off x="777240" y="4519668"/>
            <a:ext cx="10634472" cy="7942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70648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70648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4556244"/>
            <a:ext cx="5806440" cy="72111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a formatted mini income statement: Revenue, Gross Profit and Net Income with thousands separators, and Profit Margin to 2 decimals with a percent sign.</a:t>
            </a:r>
          </a:p>
        </p:txBody>
      </p:sp>
      <p:sp>
        <p:nvSpPr>
          <p:cNvPr id="29" name="Rectangle 28"/>
          <p:cNvSpPr/>
          <p:nvPr/>
        </p:nvSpPr>
        <p:spPr>
          <a:xfrm>
            <a:off x="7452360" y="463333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63333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income_analysis.py</a:t>
            </a:r>
          </a:p>
        </p:txBody>
      </p:sp>
      <p:sp>
        <p:nvSpPr>
          <p:cNvPr id="31" name="Rectangle 30"/>
          <p:cNvSpPr/>
          <p:nvPr/>
        </p:nvSpPr>
        <p:spPr>
          <a:xfrm>
            <a:off x="777240" y="5405370"/>
            <a:ext cx="10634472" cy="7942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59218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59218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441946"/>
            <a:ext cx="5806440" cy="72111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SEE THE TRAP: deliberately unpack in the wrong order as `pm, ni, gp = ...` and re-run. Nothing errors, but the report is nonsense. Restore the correct order and comment on the risk.</a:t>
            </a:r>
          </a:p>
        </p:txBody>
      </p:sp>
      <p:sp>
        <p:nvSpPr>
          <p:cNvPr id="35" name="Rectangle 34"/>
          <p:cNvSpPr/>
          <p:nvPr/>
        </p:nvSpPr>
        <p:spPr>
          <a:xfrm>
            <a:off x="7452360" y="551903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51903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income_analysis.py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Return Multiple Values — A Full Income Statement Analysis in One Call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the zero-revenue guard: call the function with revenue = 0 and check the margin comes back as 0 rather than raising ZeroDivisionError.</a:t>
            </a:r>
          </a:p>
        </p:txBody>
      </p:sp>
      <p:sp>
        <p:nvSpPr>
          <p:cNvPr id="11" name="Rectangle 10"/>
          <p:cNvSpPr/>
          <p:nvPr/>
        </p:nvSpPr>
        <p:spPr>
          <a:xfrm>
            <a:off x="7452360" y="2258568"/>
            <a:ext cx="3886200" cy="3621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621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income_analysis.py</a:t>
            </a:r>
          </a:p>
        </p:txBody>
      </p:sp>
      <p:sp>
        <p:nvSpPr>
          <p:cNvPr id="13" name="Rectangle 12"/>
          <p:cNvSpPr/>
          <p:nvPr/>
        </p:nvSpPr>
        <p:spPr>
          <a:xfrm>
            <a:off x="777240" y="2766974"/>
            <a:ext cx="10634472" cy="7077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105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105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03550"/>
            <a:ext cx="9692640" cy="63459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"Rewrite this function to return a dictionary with keys gross_profit, net_income and profit_margin instead of a positional tuple, and then a third version using collections.namedtuple. Explain which of the three is safest for a financial reporting system where callers are written by different teams." Read the trade-off argument.</a:t>
            </a:r>
          </a:p>
        </p:txBody>
      </p:sp>
      <p:sp>
        <p:nvSpPr>
          <p:cNvPr id="17" name="Rectangle 16"/>
          <p:cNvSpPr/>
          <p:nvPr/>
        </p:nvSpPr>
        <p:spPr>
          <a:xfrm>
            <a:off x="777240" y="3566159"/>
            <a:ext cx="10634472" cy="7077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097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0971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602735"/>
            <a:ext cx="5806440" cy="63459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both AI variants to the file as analyze_income_statement_dict and analyze_income_statement_nt, and call all three on the same inputs to confirm identical numbers.</a:t>
            </a:r>
          </a:p>
        </p:txBody>
      </p:sp>
      <p:sp>
        <p:nvSpPr>
          <p:cNvPr id="21" name="Rectangle 20"/>
          <p:cNvSpPr/>
          <p:nvPr/>
        </p:nvSpPr>
        <p:spPr>
          <a:xfrm>
            <a:off x="7452360" y="363656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63656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income_analysis.py</a:t>
            </a:r>
          </a:p>
        </p:txBody>
      </p:sp>
      <p:sp>
        <p:nvSpPr>
          <p:cNvPr id="23" name="Rectangle 22"/>
          <p:cNvSpPr/>
          <p:nvPr/>
        </p:nvSpPr>
        <p:spPr>
          <a:xfrm>
            <a:off x="777240" y="4365344"/>
            <a:ext cx="10634472" cy="7077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50890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0890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401920"/>
            <a:ext cx="5806440" cy="63459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Extend the analysis: add operating margin ((gross_profit - operating_expenses) / revenue * 100) and a cost ratio (cogs / revenue * 100) to the dict version, so one call now returns five metrics.</a:t>
            </a:r>
          </a:p>
        </p:txBody>
      </p:sp>
      <p:sp>
        <p:nvSpPr>
          <p:cNvPr id="27" name="Rectangle 26"/>
          <p:cNvSpPr/>
          <p:nvPr/>
        </p:nvSpPr>
        <p:spPr>
          <a:xfrm>
            <a:off x="7452360" y="443575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43575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income_analysis.py</a:t>
            </a:r>
          </a:p>
        </p:txBody>
      </p:sp>
      <p:sp>
        <p:nvSpPr>
          <p:cNvPr id="29" name="Rectangle 28"/>
          <p:cNvSpPr/>
          <p:nvPr/>
        </p:nvSpPr>
        <p:spPr>
          <a:xfrm>
            <a:off x="777240" y="5164529"/>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210249"/>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10249"/>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201105"/>
            <a:ext cx="58064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analyser over three mock companies held in a list of tuples, printing one comparison row per company in an aligned table.</a:t>
            </a:r>
          </a:p>
        </p:txBody>
      </p:sp>
      <p:sp>
        <p:nvSpPr>
          <p:cNvPr id="33" name="Rectangle 32"/>
          <p:cNvSpPr/>
          <p:nvPr/>
        </p:nvSpPr>
        <p:spPr>
          <a:xfrm>
            <a:off x="7452360" y="5219393"/>
            <a:ext cx="3886200" cy="3621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219393"/>
            <a:ext cx="3648456" cy="3621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income_analysis.py</a:t>
            </a:r>
          </a:p>
        </p:txBody>
      </p:sp>
      <p:sp>
        <p:nvSpPr>
          <p:cNvPr id="35" name="Rectangle 34"/>
          <p:cNvSpPr/>
          <p:nvPr/>
        </p:nvSpPr>
        <p:spPr>
          <a:xfrm>
            <a:off x="777240" y="5727799"/>
            <a:ext cx="10634472" cy="471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773519"/>
            <a:ext cx="380390" cy="380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773519"/>
            <a:ext cx="380390" cy="38039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764375"/>
            <a:ext cx="9692640" cy="3986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tuple version is faster to write and the dict version is safer to consume. At what team size does that trade-off flip?</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Return Multiple Values — A Full Income Statement Analysis in One Call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income_analysis.py`. For revenue 500000 / COGS 200000 / OpEx 150000 it must report Gross Profit $300,000, Net Income $150,000 and Profit Margin 30.00%. The dict and namedtuple versions must return the same three numbers, revenue = 0 must return a margin of 0 without a traceback, and the three-company comparison table must print three aligned rows.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Net Profit Margin Function with Zero-Revenue Handling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This is the topic's core activity, built to production standard. calculate_net_profit_margin(net_income, revenue) returns (net_income / revenue) * 100, guarded so a revenue of zero returns 0 rather than raising ZeroDivisionError. You then apply it to live SGX filings, handle the negative-margin case (a loss-making company is not a bug), and write a small set of assertions that prove the function behaves — your first taste of testing.</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net_profit_margin.py — a validated net profit margin function with assertion-based tests, applied to live SGX financial statements.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Net Profit Margin Function with Zero-Revenue Handling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market-data dependencies.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lab-23-net-profit-margin &amp;&amp; cd lab-23-net-profit-margin &amp;&amp; uv add yfinance pandas</a:t>
            </a:r>
          </a:p>
        </p:txBody>
      </p:sp>
      <p:sp>
        <p:nvSpPr>
          <p:cNvPr id="13" name="Rectangle 12"/>
          <p:cNvSpPr/>
          <p:nvPr/>
        </p:nvSpPr>
        <p:spPr>
          <a:xfrm>
            <a:off x="777240" y="2679192"/>
            <a:ext cx="10634472" cy="479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387836" cy="3878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387836" cy="387836"/>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406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net_profit_margin.py define calculate_net_profit_margin(net_income, revenue) with a docstring stating the formula (Net Income / Total Revenue) * 100. Return 0 if revenue is 0, otherwise the computed margin.</a:t>
            </a:r>
          </a:p>
        </p:txBody>
      </p:sp>
      <p:sp>
        <p:nvSpPr>
          <p:cNvPr id="17" name="Rectangle 16"/>
          <p:cNvSpPr/>
          <p:nvPr/>
        </p:nvSpPr>
        <p:spPr>
          <a:xfrm>
            <a:off x="777240" y="3249908"/>
            <a:ext cx="10634472" cy="479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295628"/>
            <a:ext cx="387836" cy="3878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295628"/>
            <a:ext cx="387836" cy="387836"/>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286484"/>
            <a:ext cx="5806440" cy="406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it with the sample figures from the reference: net income 1,000,000 on revenue 5,000,000. Print the result to 2 decimals with a percent sign.</a:t>
            </a:r>
          </a:p>
        </p:txBody>
      </p:sp>
      <p:sp>
        <p:nvSpPr>
          <p:cNvPr id="21" name="Rectangle 20"/>
          <p:cNvSpPr/>
          <p:nvPr/>
        </p:nvSpPr>
        <p:spPr>
          <a:xfrm>
            <a:off x="7452360" y="3304772"/>
            <a:ext cx="3886200" cy="3695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304772"/>
            <a:ext cx="3648456" cy="36954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23" name="Rectangle 22"/>
          <p:cNvSpPr/>
          <p:nvPr/>
        </p:nvSpPr>
        <p:spPr>
          <a:xfrm>
            <a:off x="777240" y="3820624"/>
            <a:ext cx="10634472" cy="7320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397633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7633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3857200"/>
            <a:ext cx="5806440" cy="6588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loss case: net income of -250,000 on revenue 5,000,000 should return -5.00%. Confirm the function does NOT suppress the negative — a loss must stay visible.</a:t>
            </a:r>
          </a:p>
        </p:txBody>
      </p:sp>
      <p:sp>
        <p:nvSpPr>
          <p:cNvPr id="27" name="Rectangle 26"/>
          <p:cNvSpPr/>
          <p:nvPr/>
        </p:nvSpPr>
        <p:spPr>
          <a:xfrm>
            <a:off x="7452360" y="390318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90318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29" name="Rectangle 28"/>
          <p:cNvSpPr/>
          <p:nvPr/>
        </p:nvSpPr>
        <p:spPr>
          <a:xfrm>
            <a:off x="777240" y="4644106"/>
            <a:ext cx="10634472" cy="732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7998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998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680682"/>
            <a:ext cx="5806440" cy="6588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guard: call it with revenue = 0 and confirm it returns 0 with no traceback. Add a comment on why returning 0 here is a design choice a reviewer might challenge.</a:t>
            </a:r>
          </a:p>
        </p:txBody>
      </p:sp>
      <p:sp>
        <p:nvSpPr>
          <p:cNvPr id="33" name="Rectangle 32"/>
          <p:cNvSpPr/>
          <p:nvPr/>
        </p:nvSpPr>
        <p:spPr>
          <a:xfrm>
            <a:off x="7452360" y="472666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72666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35" name="Rectangle 34"/>
          <p:cNvSpPr/>
          <p:nvPr/>
        </p:nvSpPr>
        <p:spPr>
          <a:xfrm>
            <a:off x="777240" y="5467589"/>
            <a:ext cx="10634472" cy="732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6232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6232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504165"/>
            <a:ext cx="5806440" cy="6588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Wire it to live data: fetch D05.SI with yfinance, read Net Income and Total Revenue from stock.financials with .loc[...].iloc[0], and pass both into your function.</a:t>
            </a:r>
          </a:p>
        </p:txBody>
      </p:sp>
      <p:sp>
        <p:nvSpPr>
          <p:cNvPr id="39" name="Rectangle 38"/>
          <p:cNvSpPr/>
          <p:nvPr/>
        </p:nvSpPr>
        <p:spPr>
          <a:xfrm>
            <a:off x="7452360" y="555014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55014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Net Profit Margin Function with Zero-Revenue Handling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7778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8233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8233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70474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Loop the live version over five SGX tickers ['D05.SI', 'U11.SI', 'O39.SI', 'Z74.SI', 'V03.SI'], printing a formatted margin table with a header row and a separator.</a:t>
            </a:r>
          </a:p>
        </p:txBody>
      </p:sp>
      <p:sp>
        <p:nvSpPr>
          <p:cNvPr id="11" name="Rectangle 10"/>
          <p:cNvSpPr/>
          <p:nvPr/>
        </p:nvSpPr>
        <p:spPr>
          <a:xfrm>
            <a:off x="7452360" y="230918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30918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13" name="Rectangle 12"/>
          <p:cNvSpPr/>
          <p:nvPr/>
        </p:nvSpPr>
        <p:spPr>
          <a:xfrm>
            <a:off x="777240" y="3073037"/>
            <a:ext cx="10634472" cy="10371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3813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3813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109613"/>
            <a:ext cx="9692640" cy="96403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"Write five assert statements that test this net profit margin function: the normal case, a zero-revenue case, a negative net income case, a 100% margin case, and a case where revenue is negative. Then tell me whether returning 0 for zero revenue is better than raising an exception in a financial reporting context, and argue both sides." Review the tests and the argument.</a:t>
            </a:r>
          </a:p>
        </p:txBody>
      </p:sp>
      <p:sp>
        <p:nvSpPr>
          <p:cNvPr id="17" name="Rectangle 16"/>
          <p:cNvSpPr/>
          <p:nvPr/>
        </p:nvSpPr>
        <p:spPr>
          <a:xfrm>
            <a:off x="777240" y="4201667"/>
            <a:ext cx="10634472" cy="5185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2506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506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38243"/>
            <a:ext cx="5806440" cy="4454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generated assertions to the bottom of the file under a run_tests() function and execute them — all five must pass silently.</a:t>
            </a:r>
          </a:p>
        </p:txBody>
      </p:sp>
      <p:sp>
        <p:nvSpPr>
          <p:cNvPr id="21" name="Rectangle 20"/>
          <p:cNvSpPr/>
          <p:nvPr/>
        </p:nvSpPr>
        <p:spPr>
          <a:xfrm>
            <a:off x="7452360" y="4256531"/>
            <a:ext cx="3886200" cy="4088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256531"/>
            <a:ext cx="3648456" cy="408867"/>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23" name="Rectangle 22"/>
          <p:cNvSpPr/>
          <p:nvPr/>
        </p:nvSpPr>
        <p:spPr>
          <a:xfrm>
            <a:off x="777240" y="4811702"/>
            <a:ext cx="10634472" cy="7778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903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9033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48278"/>
            <a:ext cx="5806440" cy="70474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classification wrapper on top: a margin above 20% is 'EXCELLENT', 10 to 20% is 'HEALTHY', 0 to 10% is 'THIN', below 0 is 'LOSS-MAKING'. Apply it to each row of the live table.</a:t>
            </a:r>
          </a:p>
        </p:txBody>
      </p:sp>
      <p:sp>
        <p:nvSpPr>
          <p:cNvPr id="27" name="Rectangle 26"/>
          <p:cNvSpPr/>
          <p:nvPr/>
        </p:nvSpPr>
        <p:spPr>
          <a:xfrm>
            <a:off x="7452360" y="491718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91718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net_profit_margin.py</a:t>
            </a:r>
          </a:p>
        </p:txBody>
      </p:sp>
      <p:sp>
        <p:nvSpPr>
          <p:cNvPr id="29" name="Rectangle 28"/>
          <p:cNvSpPr/>
          <p:nvPr/>
        </p:nvSpPr>
        <p:spPr>
          <a:xfrm>
            <a:off x="777240" y="5681035"/>
            <a:ext cx="10634472" cy="5185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7300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300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717611"/>
            <a:ext cx="9692640" cy="4454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net profit margin is not comparable across sectors — a bank and a supermarket sit on completely different bases. What would you add to the output to stop a reader making that mistake?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Net Profit Margin Function with Zero-Revenue Handling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net_profit_margin.py`. The sample case must report 20.00%, the loss case -5.00%, and the zero-revenue case 0 with no traceback. All five assertions must pass without output. The live table must show five SGX tickers each with a margin and one of the four classification labels.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Multiple, Default and Named Arguments — A Flexible Valuation Toolkit</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You learn the three argument styles that stop a codebase filling up with near-duplicate functions. Multiple arguments give a fixed three-stock portfolio total; default arguments let calculate_net_salary assume a 15% tax rate while still accepting a custom one; named arguments make calculate_dividend_yield(stock_price=120.00, dividend_per_share=3.60) unambiguous regardless of order. You also meet the mutable-default-argument trap, one of Python's most notorious bugs.</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valuation_toolkit.py — portfolio total, net salary, investment projection, dividend yield and ROI functions demonstrating multiple, default and named arguments.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Multiple, Default and Named Arguments — A Flexible Valuation Toolkit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lab-24-valuation-toolkit &amp;&amp; cd lab-24-valuation-toolkit</a:t>
            </a:r>
          </a:p>
        </p:txBody>
      </p:sp>
      <p:sp>
        <p:nvSpPr>
          <p:cNvPr id="13" name="Rectangle 12"/>
          <p:cNvSpPr/>
          <p:nvPr/>
        </p:nvSpPr>
        <p:spPr>
          <a:xfrm>
            <a:off x="777240" y="2679192"/>
            <a:ext cx="10634472" cy="630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843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8434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5577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MULTIPLE ARGUMENTS: define calculate_portfolio_total(stock1, stock2, stock3) returning their sum, and call it with 1500.50, 2300.75 and 850.00. Then call it with only two values and read the TypeError carefully.</a:t>
            </a:r>
          </a:p>
        </p:txBody>
      </p:sp>
      <p:sp>
        <p:nvSpPr>
          <p:cNvPr id="17" name="Rectangle 16"/>
          <p:cNvSpPr/>
          <p:nvPr/>
        </p:nvSpPr>
        <p:spPr>
          <a:xfrm>
            <a:off x="7452360" y="2734056"/>
            <a:ext cx="3886200" cy="5212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52120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19" name="Rectangle 18"/>
          <p:cNvSpPr/>
          <p:nvPr/>
        </p:nvSpPr>
        <p:spPr>
          <a:xfrm>
            <a:off x="777240" y="3401568"/>
            <a:ext cx="10634472" cy="630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0672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0672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38144"/>
            <a:ext cx="5806440" cy="5577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DEFAULT ARGUMENTS: define calculate_net_salary(gross_salary, tax_rate=0.15) returning gross_salary minus the tax. Call it once on 5000 using the default and once with tax_rate=0.20, printing both.</a:t>
            </a:r>
          </a:p>
        </p:txBody>
      </p:sp>
      <p:sp>
        <p:nvSpPr>
          <p:cNvPr id="23" name="Rectangle 22"/>
          <p:cNvSpPr/>
          <p:nvPr/>
        </p:nvSpPr>
        <p:spPr>
          <a:xfrm>
            <a:off x="7452360" y="3456432"/>
            <a:ext cx="3886200" cy="5212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456432"/>
            <a:ext cx="3648456" cy="52120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25" name="Rectangle 24"/>
          <p:cNvSpPr/>
          <p:nvPr/>
        </p:nvSpPr>
        <p:spPr>
          <a:xfrm>
            <a:off x="777240" y="4123944"/>
            <a:ext cx="10634472" cy="630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2291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2910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160520"/>
            <a:ext cx="5806440" cy="5577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estimate_investment_value(principal, years, annual_return=0.07) returning principal * (1 + annual_return) ** years. Call it as (1000, 5) with the default and as (1000, 5, 0.10) with a custom return.</a:t>
            </a:r>
          </a:p>
        </p:txBody>
      </p:sp>
      <p:sp>
        <p:nvSpPr>
          <p:cNvPr id="29" name="Rectangle 28"/>
          <p:cNvSpPr/>
          <p:nvPr/>
        </p:nvSpPr>
        <p:spPr>
          <a:xfrm>
            <a:off x="7452360" y="4178808"/>
            <a:ext cx="3886200" cy="5212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178808"/>
            <a:ext cx="3648456" cy="52120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31" name="Rectangle 30"/>
          <p:cNvSpPr/>
          <p:nvPr/>
        </p:nvSpPr>
        <p:spPr>
          <a:xfrm>
            <a:off x="777240" y="4846320"/>
            <a:ext cx="10634472" cy="630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95147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95147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882896"/>
            <a:ext cx="5806440" cy="5577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NAMED ARGUMENTS: define calculate_dividend_yield(dividend_per_share, stock_price) returning (dps / price) * 100. Call it twice with the arguments in DIFFERENT orders using keywords, and confirm both give the right answer.</a:t>
            </a:r>
          </a:p>
        </p:txBody>
      </p:sp>
      <p:sp>
        <p:nvSpPr>
          <p:cNvPr id="35" name="Rectangle 34"/>
          <p:cNvSpPr/>
          <p:nvPr/>
        </p:nvSpPr>
        <p:spPr>
          <a:xfrm>
            <a:off x="7452360" y="4901184"/>
            <a:ext cx="3886200" cy="5212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901184"/>
            <a:ext cx="3648456" cy="52120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37" name="Rectangle 36"/>
          <p:cNvSpPr/>
          <p:nvPr/>
        </p:nvSpPr>
        <p:spPr>
          <a:xfrm>
            <a:off x="777240" y="5568696"/>
            <a:ext cx="10634472" cy="630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6738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6738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605272"/>
            <a:ext cx="5806440" cy="5577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Now call the same function positionally with the arguments swapped — (50.00, 2.50) — and observe it returns a nonsense 2000% yield with no error. Write a comment: named arguments are a correctness control, not a style preference.</a:t>
            </a:r>
          </a:p>
        </p:txBody>
      </p:sp>
      <p:sp>
        <p:nvSpPr>
          <p:cNvPr id="41" name="Rectangle 40"/>
          <p:cNvSpPr/>
          <p:nvPr/>
        </p:nvSpPr>
        <p:spPr>
          <a:xfrm>
            <a:off x="7452360" y="5623560"/>
            <a:ext cx="3886200" cy="5212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623560"/>
            <a:ext cx="3648456" cy="52120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Multiple, Default and Named Arguments — A Flexible Valuation Toolkit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calculate_roi(initial_investment, final_value) returning ((final - initial) / initial) * 100 and call it with named arguments for clarity.</a:t>
            </a:r>
          </a:p>
        </p:txBody>
      </p:sp>
      <p:sp>
        <p:nvSpPr>
          <p:cNvPr id="11" name="Rectangle 10"/>
          <p:cNvSpPr/>
          <p:nvPr/>
        </p:nvSpPr>
        <p:spPr>
          <a:xfrm>
            <a:off x="7452360" y="2258568"/>
            <a:ext cx="3886200" cy="3065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0659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13" name="Rectangle 12"/>
          <p:cNvSpPr/>
          <p:nvPr/>
        </p:nvSpPr>
        <p:spPr>
          <a:xfrm>
            <a:off x="777240" y="2711464"/>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1339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1339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48040"/>
            <a:ext cx="96926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"Show me the mutable default argument trap using a function like add_holding(ticker, portfolio=[]) that appends to a portfolio list. Demonstrate the bug by calling it three times, explain exactly why the list persists between calls, and give me the correct fix using portfolio=None." Run the buggy version first so you SEE the bug.</a:t>
            </a:r>
          </a:p>
        </p:txBody>
      </p:sp>
      <p:sp>
        <p:nvSpPr>
          <p:cNvPr id="17" name="Rectangle 16"/>
          <p:cNvSpPr/>
          <p:nvPr/>
        </p:nvSpPr>
        <p:spPr>
          <a:xfrm>
            <a:off x="777240" y="3427385"/>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5293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293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463961"/>
            <a:ext cx="58064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both the buggy and the fixed add_holding to your file, call each three times, and print the resulting portfolios side by side so the difference is undeniable.</a:t>
            </a:r>
          </a:p>
        </p:txBody>
      </p:sp>
      <p:sp>
        <p:nvSpPr>
          <p:cNvPr id="21" name="Rectangle 20"/>
          <p:cNvSpPr/>
          <p:nvPr/>
        </p:nvSpPr>
        <p:spPr>
          <a:xfrm>
            <a:off x="7452360" y="3482249"/>
            <a:ext cx="3886200" cy="5147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482249"/>
            <a:ext cx="3648456" cy="5147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23" name="Rectangle 22"/>
          <p:cNvSpPr/>
          <p:nvPr/>
        </p:nvSpPr>
        <p:spPr>
          <a:xfrm>
            <a:off x="777240" y="4143306"/>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2452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2452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179882"/>
            <a:ext cx="58064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Combine the styles: extend calculate_net_salary with a second default argument cpf_rate=0.20 and call it with only the keyword you want to override, leaving the other at its default.</a:t>
            </a:r>
          </a:p>
        </p:txBody>
      </p:sp>
      <p:sp>
        <p:nvSpPr>
          <p:cNvPr id="27" name="Rectangle 26"/>
          <p:cNvSpPr/>
          <p:nvPr/>
        </p:nvSpPr>
        <p:spPr>
          <a:xfrm>
            <a:off x="7452360" y="4198170"/>
            <a:ext cx="3886200" cy="5147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198170"/>
            <a:ext cx="3648456" cy="5147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29" name="Rectangle 28"/>
          <p:cNvSpPr/>
          <p:nvPr/>
        </p:nvSpPr>
        <p:spPr>
          <a:xfrm>
            <a:off x="777240" y="4859227"/>
            <a:ext cx="10634472" cy="8326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0652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0652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895803"/>
            <a:ext cx="5806440" cy="7594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Enforce clarity: place a bare `*` in a signature (def calculate_dividend_yield(*, dividend_per_share, stock_price)) to make both arguments keyword-only, then confirm the positional call now raises a TypeError instead of silently returning 2000%.</a:t>
            </a:r>
          </a:p>
        </p:txBody>
      </p:sp>
      <p:sp>
        <p:nvSpPr>
          <p:cNvPr id="33" name="Rectangle 32"/>
          <p:cNvSpPr/>
          <p:nvPr/>
        </p:nvSpPr>
        <p:spPr>
          <a:xfrm>
            <a:off x="7452360" y="499208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99208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valuation_toolkit.py</a:t>
            </a:r>
          </a:p>
        </p:txBody>
      </p:sp>
      <p:sp>
        <p:nvSpPr>
          <p:cNvPr id="35" name="Rectangle 34"/>
          <p:cNvSpPr/>
          <p:nvPr/>
        </p:nvSpPr>
        <p:spPr>
          <a:xfrm>
            <a:off x="777240" y="5783308"/>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29028"/>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29028"/>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819884"/>
            <a:ext cx="96926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a default value baked into a function is a policy decision. Who owns the 15% tax rate default, and what happens when the policy changes?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Multiple, Default and Named Arguments — A Flexible Valuation Toolkit</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valuation_toolkit.py`. Portfolio total must be $4,651.25; net salary $4,250.00 at the default rate and $4,000.00 at 20%; investment value $1,402.55 at the default 7%; both dividend yield calls 5.00% and 3.00%. The buggy add_holding must show a growing shared list while the fixed one shows a fresh list each call, and the keyword-only version must raise TypeError on a positional call.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Variable Arguments — *args and **kwargs for Portfolios of Any Size</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A portfolio does not have a fixed number of holdings, so a fixed-arity function is the wrong shape. You rebuild calculate_portfolio_total with *stock_values so it sums three holdings or fifty, add a category-plus-amounts expense reporter, then move to **kwargs to accept an arbitrary named metric set. You finish with unpacking — passing an existing list into an *args function with the star operator, and a dict into a **kwargs function with double-star.</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variable_args.py — variable-argument portfolio, expense and metric functions using *args and **kwargs, plus argument unpacking from existing collections.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Variable Arguments — *args and **kwargs for Portfolios of Any Size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lab-25-variable-args &amp;&amp; cd lab-25-variable-args</a:t>
            </a:r>
          </a:p>
        </p:txBody>
      </p:sp>
      <p:sp>
        <p:nvSpPr>
          <p:cNvPr id="13" name="Rectangle 12"/>
          <p:cNvSpPr/>
          <p:nvPr/>
        </p:nvSpPr>
        <p:spPr>
          <a:xfrm>
            <a:off x="777240" y="2679192"/>
            <a:ext cx="10634472" cy="7967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672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672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235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variable_args.py redefine calculate_portfolio_total(*stock_values) returning sum(stock_values). Call it with three values (1500.50, 2300.75, 850.00) and then five values (500, 1200, 450, 3000, 150) — same function, both work.</a:t>
            </a:r>
          </a:p>
        </p:txBody>
      </p:sp>
      <p:sp>
        <p:nvSpPr>
          <p:cNvPr id="17" name="Rectangle 16"/>
          <p:cNvSpPr/>
          <p:nvPr/>
        </p:nvSpPr>
        <p:spPr>
          <a:xfrm>
            <a:off x="7452360" y="279409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9409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19" name="Rectangle 18"/>
          <p:cNvSpPr/>
          <p:nvPr/>
        </p:nvSpPr>
        <p:spPr>
          <a:xfrm>
            <a:off x="777240" y="356737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1309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1309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03946"/>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len(stock_values) inside the function to prove *args arrives as a tuple, and confirm the type with a print of type(stock_values).</a:t>
            </a:r>
          </a:p>
        </p:txBody>
      </p:sp>
      <p:sp>
        <p:nvSpPr>
          <p:cNvPr id="23" name="Rectangle 22"/>
          <p:cNvSpPr/>
          <p:nvPr/>
        </p:nvSpPr>
        <p:spPr>
          <a:xfrm>
            <a:off x="7452360" y="3622234"/>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622234"/>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25" name="Rectangle 24"/>
          <p:cNvSpPr/>
          <p:nvPr/>
        </p:nvSpPr>
        <p:spPr>
          <a:xfrm>
            <a:off x="777240" y="4042858"/>
            <a:ext cx="10634472" cy="5885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1268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268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79434"/>
            <a:ext cx="5806440" cy="5154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Handle the empty case: call calculate_portfolio_total() with no arguments. sum(()) returns 0 — decide whether that is the right answer for an empty portfolio and note your reasoning in a comment.</a:t>
            </a:r>
          </a:p>
        </p:txBody>
      </p:sp>
      <p:sp>
        <p:nvSpPr>
          <p:cNvPr id="29" name="Rectangle 28"/>
          <p:cNvSpPr/>
          <p:nvPr/>
        </p:nvSpPr>
        <p:spPr>
          <a:xfrm>
            <a:off x="7452360" y="4097722"/>
            <a:ext cx="3886200" cy="47885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97722"/>
            <a:ext cx="3648456" cy="47885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31" name="Rectangle 30"/>
          <p:cNvSpPr/>
          <p:nvPr/>
        </p:nvSpPr>
        <p:spPr>
          <a:xfrm>
            <a:off x="777240" y="4722876"/>
            <a:ext cx="10634472" cy="5885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80685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80685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759452"/>
            <a:ext cx="5806440" cy="5154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Define list_expenses(category, *amounts) which prints the category name, the number of items, and the total formatted to 2 decimals. Call it for 'Trading Fees' with four amounts and for 'Custody' with one.</a:t>
            </a:r>
          </a:p>
        </p:txBody>
      </p:sp>
      <p:sp>
        <p:nvSpPr>
          <p:cNvPr id="35" name="Rectangle 34"/>
          <p:cNvSpPr/>
          <p:nvPr/>
        </p:nvSpPr>
        <p:spPr>
          <a:xfrm>
            <a:off x="7452360" y="4777740"/>
            <a:ext cx="3886200" cy="47885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777740"/>
            <a:ext cx="3648456" cy="47885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37" name="Rectangle 36"/>
          <p:cNvSpPr/>
          <p:nvPr/>
        </p:nvSpPr>
        <p:spPr>
          <a:xfrm>
            <a:off x="777240" y="5402894"/>
            <a:ext cx="10634472" cy="7967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59095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59095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439470"/>
            <a:ext cx="5806440" cy="7235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UNPACKING: given an existing list holdings = [1500.50, 2300.75, 850.00, 1200.00], call calculate_portfolio_total(*holdings) with the star operator. Then call it without the star and observe you get a TypeError or a single-tuple result.</a:t>
            </a:r>
          </a:p>
        </p:txBody>
      </p:sp>
      <p:sp>
        <p:nvSpPr>
          <p:cNvPr id="41" name="Rectangle 40"/>
          <p:cNvSpPr/>
          <p:nvPr/>
        </p:nvSpPr>
        <p:spPr>
          <a:xfrm>
            <a:off x="7452360" y="551779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51779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Variable Arguments — *args and **kwargs for Portfolios of Any Size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635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2514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2514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5903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Move to **kwargs: define report_metrics(ticker, **metrics) that prints the ticker then one aligned line per keyword metric. Call it as report_metrics('D05.SI', roe=15.8, roa=1.2, npm=42.5, pe=11.4).</a:t>
            </a:r>
          </a:p>
        </p:txBody>
      </p:sp>
      <p:sp>
        <p:nvSpPr>
          <p:cNvPr id="11" name="Rectangle 10"/>
          <p:cNvSpPr/>
          <p:nvPr/>
        </p:nvSpPr>
        <p:spPr>
          <a:xfrm>
            <a:off x="7452360" y="2258568"/>
            <a:ext cx="3886200" cy="553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55378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13" name="Rectangle 12"/>
          <p:cNvSpPr/>
          <p:nvPr/>
        </p:nvSpPr>
        <p:spPr>
          <a:xfrm>
            <a:off x="777240" y="2958655"/>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04375"/>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04375"/>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95231"/>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Unpack a dict into it: build metrics_dict = {'roe': 12.1, 'roa': 0.9, 'pe': 9.8} and call report_metrics('O39.SI', **metrics_dict).</a:t>
            </a:r>
          </a:p>
        </p:txBody>
      </p:sp>
      <p:sp>
        <p:nvSpPr>
          <p:cNvPr id="17" name="Rectangle 16"/>
          <p:cNvSpPr/>
          <p:nvPr/>
        </p:nvSpPr>
        <p:spPr>
          <a:xfrm>
            <a:off x="7452360" y="3013519"/>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013519"/>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19" name="Rectangle 18"/>
          <p:cNvSpPr/>
          <p:nvPr/>
        </p:nvSpPr>
        <p:spPr>
          <a:xfrm>
            <a:off x="777240" y="3492436"/>
            <a:ext cx="10634472" cy="8846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2446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2446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529012"/>
            <a:ext cx="9692640" cy="8115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"Write a function build_trade_order(ticker, quantity, *, order_type='LIMIT', **extras) that accepts required positional arguments, a keyword-only default, and arbitrary extra parameters. Show me the exact order the four argument categories must appear in a Python signature and what error I get if I put them in the wrong order." Test the wrong order yourself to see the SyntaxError.</a:t>
            </a:r>
          </a:p>
        </p:txBody>
      </p:sp>
      <p:sp>
        <p:nvSpPr>
          <p:cNvPr id="23" name="Rectangle 22"/>
          <p:cNvSpPr/>
          <p:nvPr/>
        </p:nvSpPr>
        <p:spPr>
          <a:xfrm>
            <a:off x="777240" y="4468558"/>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514278"/>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14278"/>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5134"/>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generated build_trade_order to your file, call it with and without extras, and print the resulting order dict.</a:t>
            </a:r>
          </a:p>
        </p:txBody>
      </p:sp>
      <p:sp>
        <p:nvSpPr>
          <p:cNvPr id="27" name="Rectangle 26"/>
          <p:cNvSpPr/>
          <p:nvPr/>
        </p:nvSpPr>
        <p:spPr>
          <a:xfrm>
            <a:off x="7452360" y="4523422"/>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523422"/>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29" name="Rectangle 28"/>
          <p:cNvSpPr/>
          <p:nvPr/>
        </p:nvSpPr>
        <p:spPr>
          <a:xfrm>
            <a:off x="777240" y="5002339"/>
            <a:ext cx="10634472" cy="6635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12378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12378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038915"/>
            <a:ext cx="5806440" cy="5903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Combine everything: write summarise_portfolio(name, *values, currency='SGD', **tags) printing the portfolio name, holding count, total in the given currency, and any tags supplied.</a:t>
            </a:r>
          </a:p>
        </p:txBody>
      </p:sp>
      <p:sp>
        <p:nvSpPr>
          <p:cNvPr id="33" name="Rectangle 32"/>
          <p:cNvSpPr/>
          <p:nvPr/>
        </p:nvSpPr>
        <p:spPr>
          <a:xfrm>
            <a:off x="7452360" y="5057203"/>
            <a:ext cx="3886200" cy="553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057203"/>
            <a:ext cx="3648456" cy="55378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variable_args.py</a:t>
            </a:r>
          </a:p>
        </p:txBody>
      </p:sp>
      <p:sp>
        <p:nvSpPr>
          <p:cNvPr id="35" name="Rectangle 34"/>
          <p:cNvSpPr/>
          <p:nvPr/>
        </p:nvSpPr>
        <p:spPr>
          <a:xfrm>
            <a:off x="777240" y="5757290"/>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03010"/>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03010"/>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793866"/>
            <a:ext cx="96926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*args and **kwargs make a function flexible but also make its contract invisible to a caller reading the signature. Where would you refuse to use them in a trading system?</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Variable Arguments — *args and **kwargs for Portfolios of Any Size</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variable_args.py`. The three-stock total must be $4,651.25 and the five-stock total $5,300.00 from the same function. The unpacked call with *holdings must total $5,851.25. report_metrics must print four aligned metric lines for D05.SI and three for O39.SI, and summarise_portfolio must print the name, count, currency-formatted total and every tag supplied.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Max ROE Function — Finding the Best Performer in a Portfolio</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You fetch Return on Equity for ten SGX companies, then write find_max_roe(data_list) that walks the list of dicts and returns the single best entry — implementing the max algorithm by hand before replacing it with max(data_list, key=lambda x: x['roe']). Handling the empty list (return None, not an IndexError) is the point of the lab: a screener that finds nothing must say so calmly. You then generalise it to find_max_by(data_list, metric) so one function serves ROE, ROA and margin.</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max_roe.py — fetches ROE for 10 SGX tickers and reports the top performer via a hand-written max function, a built-in max version and a generalised find_max_by.</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Max ROE Function — Finding the Best Performer in a Portfolio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yfinance.</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lab-26-max-roe &amp;&amp; cd lab-26-max-roe &amp;&amp; uv add yfinance</a:t>
            </a:r>
          </a:p>
        </p:txBody>
      </p:sp>
      <p:sp>
        <p:nvSpPr>
          <p:cNvPr id="13" name="Rectangle 12"/>
          <p:cNvSpPr/>
          <p:nvPr/>
        </p:nvSpPr>
        <p:spPr>
          <a:xfrm>
            <a:off x="777240" y="2679192"/>
            <a:ext cx="10634472" cy="9339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3584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3584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8607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max_roe.py loop over the ten tickers ['D05.SI', 'U11.SI', 'O39.SI', 'Z74.SI', 'J36.SI', 'BN4.SI', 'V03.SI', 'C38U.SI', 'A17U.SI', 'C07.SI'], read stock.info.get('returnOnEquity'), and append {'ticker': ..., 'roe': roe * 100} only when the value is not None.</a:t>
            </a:r>
          </a:p>
        </p:txBody>
      </p:sp>
      <p:sp>
        <p:nvSpPr>
          <p:cNvPr id="17" name="Rectangle 16"/>
          <p:cNvSpPr/>
          <p:nvPr/>
        </p:nvSpPr>
        <p:spPr>
          <a:xfrm>
            <a:off x="777240" y="3704566"/>
            <a:ext cx="10634472" cy="612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80037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0037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741142"/>
            <a:ext cx="5806440" cy="5390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Wrap each fetch in try/except so one failing ticker does not abort the scan, and print how many of the ten returned usable ROE data.</a:t>
            </a:r>
          </a:p>
        </p:txBody>
      </p:sp>
      <p:sp>
        <p:nvSpPr>
          <p:cNvPr id="21" name="Rectangle 20"/>
          <p:cNvSpPr/>
          <p:nvPr/>
        </p:nvSpPr>
        <p:spPr>
          <a:xfrm>
            <a:off x="7452360" y="3759430"/>
            <a:ext cx="3886200" cy="50250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759430"/>
            <a:ext cx="3648456" cy="50250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23" name="Rectangle 22"/>
          <p:cNvSpPr/>
          <p:nvPr/>
        </p:nvSpPr>
        <p:spPr>
          <a:xfrm>
            <a:off x="777240" y="4408238"/>
            <a:ext cx="10634472" cy="6122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50404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0404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444814"/>
            <a:ext cx="5806440" cy="5390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full ROE sequence as an aligned table before any ranking, so you can verify the winner by eye.</a:t>
            </a:r>
          </a:p>
        </p:txBody>
      </p:sp>
      <p:sp>
        <p:nvSpPr>
          <p:cNvPr id="27" name="Rectangle 26"/>
          <p:cNvSpPr/>
          <p:nvPr/>
        </p:nvSpPr>
        <p:spPr>
          <a:xfrm>
            <a:off x="7452360" y="4463102"/>
            <a:ext cx="3886200" cy="502505"/>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463102"/>
            <a:ext cx="3648456" cy="502505"/>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29" name="Rectangle 28"/>
          <p:cNvSpPr/>
          <p:nvPr/>
        </p:nvSpPr>
        <p:spPr>
          <a:xfrm>
            <a:off x="777240" y="5111911"/>
            <a:ext cx="10634472" cy="6122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2077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077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148487"/>
            <a:ext cx="9692640" cy="5390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find_max_roe(data_list) by hand: return None immediately if the list is empty, otherwise seed max_entry with data_list[0] and loop comparing entry['roe'] against max_entry['roe'], reassigning on a higher value.</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Call it and print the winner: 'TOP PERFORMER: {ticker} with ROE {roe:.2f}%'.</a:t>
            </a:r>
          </a:p>
        </p:txBody>
      </p:sp>
      <p:sp>
        <p:nvSpPr>
          <p:cNvPr id="37" name="Rectangle 36"/>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Max ROE Function — Finding the Best Performer in a Portfolio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56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56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empty case: call find_max_roe([]) and confirm it returns None rather than raising IndexError. Print a 'no qualifying stocks found' message when it does.</a:t>
            </a:r>
          </a:p>
        </p:txBody>
      </p:sp>
      <p:sp>
        <p:nvSpPr>
          <p:cNvPr id="11" name="Rectangle 10"/>
          <p:cNvSpPr/>
          <p:nvPr/>
        </p:nvSpPr>
        <p:spPr>
          <a:xfrm>
            <a:off x="7452360" y="2258568"/>
            <a:ext cx="3886200" cy="5147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5147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13" name="Rectangle 12"/>
          <p:cNvSpPr/>
          <p:nvPr/>
        </p:nvSpPr>
        <p:spPr>
          <a:xfrm>
            <a:off x="777240" y="2919625"/>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2155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2155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56201"/>
            <a:ext cx="58064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Replace the hand-written loop with the built-in: best = max(data_list, key=lambda x: x['roe']) and confirm it names the same winner. Note that max on an empty list raises ValueError unless you pass default=None.</a:t>
            </a:r>
          </a:p>
        </p:txBody>
      </p:sp>
      <p:sp>
        <p:nvSpPr>
          <p:cNvPr id="17" name="Rectangle 16"/>
          <p:cNvSpPr/>
          <p:nvPr/>
        </p:nvSpPr>
        <p:spPr>
          <a:xfrm>
            <a:off x="7452360" y="2974489"/>
            <a:ext cx="3886200" cy="5147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974489"/>
            <a:ext cx="3648456" cy="5147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19" name="Rectangle 18"/>
          <p:cNvSpPr/>
          <p:nvPr/>
        </p:nvSpPr>
        <p:spPr>
          <a:xfrm>
            <a:off x="777240" y="3635546"/>
            <a:ext cx="10634472" cy="8326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84155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4155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72122"/>
            <a:ext cx="9692640" cy="7594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"Generalise find_max_roe into find_max_by(data_list, metric) that takes the metric name as a string so the same function works for roe, roa or margin. Add a matching find_min_by, handle the empty list and the case where the metric key is missing from some records, and explain the trade-off versus just using max with a key lambda." Review the missing-key handling especially.</a:t>
            </a:r>
          </a:p>
        </p:txBody>
      </p:sp>
      <p:sp>
        <p:nvSpPr>
          <p:cNvPr id="23" name="Rectangle 22"/>
          <p:cNvSpPr/>
          <p:nvPr/>
        </p:nvSpPr>
        <p:spPr>
          <a:xfrm>
            <a:off x="777240" y="4559627"/>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6615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6615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96203"/>
            <a:ext cx="58064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generalised functions, extend your fetch loop to also collect returnOnAssets, and call find_max_by twice — once for 'roe' and once for 'roa' — printing both winners.</a:t>
            </a:r>
          </a:p>
        </p:txBody>
      </p:sp>
      <p:sp>
        <p:nvSpPr>
          <p:cNvPr id="27" name="Rectangle 26"/>
          <p:cNvSpPr/>
          <p:nvPr/>
        </p:nvSpPr>
        <p:spPr>
          <a:xfrm>
            <a:off x="7452360" y="4614491"/>
            <a:ext cx="3886200" cy="5147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614491"/>
            <a:ext cx="3648456" cy="5147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29" name="Rectangle 28"/>
          <p:cNvSpPr/>
          <p:nvPr/>
        </p:nvSpPr>
        <p:spPr>
          <a:xfrm>
            <a:off x="777240" y="5275548"/>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321268"/>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321268"/>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312124"/>
            <a:ext cx="58064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top-three report using sorted(data_list, key=lambda x: x['roe'], reverse=True)[:3] and print it as a ranked podium with enumerate.</a:t>
            </a:r>
          </a:p>
        </p:txBody>
      </p:sp>
      <p:sp>
        <p:nvSpPr>
          <p:cNvPr id="33" name="Rectangle 32"/>
          <p:cNvSpPr/>
          <p:nvPr/>
        </p:nvSpPr>
        <p:spPr>
          <a:xfrm>
            <a:off x="7452360" y="5330412"/>
            <a:ext cx="3886200" cy="3065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330412"/>
            <a:ext cx="3648456" cy="30659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max_roe.py</a:t>
            </a:r>
          </a:p>
        </p:txBody>
      </p:sp>
      <p:sp>
        <p:nvSpPr>
          <p:cNvPr id="35" name="Rectangle 34"/>
          <p:cNvSpPr/>
          <p:nvPr/>
        </p:nvSpPr>
        <p:spPr>
          <a:xfrm>
            <a:off x="777240" y="5783308"/>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29028"/>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29028"/>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819884"/>
            <a:ext cx="96926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highest ROE in the list may be driven by high leverage rather than operating strength. What second metric would you require before acting on this screener's winner?</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Max ROE Function — Finding the Best Performer in a Portfolio</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max_roe.py`. It must print the count of tickers with usable data, the full ROE table, a single TOP PERFORMER line, and confirmation that the hand-written find_max_roe and the built-in max agree on the same ticker. find_max_roe([]) must return None with a 'no qualifying stocks' message, and find_max_by must report a winner for both 'roe' and 'roa'.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Lambda and Map — Gross Profit Margin and ROE Across a Portfolio</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Lambda gives you a formula without the ceremony of def, and map applies it across a whole portfolio in one expression. You write lambdas for simple interest, currency conversion and percent change, then the topic's activity: a gross profit margin lambda ((Revenue - COGS) / Revenue * 100) with a zero-revenue ternary guard. You then use map with a lambda to compute ROE for a list of SGX companies from hard-coded net income and equity, and compare map against the equivalent list comprehension.</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lambda_map.py — gross profit margin and ROE computed with lambda expressions and applied across a portfolio using map, benchmarked against a list comprehension.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Lambda and Map — Gross Profit Margin and ROE Across a Portfolio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lab-27-lambda-map &amp;&amp; cd lab-27-lambda-map</a:t>
            </a:r>
          </a:p>
        </p:txBody>
      </p:sp>
      <p:sp>
        <p:nvSpPr>
          <p:cNvPr id="13" name="Rectangle 12"/>
          <p:cNvSpPr/>
          <p:nvPr/>
        </p:nvSpPr>
        <p:spPr>
          <a:xfrm>
            <a:off x="777240" y="2679192"/>
            <a:ext cx="10634472" cy="5885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6316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6316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5154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lambda_map.py write three lambdas: calculate_interest = lambda p, r, t: p * (r / 100) * t; sgd_to_usd = lambda amount: amount * 0.74; percent_change = lambda new, old: ((new - old) / old) * 100. Call each and print the results.</a:t>
            </a:r>
          </a:p>
        </p:txBody>
      </p:sp>
      <p:sp>
        <p:nvSpPr>
          <p:cNvPr id="17" name="Rectangle 16"/>
          <p:cNvSpPr/>
          <p:nvPr/>
        </p:nvSpPr>
        <p:spPr>
          <a:xfrm>
            <a:off x="7452360" y="2734056"/>
            <a:ext cx="3886200" cy="47885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47885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19" name="Rectangle 18"/>
          <p:cNvSpPr/>
          <p:nvPr/>
        </p:nvSpPr>
        <p:spPr>
          <a:xfrm>
            <a:off x="777240" y="3359210"/>
            <a:ext cx="10634472" cy="7967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4726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4726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95786"/>
            <a:ext cx="5806440" cy="7235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ACTIVITY — GROSS PROFIT MARGIN: write calculate_gross_margin = lambda revenue, cogs: ((revenue - cogs) / revenue) * 100 if revenue != 0 else 0. Call it with revenue 500000 and COGS 300000 and print revenue, COGS and the margin.</a:t>
            </a:r>
          </a:p>
        </p:txBody>
      </p:sp>
      <p:sp>
        <p:nvSpPr>
          <p:cNvPr id="23" name="Rectangle 22"/>
          <p:cNvSpPr/>
          <p:nvPr/>
        </p:nvSpPr>
        <p:spPr>
          <a:xfrm>
            <a:off x="7452360" y="347411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47411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25" name="Rectangle 24"/>
          <p:cNvSpPr/>
          <p:nvPr/>
        </p:nvSpPr>
        <p:spPr>
          <a:xfrm>
            <a:off x="777240" y="424738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29310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9310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283964"/>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the guard by calling calculate_gross_margin(0, 100) and checking it returns 0 rather than raising ZeroDivisionError.</a:t>
            </a:r>
          </a:p>
        </p:txBody>
      </p:sp>
      <p:sp>
        <p:nvSpPr>
          <p:cNvPr id="29" name="Rectangle 28"/>
          <p:cNvSpPr/>
          <p:nvPr/>
        </p:nvSpPr>
        <p:spPr>
          <a:xfrm>
            <a:off x="7452360" y="4302252"/>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302252"/>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31" name="Rectangle 30"/>
          <p:cNvSpPr/>
          <p:nvPr/>
        </p:nvSpPr>
        <p:spPr>
          <a:xfrm>
            <a:off x="777240" y="4722876"/>
            <a:ext cx="10634472" cy="7967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91093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91093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759452"/>
            <a:ext cx="5806440" cy="7235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Introduce map with three quick examples: apply 9% GST to transactions [100.0, 250.50, 45.0, 1200.0] with round(x * 1.09, 2); extract tickers from a list of portfolio dicts; and normalise prices [35.50, 36.20, 34.80, 37.00] against the first price.</a:t>
            </a:r>
          </a:p>
        </p:txBody>
      </p:sp>
      <p:sp>
        <p:nvSpPr>
          <p:cNvPr id="35" name="Rectangle 34"/>
          <p:cNvSpPr/>
          <p:nvPr/>
        </p:nvSpPr>
        <p:spPr>
          <a:xfrm>
            <a:off x="7452360" y="483778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83778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37" name="Rectangle 36"/>
          <p:cNvSpPr/>
          <p:nvPr/>
        </p:nvSpPr>
        <p:spPr>
          <a:xfrm>
            <a:off x="777240" y="5611054"/>
            <a:ext cx="10634472" cy="5885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69503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69503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647630"/>
            <a:ext cx="5806440" cy="51542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Note that map returns a lazy iterator — print the map object itself before wrapping it in list() so you see the difference, and comment on why the list() call is required.</a:t>
            </a:r>
          </a:p>
        </p:txBody>
      </p:sp>
      <p:sp>
        <p:nvSpPr>
          <p:cNvPr id="41" name="Rectangle 40"/>
          <p:cNvSpPr/>
          <p:nvPr/>
        </p:nvSpPr>
        <p:spPr>
          <a:xfrm>
            <a:off x="7452360" y="5665918"/>
            <a:ext cx="3886200" cy="47885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665918"/>
            <a:ext cx="3648456" cy="47885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Lambda and Map — Gross Profit Margin and ROE Across a Portfolio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505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414092" cy="4140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414092" cy="414092"/>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4323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ACTIVITY — ROE VIA MAP: define financial_data as a list of dicts for five SGX companies with net_income and equity in SGD billions (D05.SI 10.3/57.1, U11.SI 5.7/45.2, O39.SI 7.0/54.8, Z74.SI 1.9/26.5, V03.SI 1.1/12.4).</a:t>
            </a:r>
          </a:p>
        </p:txBody>
      </p:sp>
      <p:sp>
        <p:nvSpPr>
          <p:cNvPr id="11" name="Rectangle 10"/>
          <p:cNvSpPr/>
          <p:nvPr/>
        </p:nvSpPr>
        <p:spPr>
          <a:xfrm>
            <a:off x="777240" y="2800676"/>
            <a:ext cx="10634472" cy="505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846396"/>
            <a:ext cx="414092" cy="4140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46396"/>
            <a:ext cx="414092" cy="414092"/>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837252"/>
            <a:ext cx="9692640" cy="4323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roe_calculator as a lambda returning {'ticker': x['ticker'], 'roe': (x['net_income'] / x['equity']) * 100 if x['equity'] != 0 else 0}, then apply it with roe_results = list(map(roe_calculator, financial_data)).</a:t>
            </a:r>
          </a:p>
        </p:txBody>
      </p:sp>
      <p:sp>
        <p:nvSpPr>
          <p:cNvPr id="15" name="Rectangle 14"/>
          <p:cNvSpPr/>
          <p:nvPr/>
        </p:nvSpPr>
        <p:spPr>
          <a:xfrm>
            <a:off x="777240" y="3397648"/>
            <a:ext cx="10634472" cy="505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3443368"/>
            <a:ext cx="414092" cy="4140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43368"/>
            <a:ext cx="414092" cy="414092"/>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3434224"/>
            <a:ext cx="5806440" cy="4323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results as an aligned table with a header and separator, each ROE to 2 decimals.</a:t>
            </a:r>
          </a:p>
        </p:txBody>
      </p:sp>
      <p:sp>
        <p:nvSpPr>
          <p:cNvPr id="19" name="Rectangle 18"/>
          <p:cNvSpPr/>
          <p:nvPr/>
        </p:nvSpPr>
        <p:spPr>
          <a:xfrm>
            <a:off x="7452360" y="3452512"/>
            <a:ext cx="3886200" cy="39580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3452512"/>
            <a:ext cx="3648456" cy="39580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21" name="Rectangle 20"/>
          <p:cNvSpPr/>
          <p:nvPr/>
        </p:nvSpPr>
        <p:spPr>
          <a:xfrm>
            <a:off x="777240" y="3994620"/>
            <a:ext cx="10634472" cy="7582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1634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1634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031196"/>
            <a:ext cx="9692640" cy="68514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"Rewrite this map plus lambda as a list comprehension and as a named def function, then tell me which of the three you would use in a financial codebase that other analysts must maintain, and explain when a lambda is genuinely the better choice." Weigh the answer against your own reading of the code.</a:t>
            </a:r>
          </a:p>
        </p:txBody>
      </p:sp>
      <p:sp>
        <p:nvSpPr>
          <p:cNvPr id="25" name="Rectangle 24"/>
          <p:cNvSpPr/>
          <p:nvPr/>
        </p:nvSpPr>
        <p:spPr>
          <a:xfrm>
            <a:off x="777240" y="4844358"/>
            <a:ext cx="10634472" cy="505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890078"/>
            <a:ext cx="414092" cy="4140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90078"/>
            <a:ext cx="414092" cy="414092"/>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4880934"/>
            <a:ext cx="5806440" cy="4323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all three versions to the file, run them on the same data, and print a PASS line confirming they produce identical output.</a:t>
            </a:r>
          </a:p>
        </p:txBody>
      </p:sp>
      <p:sp>
        <p:nvSpPr>
          <p:cNvPr id="29" name="Rectangle 28"/>
          <p:cNvSpPr/>
          <p:nvPr/>
        </p:nvSpPr>
        <p:spPr>
          <a:xfrm>
            <a:off x="7452360" y="4899222"/>
            <a:ext cx="3886200" cy="39580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899222"/>
            <a:ext cx="3648456" cy="39580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31" name="Rectangle 30"/>
          <p:cNvSpPr/>
          <p:nvPr/>
        </p:nvSpPr>
        <p:spPr>
          <a:xfrm>
            <a:off x="777240" y="5441330"/>
            <a:ext cx="10634472" cy="7582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61016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61016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477906"/>
            <a:ext cx="5806440" cy="68514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gross margin lambda across a portfolio with map: given a list of (revenue, cogs) tuples for four companies, use map with a lambda taking the tuple and print each company's gross margin.</a:t>
            </a:r>
          </a:p>
        </p:txBody>
      </p:sp>
      <p:sp>
        <p:nvSpPr>
          <p:cNvPr id="35" name="Rectangle 34"/>
          <p:cNvSpPr/>
          <p:nvPr/>
        </p:nvSpPr>
        <p:spPr>
          <a:xfrm>
            <a:off x="7452360" y="553701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53701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lambda_map.py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Lambda and Map — Gross Profit Margin and ROE Across a Portfolio</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lambda_map.py`. Simple interest must be $100.00, $100 SGD must convert to $74.00, percent change must be 20.00%, and the gross profit margin on 500000/300000 must be 40.00%. The map-based ROE table must show five tickers with D05.SI at approximately 18.04% and V03.SI at approximately 8.87%, and the final PASS line must confirm the map, comprehension and def versions agree.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Filter — Top Income Customers and High-ROE Stock Screening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Filter is the screening primitive: it keeps only the records where a lambda returns True. You generate 20 mock banking customers with random incomes between $30,000 and $200,000, filter for the top earners above a $150,000 threshold, and produce a sorted priority-contact list. You then apply the same pattern to stock screening (ROE above 10%), large-transaction monitoring and SGX-only ticker selection, and finish by chaining filter with map to build a complete screen-then-compute pipeline — the closing exercise of Topic 4.</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customer_filter.py — a filter-based screening tool producing a ranked top-income customer list, a high-ROE stock screen and a chained filter-then-map pipeline.</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(random module), Google Colab / Cursor, Gemini or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Filter — Top Income Customers and High-ROE Stock Screening  (1/3)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lab-28-customer-filter &amp;&amp; cd lab-28-customer-filter</a:t>
            </a:r>
          </a:p>
        </p:txBody>
      </p:sp>
      <p:sp>
        <p:nvSpPr>
          <p:cNvPr id="13" name="Rectangle 12"/>
          <p:cNvSpPr/>
          <p:nvPr/>
        </p:nvSpPr>
        <p:spPr>
          <a:xfrm>
            <a:off x="777240" y="2679192"/>
            <a:ext cx="10634472" cy="479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387836" cy="3878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387836" cy="387836"/>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406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customer_filter.py import random and generate 20 mock customers with a list comprehension: [{'id': i, 'name': f'Customer {i}', 'income': random.randint(30000, 200000)} for i in range(1, 21)].</a:t>
            </a:r>
          </a:p>
        </p:txBody>
      </p:sp>
      <p:sp>
        <p:nvSpPr>
          <p:cNvPr id="17" name="Rectangle 16"/>
          <p:cNvSpPr/>
          <p:nvPr/>
        </p:nvSpPr>
        <p:spPr>
          <a:xfrm>
            <a:off x="777240" y="3249908"/>
            <a:ext cx="10634472" cy="7320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40561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0561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286484"/>
            <a:ext cx="5806440" cy="6588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Set random.seed(42) before generating so your run is reproducible — essential when a colleague must verify your screening result. Print the first three customers to confirm.</a:t>
            </a:r>
          </a:p>
        </p:txBody>
      </p:sp>
      <p:sp>
        <p:nvSpPr>
          <p:cNvPr id="21" name="Rectangle 20"/>
          <p:cNvSpPr/>
          <p:nvPr/>
        </p:nvSpPr>
        <p:spPr>
          <a:xfrm>
            <a:off x="7452360" y="333246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33246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23" name="Rectangle 22"/>
          <p:cNvSpPr/>
          <p:nvPr/>
        </p:nvSpPr>
        <p:spPr>
          <a:xfrm>
            <a:off x="777240" y="4073390"/>
            <a:ext cx="10634472" cy="4792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119110"/>
            <a:ext cx="387836" cy="3878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19110"/>
            <a:ext cx="387836" cy="387836"/>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109966"/>
            <a:ext cx="9692640" cy="4061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ACTIVITY — TOP INCOME CUSTOMERS: set threshold = 150000 and apply top_earners = list(filter(lambda c: c['income'] &gt; threshold, customers)).</a:t>
            </a:r>
          </a:p>
        </p:txBody>
      </p:sp>
      <p:sp>
        <p:nvSpPr>
          <p:cNvPr id="27" name="Rectangle 26"/>
          <p:cNvSpPr/>
          <p:nvPr/>
        </p:nvSpPr>
        <p:spPr>
          <a:xfrm>
            <a:off x="777240" y="4644106"/>
            <a:ext cx="10634472" cy="732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7998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7998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4680682"/>
            <a:ext cx="5806440" cy="6588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total customer count, the number of top earners, and then the top earners sorted descending by income using sorted(top_earners, key=lambda x: x['income'], reverse=True), each formatted as 'Customer N: $NNN,NNN'.</a:t>
            </a:r>
          </a:p>
        </p:txBody>
      </p:sp>
      <p:sp>
        <p:nvSpPr>
          <p:cNvPr id="31" name="Rectangle 30"/>
          <p:cNvSpPr/>
          <p:nvPr/>
        </p:nvSpPr>
        <p:spPr>
          <a:xfrm>
            <a:off x="7452360" y="472666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72666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33" name="Rectangle 32"/>
          <p:cNvSpPr/>
          <p:nvPr/>
        </p:nvSpPr>
        <p:spPr>
          <a:xfrm>
            <a:off x="777240" y="5467589"/>
            <a:ext cx="10634472" cy="732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6232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232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504165"/>
            <a:ext cx="5806440" cy="6588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empty result: raise the threshold to 500000, re-run, and confirm the script prints a clear 'no customers meet this threshold' message rather than an empty block. Restore 150000.</a:t>
            </a:r>
          </a:p>
        </p:txBody>
      </p:sp>
      <p:sp>
        <p:nvSpPr>
          <p:cNvPr id="37" name="Rectangle 36"/>
          <p:cNvSpPr/>
          <p:nvPr/>
        </p:nvSpPr>
        <p:spPr>
          <a:xfrm>
            <a:off x="7452360" y="555014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55014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Filter — Top Income Customers and High-ROE Stock Screening  (2/3)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9924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4896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96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9192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three more filter examples: high-ROE stocks (list of dicts, keep roe &gt; 10), large transactions from [120.50, 800.00, 45.00, 1500.25, 300.00] keeping x &gt; 500, and SGX-only tickers from ['AAPL', 'D05.SI', 'TSLA', 'U11.SI', 'GOOG'] using t.endswith('.SI').</a:t>
            </a:r>
          </a:p>
        </p:txBody>
      </p:sp>
      <p:sp>
        <p:nvSpPr>
          <p:cNvPr id="11" name="Rectangle 10"/>
          <p:cNvSpPr/>
          <p:nvPr/>
        </p:nvSpPr>
        <p:spPr>
          <a:xfrm>
            <a:off x="7452360" y="241645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41645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13" name="Rectangle 12"/>
          <p:cNvSpPr/>
          <p:nvPr/>
        </p:nvSpPr>
        <p:spPr>
          <a:xfrm>
            <a:off x="777240" y="3287572"/>
            <a:ext cx="10634472" cy="9924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57347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7347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324148"/>
            <a:ext cx="5806440" cy="9192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CHAIN FILTER AND MAP: filter the customers to those above the threshold, then map a lambda that adds a 'tier' key ('PLATINUM' above 180000, else 'GOLD') and an estimated annual fee at 0.5% of income. Print the enriched list.</a:t>
            </a:r>
          </a:p>
        </p:txBody>
      </p:sp>
      <p:sp>
        <p:nvSpPr>
          <p:cNvPr id="17" name="Rectangle 16"/>
          <p:cNvSpPr/>
          <p:nvPr/>
        </p:nvSpPr>
        <p:spPr>
          <a:xfrm>
            <a:off x="7452360" y="350032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50032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19" name="Rectangle 18"/>
          <p:cNvSpPr/>
          <p:nvPr/>
        </p:nvSpPr>
        <p:spPr>
          <a:xfrm>
            <a:off x="777240" y="4371440"/>
            <a:ext cx="10634472" cy="9924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465734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65734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4408016"/>
            <a:ext cx="9692640" cy="9192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AI-ASSIST: prompt your AI tool with: "Refactor this filter-plus-lambda screening code to use a named predicate function instead of an inline lambda, add a second filter criterion so only customers who are BOTH above the income threshold AND have an id below 15 are selected, and explain when filter is clearer than a list comprehension with an if." Review the combined predicate for correct and/or logic.</a:t>
            </a:r>
          </a:p>
        </p:txBody>
      </p:sp>
      <p:sp>
        <p:nvSpPr>
          <p:cNvPr id="23" name="Rectangle 22"/>
          <p:cNvSpPr/>
          <p:nvPr/>
        </p:nvSpPr>
        <p:spPr>
          <a:xfrm>
            <a:off x="777240" y="5455308"/>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61715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1715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491884"/>
            <a:ext cx="58064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AI version, run it, and manually verify two or three selected records against the raw customer list to confirm both criteria really were applied.</a:t>
            </a:r>
          </a:p>
        </p:txBody>
      </p:sp>
      <p:sp>
        <p:nvSpPr>
          <p:cNvPr id="27" name="Rectangle 26"/>
          <p:cNvSpPr/>
          <p:nvPr/>
        </p:nvSpPr>
        <p:spPr>
          <a:xfrm>
            <a:off x="7452360" y="554400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554400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Filter — Top Income Customers and High-ROE Stock Screening  (3/3)</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23426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316473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6473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226954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Produce the final deliverable: a formatted 'PRIORITY WEALTH CONTACT LIST' with a header, a rank column from enumerate, name, income and tier, plus a footer line reporting the total addressable income of the shortlist.</a:t>
            </a:r>
          </a:p>
        </p:txBody>
      </p:sp>
      <p:sp>
        <p:nvSpPr>
          <p:cNvPr id="11" name="Rectangle 10"/>
          <p:cNvSpPr/>
          <p:nvPr/>
        </p:nvSpPr>
        <p:spPr>
          <a:xfrm>
            <a:off x="7452360" y="309158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309158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customer_filter.py</a:t>
            </a:r>
          </a:p>
        </p:txBody>
      </p:sp>
      <p:sp>
        <p:nvSpPr>
          <p:cNvPr id="13" name="Rectangle 12"/>
          <p:cNvSpPr/>
          <p:nvPr/>
        </p:nvSpPr>
        <p:spPr>
          <a:xfrm>
            <a:off x="777240" y="4637836"/>
            <a:ext cx="10634472" cy="15617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520842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0842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4674412"/>
            <a:ext cx="9692640" cy="14886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this screen uses income alone. Name two additional fields a bank would need before this list could be used for an actual wealth-management outreach, and one governance concern about acting on it.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Filter — Top Income Customers and High-ROE Stock Screening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`uv run python customer_filter.py`. With random.seed(42) the run must be reproducible across executions. It must print 20 total customers, the count above $150,000, and a descending-sorted list of those top earners. Raising the threshold to 500000 must produce a 'no customers meet this threshold' message. The final PRIORITY WEALTH CONTACT LIST must show a rank, name, formatted income and PLATINUM/GOLD tier per row, plus a total addressable income footer.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Scripting with Function and Lambda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LO3: Construct reusable functions that turn a business requirement into a named, testable unit computing standard financial metrics.</a:t>
            </a:r>
          </a:p>
          <a:p>
            <a:pPr>
              <a:spcAft>
                <a:spcPts val="1000"/>
              </a:spcAft>
            </a:pPr>
            <a:r>
              <a:rPr sz="1700" b="0">
                <a:solidFill>
                  <a:srgbClr val="161B26"/>
                </a:solidFill>
                <a:latin typeface="Arial"/>
              </a:rPr>
              <a:t>•  You can now: LO3: Construct a function that returns multiple values so a single call delivers a complete set of financial ratios, and unpack them cleanly.</a:t>
            </a:r>
          </a:p>
          <a:p>
            <a:pPr>
              <a:spcAft>
                <a:spcPts val="1000"/>
              </a:spcAft>
            </a:pPr>
            <a:r>
              <a:rPr sz="1700" b="0">
                <a:solidFill>
                  <a:srgbClr val="161B26"/>
                </a:solidFill>
                <a:latin typeface="Arial"/>
              </a:rPr>
              <a:t>•  You can now: LO3: Construct a single-responsibility function computing net profit margin, and defend it against the zero and missing data cases found in real filings.</a:t>
            </a:r>
          </a:p>
          <a:p>
            <a:pPr>
              <a:spcAft>
                <a:spcPts val="1000"/>
              </a:spcAft>
            </a:pPr>
            <a:r>
              <a:rPr sz="1700" b="0">
                <a:solidFill>
                  <a:srgbClr val="161B26"/>
                </a:solidFill>
                <a:latin typeface="Arial"/>
              </a:rPr>
              <a:t>•  You can now: LO3: Construct functions using multiple, default and named arguments so one function serves several business cases without duplication.</a:t>
            </a:r>
          </a:p>
          <a:p>
            <a:pPr>
              <a:spcAft>
                <a:spcPts val="1000"/>
              </a:spcAft>
            </a:pPr>
            <a:r>
              <a:rPr sz="1700" b="0">
                <a:solidFill>
                  <a:srgbClr val="161B26"/>
                </a:solidFill>
                <a:latin typeface="Arial"/>
              </a:rPr>
              <a:t>•  You can now: LO3: Construct functions accepting a variable number of arguments so one function handles a portfolio of any size or a metric set of any shape.</a:t>
            </a:r>
          </a:p>
          <a:p>
            <a:pPr>
              <a:spcAft>
                <a:spcPts val="1000"/>
              </a:spcAft>
            </a:pPr>
            <a:r>
              <a:rPr sz="1700" b="0">
                <a:solidFill>
                  <a:srgbClr val="161B26"/>
                </a:solidFill>
                <a:latin typeface="Arial"/>
              </a:rPr>
              <a:t>•  You can now: LO3: Construct a function that scans a list of financial records and returns the maximum value by a chosen metric, and compare it against Python's built-in max.</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Error Handling Using Exception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Exceptions versus syntax errors · Try and Except · Else clause · Finally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10%</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Error Handling Using Exception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An exception is an event during execution that disrupts normal flow — distinct from a syntax error, which prevents the program from running at all.</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Try/except blocks keep a financial pipeline alive when a ticker is delisted, an API fails or a denominator is zero.</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Common errors in finance code: IndexError, KeyError, TypeError, ValueError and ZeroDivisionError from a zero equity or revenue base.</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The else clause runs when no exception occurred; finally always runs and is used to release connections and write audit logs.</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Robust error handling is a regulatory expectation — a silent failure in a risk model is worse than a loud one.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Error Handling Using Exception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29–30</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Exceptions vs Syntax Errors in a Price Loader</a:t>
            </a:r>
          </a:p>
          <a:p>
            <a:pPr>
              <a:spcAft>
                <a:spcPts val="900"/>
              </a:spcAft>
            </a:pPr>
            <a:r>
              <a:rPr sz="1400" b="0">
                <a:solidFill>
                  <a:srgbClr val="161B26"/>
                </a:solidFill>
                <a:latin typeface="Arial"/>
              </a:rPr>
              <a:t>•  Try/Except on a Failing Market-Data Fetch</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31–32</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ZeroDivisionError in an ROE and Ratio Calculator</a:t>
            </a:r>
          </a:p>
          <a:p>
            <a:pPr>
              <a:spcAft>
                <a:spcPts val="900"/>
              </a:spcAft>
            </a:pPr>
            <a:r>
              <a:rPr sz="1400" b="0">
                <a:solidFill>
                  <a:srgbClr val="161B26"/>
                </a:solidFill>
                <a:latin typeface="Arial"/>
              </a:rPr>
              <a:t>•  KeyError and ValueError in a Portfolio Input Handler</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33–34</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Else, Finally and a Custom InsufficientDataError for a Risk Model</a:t>
            </a:r>
          </a:p>
          <a:p>
            <a:pPr>
              <a:spcAft>
                <a:spcPts val="900"/>
              </a:spcAft>
            </a:pPr>
            <a:r>
              <a:rPr sz="1400" b="0">
                <a:solidFill>
                  <a:srgbClr val="161B26"/>
                </a:solidFill>
                <a:latin typeface="Arial"/>
              </a:rPr>
              <a:t>•  Activity: Loan Risk Classifier with Guarded Data Loading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Exceptions vs Syntax Errors in a Price Loader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builds a small closing-price loader that contains, in turn, a deliberate syntax error and a deliberate runtime exception. By running both versions under uv the learner sees that a syntax error stops the interpreter before a single line executes, while an exception occurs mid-flight and leaves a traceback pointing at the failing line. The learner then pastes the traceback into an AI assistant and asks it to explain and fix the fault, comparing the AI's diagnosis with their own reading of the traceback.</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`lab-29-exception-basics` containing price_loader.py, a captured traceback file traceback.txt, and a short written comparison of syntax errors versus exceptions.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Exceptions vs Syntax Errors in a Price Loader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and enter the uv project for this lab.</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lab-29-exception-basics &amp;&amp; cd lab-29-exception-basics</a:t>
            </a:r>
          </a:p>
        </p:txBody>
      </p:sp>
      <p:sp>
        <p:nvSpPr>
          <p:cNvPr id="13" name="Rectangle 12"/>
          <p:cNvSpPr/>
          <p:nvPr/>
        </p:nvSpPr>
        <p:spPr>
          <a:xfrm>
            <a:off x="777240" y="2203704"/>
            <a:ext cx="10634472" cy="602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9465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9465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5293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price_loader.py holding a dict of closing prices for AAPL, MSFT and DBS, and a function get_price(ticker) that returns prices[ticker].</a:t>
            </a:r>
          </a:p>
        </p:txBody>
      </p:sp>
      <p:sp>
        <p:nvSpPr>
          <p:cNvPr id="17" name="Rectangle 16"/>
          <p:cNvSpPr/>
          <p:nvPr/>
        </p:nvSpPr>
        <p:spPr>
          <a:xfrm>
            <a:off x="7452360" y="2258568"/>
            <a:ext cx="3886200" cy="4927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58568"/>
            <a:ext cx="3648456" cy="4927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price_loader.py</a:t>
            </a:r>
          </a:p>
        </p:txBody>
      </p:sp>
      <p:sp>
        <p:nvSpPr>
          <p:cNvPr id="19" name="Rectangle 18"/>
          <p:cNvSpPr/>
          <p:nvPr/>
        </p:nvSpPr>
        <p:spPr>
          <a:xfrm>
            <a:off x="777240" y="2897663"/>
            <a:ext cx="10634472" cy="9113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14300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14300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934239"/>
            <a:ext cx="5806440" cy="8381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Introduce a deliberate SYNTAX error — remove the colon from the `def get_price(ticker)` line — then run the script and record what Python reports.</a:t>
            </a:r>
          </a:p>
        </p:txBody>
      </p:sp>
      <p:sp>
        <p:nvSpPr>
          <p:cNvPr id="23" name="Rectangle 22"/>
          <p:cNvSpPr/>
          <p:nvPr/>
        </p:nvSpPr>
        <p:spPr>
          <a:xfrm>
            <a:off x="7452360" y="306985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06985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price_loader.py</a:t>
            </a:r>
          </a:p>
        </p:txBody>
      </p:sp>
      <p:sp>
        <p:nvSpPr>
          <p:cNvPr id="25" name="Rectangle 24"/>
          <p:cNvSpPr/>
          <p:nvPr/>
        </p:nvSpPr>
        <p:spPr>
          <a:xfrm>
            <a:off x="777240" y="3900408"/>
            <a:ext cx="10634472" cy="602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936984"/>
            <a:ext cx="9692640" cy="5293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interpreter printed `SyntaxError: expected ':'` and NO other output ran. A syntax error is found at parse time, so the program never starts. Nothing can catch it.</a:t>
            </a:r>
          </a:p>
        </p:txBody>
      </p:sp>
      <p:sp>
        <p:nvSpPr>
          <p:cNvPr id="29" name="Rectangle 28"/>
          <p:cNvSpPr/>
          <p:nvPr/>
        </p:nvSpPr>
        <p:spPr>
          <a:xfrm>
            <a:off x="777240" y="4594367"/>
            <a:ext cx="10634472" cy="9113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8397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97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630943"/>
            <a:ext cx="5806440" cy="8381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Restore the colon, then trigger a RUNTIME exception by calling get_price('LEHMAN') for a ticker that is not in the dict. Run again and capture the full traceback to a file.</a:t>
            </a:r>
          </a:p>
        </p:txBody>
      </p:sp>
      <p:sp>
        <p:nvSpPr>
          <p:cNvPr id="33" name="Rectangle 32"/>
          <p:cNvSpPr/>
          <p:nvPr/>
        </p:nvSpPr>
        <p:spPr>
          <a:xfrm>
            <a:off x="7452360" y="476655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76655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price_loader.py 2&gt; traceback.txt; cat traceback.txt</a:t>
            </a:r>
          </a:p>
        </p:txBody>
      </p:sp>
      <p:sp>
        <p:nvSpPr>
          <p:cNvPr id="35" name="Rectangle 34"/>
          <p:cNvSpPr/>
          <p:nvPr/>
        </p:nvSpPr>
        <p:spPr>
          <a:xfrm>
            <a:off x="777240" y="5597112"/>
            <a:ext cx="10634472" cy="602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6880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6880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633688"/>
            <a:ext cx="9692640" cy="5293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this time the earlier print statements DID run before the KeyError appeared. An exception happens during execution, is raised at a specific line, and can be caught.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Exceptions vs Syntax Errors in a Price Loader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3990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174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174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3258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paste the captured traceback into your AI assistant with this prompt: "Here is a Python traceback from my stock price loader: &lt;paste traceback.txt&gt;. Explain in plain English what KeyError means here, which line raised it, and show me the smallest correct fix using try/except that returns None for an unknown ticker."</a:t>
            </a:r>
          </a:p>
        </p:txBody>
      </p:sp>
      <p:sp>
        <p:nvSpPr>
          <p:cNvPr id="11" name="Rectangle 10"/>
          <p:cNvSpPr/>
          <p:nvPr/>
        </p:nvSpPr>
        <p:spPr>
          <a:xfrm>
            <a:off x="777240" y="3218688"/>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4747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747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255264"/>
            <a:ext cx="96926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AI's answer critically: check that it catches KeyError specifically and NOT a bare `except:`, then apply the fix to price_loader.py.</a:t>
            </a:r>
          </a:p>
        </p:txBody>
      </p:sp>
      <p:sp>
        <p:nvSpPr>
          <p:cNvPr id="15" name="Rectangle 14"/>
          <p:cNvSpPr/>
          <p:nvPr/>
        </p:nvSpPr>
        <p:spPr>
          <a:xfrm>
            <a:off x="777240" y="4242816"/>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4988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9884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279392"/>
            <a:ext cx="58064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Re-run the fixed script and confirm the unknown ticker is now reported gracefully while the known tickers still print their prices.</a:t>
            </a:r>
          </a:p>
        </p:txBody>
      </p:sp>
      <p:sp>
        <p:nvSpPr>
          <p:cNvPr id="19" name="Rectangle 18"/>
          <p:cNvSpPr/>
          <p:nvPr/>
        </p:nvSpPr>
        <p:spPr>
          <a:xfrm>
            <a:off x="7452360" y="442569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42569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price_loader.py</a:t>
            </a:r>
          </a:p>
        </p:txBody>
      </p:sp>
      <p:sp>
        <p:nvSpPr>
          <p:cNvPr id="21" name="Rectangle 20"/>
          <p:cNvSpPr/>
          <p:nvPr/>
        </p:nvSpPr>
        <p:spPr>
          <a:xfrm>
            <a:off x="777240" y="5266944"/>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52297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2297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303520"/>
            <a:ext cx="96926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three-line comment block at the top of price_loader.py summarising the difference between a syntax error and an exception in your own words.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Exceptions vs Syntax Errors in a Price Loader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Running `uv run python price_loader.py` exits with status 0, prints prices for AAPL, MSFT and DBS, and prints a friendly 'ticker LEHMAN not found' message instead of crashing. traceback.txt contains the original KeyError trace for reference.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Try/Except on a Failing Market-Data Fetch</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writes a market-data fetcher that downloads recent closing prices for a watchlist using yfinance. One entry in the watchlist is a delisted or misspelled ticker that returns an empty frame. The learner catches the failure per ticker so the remaining instruments are still processed, and separates a network/API exception from an empty-result condition — a distinction that matters when a batch job runs unattended overnight.</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`lab-30-market-fetch` with fetch_prices.py that returns a summary dict of successful tickers and a separate list of failed tickers with the reason for each failure.</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Try/Except on a Failing Market-Data Fetch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and add the market-data dependencies.</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lab-30-market-fetch &amp;&amp; cd lab-30-market-fetch &amp;&amp; uv add yfinance pandas</a:t>
            </a:r>
          </a:p>
        </p:txBody>
      </p:sp>
      <p:sp>
        <p:nvSpPr>
          <p:cNvPr id="13" name="Rectangle 12"/>
          <p:cNvSpPr/>
          <p:nvPr/>
        </p:nvSpPr>
        <p:spPr>
          <a:xfrm>
            <a:off x="777240" y="2203704"/>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229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229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fetch_prices.py with WATCHLIST = ['AAPL', 'MSFT', 'ENRNQ', 'D05.SI'] — ENRNQ is a delisted ticker that will return no data.</a:t>
            </a:r>
          </a:p>
        </p:txBody>
      </p:sp>
      <p:sp>
        <p:nvSpPr>
          <p:cNvPr id="17" name="Rectangle 16"/>
          <p:cNvSpPr/>
          <p:nvPr/>
        </p:nvSpPr>
        <p:spPr>
          <a:xfrm>
            <a:off x="7452360" y="2258568"/>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58568"/>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fetch_prices.py</a:t>
            </a:r>
          </a:p>
        </p:txBody>
      </p:sp>
      <p:sp>
        <p:nvSpPr>
          <p:cNvPr id="19" name="Rectangle 18"/>
          <p:cNvSpPr/>
          <p:nvPr/>
        </p:nvSpPr>
        <p:spPr>
          <a:xfrm>
            <a:off x="777240" y="2954274"/>
            <a:ext cx="10634472" cy="9936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4078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4078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990850"/>
            <a:ext cx="5806440" cy="9204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naive loop with no error handling that calls yf.download(t, period='5d') and prints the last close for each ticker. Run it and observe the failure.</a:t>
            </a:r>
          </a:p>
        </p:txBody>
      </p:sp>
      <p:sp>
        <p:nvSpPr>
          <p:cNvPr id="23" name="Rectangle 22"/>
          <p:cNvSpPr/>
          <p:nvPr/>
        </p:nvSpPr>
        <p:spPr>
          <a:xfrm>
            <a:off x="7452360" y="316763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16763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fetch_prices.py</a:t>
            </a:r>
          </a:p>
        </p:txBody>
      </p:sp>
      <p:sp>
        <p:nvSpPr>
          <p:cNvPr id="25" name="Rectangle 24"/>
          <p:cNvSpPr/>
          <p:nvPr/>
        </p:nvSpPr>
        <p:spPr>
          <a:xfrm>
            <a:off x="777240" y="403936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1586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586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75938"/>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delisted ticker produced an empty DataFrame, so `df['Close'].iloc[-1]` raised IndexError and the loop died BEFORE reaching D05.SI. One bad symbol silently cost you the rest of the watchlist.</a:t>
            </a:r>
          </a:p>
        </p:txBody>
      </p:sp>
      <p:sp>
        <p:nvSpPr>
          <p:cNvPr id="29" name="Rectangle 28"/>
          <p:cNvSpPr/>
          <p:nvPr/>
        </p:nvSpPr>
        <p:spPr>
          <a:xfrm>
            <a:off x="777240" y="478993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90918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0918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826508"/>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Refactor the loop so each ticker is fetched inside its own try/except. Catch IndexError and KeyError for empty data, and catch Exception as a last resort for network/API faults, appending (ticker, reason) to a failures list.</a:t>
            </a:r>
          </a:p>
        </p:txBody>
      </p:sp>
      <p:sp>
        <p:nvSpPr>
          <p:cNvPr id="33" name="Rectangle 32"/>
          <p:cNvSpPr/>
          <p:nvPr/>
        </p:nvSpPr>
        <p:spPr>
          <a:xfrm>
            <a:off x="777240" y="554050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6597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597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577078"/>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fixed script and confirm every good ticker is priced and the bad one is reported.</a:t>
            </a:r>
          </a:p>
        </p:txBody>
      </p:sp>
      <p:sp>
        <p:nvSpPr>
          <p:cNvPr id="37" name="Rectangle 36"/>
          <p:cNvSpPr/>
          <p:nvPr/>
        </p:nvSpPr>
        <p:spPr>
          <a:xfrm>
            <a:off x="7452360" y="5595366"/>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595366"/>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fetch_prices.py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Try/Except on a Failing Market-Data Fetch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3990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174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174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3258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"Review this Python function that fetches prices with yfinance inside a try/except. Is catching bare Exception acceptable here for an overnight batch job? Suggest more specific exception types and show how to log the failing ticker with the traceback so an analyst can debug it the next morning."</a:t>
            </a:r>
          </a:p>
        </p:txBody>
      </p:sp>
      <p:sp>
        <p:nvSpPr>
          <p:cNvPr id="11" name="Rectangle 10"/>
          <p:cNvSpPr/>
          <p:nvPr/>
        </p:nvSpPr>
        <p:spPr>
          <a:xfrm>
            <a:off x="777240" y="3218688"/>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4747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747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255264"/>
            <a:ext cx="96926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AI's logging suggestion, but verify yourself that a genuine bug (for example a typo in a column name) is still visible rather than swallowed by the broad handler.</a:t>
            </a:r>
          </a:p>
        </p:txBody>
      </p:sp>
      <p:sp>
        <p:nvSpPr>
          <p:cNvPr id="15" name="Rectangle 14"/>
          <p:cNvSpPr/>
          <p:nvPr/>
        </p:nvSpPr>
        <p:spPr>
          <a:xfrm>
            <a:off x="777240" y="4242816"/>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4988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9884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279392"/>
            <a:ext cx="58064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summary print at the end: how many tickers succeeded, how many failed, and the reason for each failure.</a:t>
            </a:r>
          </a:p>
        </p:txBody>
      </p:sp>
      <p:sp>
        <p:nvSpPr>
          <p:cNvPr id="19" name="Rectangle 18"/>
          <p:cNvSpPr/>
          <p:nvPr/>
        </p:nvSpPr>
        <p:spPr>
          <a:xfrm>
            <a:off x="7452360" y="442569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42569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fetch_prices.py</a:t>
            </a:r>
          </a:p>
        </p:txBody>
      </p:sp>
      <p:sp>
        <p:nvSpPr>
          <p:cNvPr id="21" name="Rectangle 20"/>
          <p:cNvSpPr/>
          <p:nvPr/>
        </p:nvSpPr>
        <p:spPr>
          <a:xfrm>
            <a:off x="777240" y="5266944"/>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52297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2297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303520"/>
            <a:ext cx="96926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the pipeline must record which tickers were skipped — a portfolio valuation computed from three of four holdings is wrong, not merely incomplete.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Try/Except on a Failing Market-Data Fetch</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script completes without crashing, prints a latest close for AAPL, MSFT and D05.SI, and ends with a failure report naming ENRNQ and its reason. Exit status is 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ZeroDivisionError in an ROE and Ratio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Return on Equity divides net income by shareholders' equity — and a distressed company can report zero or negative equity, which makes the ratio undefined rather than merely large. The learner builds a ratio calculator covering ROE, net profit margin and debt-to-equity, then hardens it against a zero denominator and against a None value arriving from an incomplete fundamentals feed. The lab makes the key point that returning 0.0 for an undefined ratio is a data-quality lie; returning None and flagging it is correct.</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`lab-31-roe-guard` with ratios.py exposing safe_roe(), safe_margin() and safe_debt_to_equity(), all returning None with a printed warning when the ratio is undefined.</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ZeroDivisionError in an ROE and Ratio Calculator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 for the ratio calculator.</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lab-31-roe-guard &amp;&amp; cd lab-31-roe-guard</a:t>
            </a:r>
          </a:p>
        </p:txBody>
      </p:sp>
      <p:sp>
        <p:nvSpPr>
          <p:cNvPr id="13" name="Rectangle 12"/>
          <p:cNvSpPr/>
          <p:nvPr/>
        </p:nvSpPr>
        <p:spPr>
          <a:xfrm>
            <a:off x="777240" y="2203704"/>
            <a:ext cx="10634472" cy="9936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4902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4902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9204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ratios.py with an unguarded roe(net_income, equity) that simply returns net_income / equity, plus a COMPANIES list containing one firm with equity = 0 and one with equity = None.</a:t>
            </a:r>
          </a:p>
        </p:txBody>
      </p:sp>
      <p:sp>
        <p:nvSpPr>
          <p:cNvPr id="17" name="Rectangle 16"/>
          <p:cNvSpPr/>
          <p:nvPr/>
        </p:nvSpPr>
        <p:spPr>
          <a:xfrm>
            <a:off x="7452360" y="24170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4170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ratios.py</a:t>
            </a:r>
          </a:p>
        </p:txBody>
      </p:sp>
      <p:sp>
        <p:nvSpPr>
          <p:cNvPr id="19" name="Rectangle 18"/>
          <p:cNvSpPr/>
          <p:nvPr/>
        </p:nvSpPr>
        <p:spPr>
          <a:xfrm>
            <a:off x="777240" y="328879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0804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0804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25368"/>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 over the company list and observe it crash on the zero-equity firm.</a:t>
            </a:r>
          </a:p>
        </p:txBody>
      </p:sp>
      <p:sp>
        <p:nvSpPr>
          <p:cNvPr id="23" name="Rectangle 22"/>
          <p:cNvSpPr/>
          <p:nvPr/>
        </p:nvSpPr>
        <p:spPr>
          <a:xfrm>
            <a:off x="7452360" y="3343656"/>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343656"/>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ratios.py</a:t>
            </a:r>
          </a:p>
        </p:txBody>
      </p:sp>
      <p:sp>
        <p:nvSpPr>
          <p:cNvPr id="25" name="Rectangle 24"/>
          <p:cNvSpPr/>
          <p:nvPr/>
        </p:nvSpPr>
        <p:spPr>
          <a:xfrm>
            <a:off x="777240" y="403936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1586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586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75938"/>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ZeroDivisionError is not a bug in your code — it is the data telling you the ratio has no meaning. A company with zero book equity has an undefined ROE.</a:t>
            </a:r>
          </a:p>
        </p:txBody>
      </p:sp>
      <p:sp>
        <p:nvSpPr>
          <p:cNvPr id="29" name="Rectangle 28"/>
          <p:cNvSpPr/>
          <p:nvPr/>
        </p:nvSpPr>
        <p:spPr>
          <a:xfrm>
            <a:off x="777240" y="478993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90918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0918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826508"/>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Rewrite roe() as safe_roe() with try/except catching ZeroDivisionError (return None, warn 'undefined: zero equity') and TypeError (return None, warn 'missing equity value').</a:t>
            </a:r>
          </a:p>
        </p:txBody>
      </p:sp>
      <p:sp>
        <p:nvSpPr>
          <p:cNvPr id="33" name="Rectangle 32"/>
          <p:cNvSpPr/>
          <p:nvPr/>
        </p:nvSpPr>
        <p:spPr>
          <a:xfrm>
            <a:off x="777240" y="554050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6597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597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577078"/>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safe_margin(net_income, revenue) and safe_debt_to_equity(debt, equity) using the same guarded pattern, and run over all companies.</a:t>
            </a:r>
          </a:p>
        </p:txBody>
      </p:sp>
      <p:sp>
        <p:nvSpPr>
          <p:cNvPr id="37" name="Rectangle 36"/>
          <p:cNvSpPr/>
          <p:nvPr/>
        </p:nvSpPr>
        <p:spPr>
          <a:xfrm>
            <a:off x="7452360" y="5595366"/>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595366"/>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ratios.py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ZeroDivisionError in an ROE and Ratio Calculator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3990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174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174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3258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"I have three financial ratio functions that each repeat the same try/except for ZeroDivisionError and TypeError. Refactor them into one reusable safe_divide(numerator, denominator, label) helper that returns None and logs a warning, and rewrite the three ratios to use it. Keep the warning text specific to each ratio."</a:t>
            </a:r>
          </a:p>
        </p:txBody>
      </p:sp>
      <p:sp>
        <p:nvSpPr>
          <p:cNvPr id="11" name="Rectangle 10"/>
          <p:cNvSpPr/>
          <p:nvPr/>
        </p:nvSpPr>
        <p:spPr>
          <a:xfrm>
            <a:off x="777240" y="3218688"/>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4747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747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255264"/>
            <a:ext cx="96926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AI's safe_divide against a negative-equity firm (equity = -500000). Decide as a class whether a negative denominator should return a number or a flag, and justify the choice in a comment.</a:t>
            </a:r>
          </a:p>
        </p:txBody>
      </p:sp>
      <p:sp>
        <p:nvSpPr>
          <p:cNvPr id="15" name="Rectangle 14"/>
          <p:cNvSpPr/>
          <p:nvPr/>
        </p:nvSpPr>
        <p:spPr>
          <a:xfrm>
            <a:off x="777240" y="4242816"/>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4988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9884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279392"/>
            <a:ext cx="58064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a final table of every company with its three ratios, showing 'n/a' where the result is None.</a:t>
            </a:r>
          </a:p>
        </p:txBody>
      </p:sp>
      <p:sp>
        <p:nvSpPr>
          <p:cNvPr id="19" name="Rectangle 18"/>
          <p:cNvSpPr/>
          <p:nvPr/>
        </p:nvSpPr>
        <p:spPr>
          <a:xfrm>
            <a:off x="7452360" y="442569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42569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ratios.py</a:t>
            </a:r>
          </a:p>
        </p:txBody>
      </p:sp>
      <p:sp>
        <p:nvSpPr>
          <p:cNvPr id="21" name="Rectangle 20"/>
          <p:cNvSpPr/>
          <p:nvPr/>
        </p:nvSpPr>
        <p:spPr>
          <a:xfrm>
            <a:off x="777240" y="5266944"/>
            <a:ext cx="1063447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52297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2297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303520"/>
            <a:ext cx="9692640" cy="8595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silently substituting 0.0 for an undefined ROE would corrupt a downstream screening model that ranks companies by ROE.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ZeroDivisionError in an ROE and Ratio Calculator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`uv run python ratios.py` prints a ratio table for every company, shows 'n/a' for the zero-equity and None-equity firms with a warning line for each, and never raises.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KeyError and ValueError in a Portfolio Input Handler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builds an interactive portfolio lookup and loan-amount entry tool. Querying a ticker that is not in the holdings dictionary raises KeyError; typing '1,000,000' or 'fifty thousand' into a loan-amount prompt raises ValueError from int(). The learner writes a single try block with multiple except branches, then adds an input-validation loop that re-prompts until the value is usable — the standard pattern for any customer-facing finance form.</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`lab-32-portfolio-input` with portfolio_tool.py providing a resilient ticker lookup and a validated loan-amount prompt that never crashes on bad input.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KeyError and ValueError in a Portfolio Input Handler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uv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lab-32-portfolio-input &amp;&amp; cd lab-32-portfolio-input</a:t>
            </a:r>
          </a:p>
        </p:txBody>
      </p:sp>
      <p:sp>
        <p:nvSpPr>
          <p:cNvPr id="13" name="Rectangle 12"/>
          <p:cNvSpPr/>
          <p:nvPr/>
        </p:nvSpPr>
        <p:spPr>
          <a:xfrm>
            <a:off x="777240" y="2679192"/>
            <a:ext cx="10634472" cy="8401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889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889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669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portfolio_tool.py with PORTFOLIO = {'AAPL': 120, 'MSFT': 80, 'D05.SI': 500} and an unguarded lookup that prints PORTFOLIO[ticker] for a ticker typed by the user.</a:t>
            </a:r>
          </a:p>
        </p:txBody>
      </p:sp>
      <p:sp>
        <p:nvSpPr>
          <p:cNvPr id="17" name="Rectangle 16"/>
          <p:cNvSpPr/>
          <p:nvPr/>
        </p:nvSpPr>
        <p:spPr>
          <a:xfrm>
            <a:off x="7452360" y="281578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81578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portfolio_tool.py</a:t>
            </a:r>
          </a:p>
        </p:txBody>
      </p:sp>
      <p:sp>
        <p:nvSpPr>
          <p:cNvPr id="19" name="Rectangle 18"/>
          <p:cNvSpPr/>
          <p:nvPr/>
        </p:nvSpPr>
        <p:spPr>
          <a:xfrm>
            <a:off x="777240" y="3610737"/>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56457"/>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56457"/>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47313"/>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and enter 'TSLA', a ticker you do not hold, to trigger KeyError.</a:t>
            </a:r>
          </a:p>
        </p:txBody>
      </p:sp>
      <p:sp>
        <p:nvSpPr>
          <p:cNvPr id="23" name="Rectangle 22"/>
          <p:cNvSpPr/>
          <p:nvPr/>
        </p:nvSpPr>
        <p:spPr>
          <a:xfrm>
            <a:off x="7452360" y="3665601"/>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665601"/>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portfolio_tool.py</a:t>
            </a:r>
          </a:p>
        </p:txBody>
      </p:sp>
      <p:sp>
        <p:nvSpPr>
          <p:cNvPr id="25" name="Rectangle 24"/>
          <p:cNvSpPr/>
          <p:nvPr/>
        </p:nvSpPr>
        <p:spPr>
          <a:xfrm>
            <a:off x="777240" y="4086225"/>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14851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4851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122801"/>
            <a:ext cx="58064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second unguarded prompt: amount = int(input('Loan amount: ')). Run it and enter '1,000,000' to trigger ValueError.</a:t>
            </a:r>
          </a:p>
        </p:txBody>
      </p:sp>
      <p:sp>
        <p:nvSpPr>
          <p:cNvPr id="29" name="Rectangle 28"/>
          <p:cNvSpPr/>
          <p:nvPr/>
        </p:nvSpPr>
        <p:spPr>
          <a:xfrm>
            <a:off x="7452360" y="4141089"/>
            <a:ext cx="3886200" cy="4354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141089"/>
            <a:ext cx="3648456" cy="43548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portfolio_tool.py</a:t>
            </a:r>
          </a:p>
        </p:txBody>
      </p:sp>
      <p:sp>
        <p:nvSpPr>
          <p:cNvPr id="31" name="Rectangle 30"/>
          <p:cNvSpPr/>
          <p:nvPr/>
        </p:nvSpPr>
        <p:spPr>
          <a:xfrm>
            <a:off x="777240" y="4722876"/>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78516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78516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759452"/>
            <a:ext cx="96926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KeyError says the key is absent from the mapping; ValueError says the type is right but the content is not convertible. They need different messages to the user.</a:t>
            </a:r>
          </a:p>
        </p:txBody>
      </p:sp>
      <p:sp>
        <p:nvSpPr>
          <p:cNvPr id="35" name="Rectangle 34"/>
          <p:cNvSpPr/>
          <p:nvPr/>
        </p:nvSpPr>
        <p:spPr>
          <a:xfrm>
            <a:off x="777240" y="5359527"/>
            <a:ext cx="10634472" cy="8401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56926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56926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396103"/>
            <a:ext cx="5806440" cy="7669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Wrap the lookup in try/except KeyError, printing 'You do not hold TSLA — holdings are: AAPL, MSFT, D05.SI' and continuing. Verify with a held and an unheld ticker.</a:t>
            </a:r>
          </a:p>
        </p:txBody>
      </p:sp>
      <p:sp>
        <p:nvSpPr>
          <p:cNvPr id="39" name="Rectangle 38"/>
          <p:cNvSpPr/>
          <p:nvPr/>
        </p:nvSpPr>
        <p:spPr>
          <a:xfrm>
            <a:off x="7452360" y="549611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49611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portfolio_tool.py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KeyError and ValueError in a Portfolio Input Handler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1164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55163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5163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10433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Wrap the loan prompt in a while True loop with try/except ValueError that re-prompts until a valid positive integer is entered, and also rejects zero or negative amounts.</a:t>
            </a:r>
          </a:p>
        </p:txBody>
      </p:sp>
      <p:sp>
        <p:nvSpPr>
          <p:cNvPr id="11" name="Rectangle 10"/>
          <p:cNvSpPr/>
          <p:nvPr/>
        </p:nvSpPr>
        <p:spPr>
          <a:xfrm>
            <a:off x="7452360" y="247848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47848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portfolio_tool.py</a:t>
            </a:r>
          </a:p>
        </p:txBody>
      </p:sp>
      <p:sp>
        <p:nvSpPr>
          <p:cNvPr id="13" name="Rectangle 12"/>
          <p:cNvSpPr/>
          <p:nvPr/>
        </p:nvSpPr>
        <p:spPr>
          <a:xfrm>
            <a:off x="777240" y="3411626"/>
            <a:ext cx="10634472" cy="11164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7595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595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448202"/>
            <a:ext cx="9692640" cy="10433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"Here is my Python input handler for a loan application form. Rewrite it so it accepts amounts typed with commas or a currency symbol like 'S$250,000', still raises ValueError for genuinely invalid text, and caps the number of retries at three before exiting with a clear message."</a:t>
            </a:r>
          </a:p>
        </p:txBody>
      </p:sp>
      <p:sp>
        <p:nvSpPr>
          <p:cNvPr id="17" name="Rectangle 16"/>
          <p:cNvSpPr/>
          <p:nvPr/>
        </p:nvSpPr>
        <p:spPr>
          <a:xfrm>
            <a:off x="777240" y="4619548"/>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7813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813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656124"/>
            <a:ext cx="96926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AI-generated parser against the awkward cases yourself: '250000', 'S$250,000', '-5000', '0', 'abc' and an empty string. Fix anything the AI got wrong.</a:t>
            </a:r>
          </a:p>
        </p:txBody>
      </p:sp>
      <p:sp>
        <p:nvSpPr>
          <p:cNvPr id="21" name="Rectangle 20"/>
          <p:cNvSpPr/>
          <p:nvPr/>
        </p:nvSpPr>
        <p:spPr>
          <a:xfrm>
            <a:off x="777240" y="5455309"/>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6171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171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491885"/>
            <a:ext cx="96926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`.get(ticker, default)` is often better than try/except KeyError for a dictionary, and when the explicit exception is still the clearer choice.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KeyError and ValueError in a Portfolio Input Handler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tool survives every input in the test set: unknown tickers produce a helpful holdings list, malformed amounts re-prompt, and a valid amount is echoed back formatted as currency. The script never terminates with a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Else, Finally and a Custom InsufficientDataError for a Risk Model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A volatility model computed from four price observations is not a risk estimate — it is noise. The learner defines a custom InsufficientDataError, raises it when a price history is shorter than the model's minimum window, and structures the calculation with the full try / except / else / finally form: else runs the downstream risk write-up only when no exception occurred, and finally always closes the simulated API connection and appends a line to an audit log — the behaviour a regulator expects to see evidenced.</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`lab-33-risk-guard` with risk_model.py defining InsufficientDataError, a guarded compute_volatility(), and audit.log recording every run whether it succeeded or failed.</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numpy,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Else, Finally and a Custom InsufficientDataError for a Risk Model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numeric dependencies.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lab-33-risk-guard &amp;&amp; cd lab-33-risk-guard &amp;&amp; uv add pandas numpy</a:t>
            </a:r>
          </a:p>
        </p:txBody>
      </p:sp>
      <p:sp>
        <p:nvSpPr>
          <p:cNvPr id="13" name="Rectangle 12"/>
          <p:cNvSpPr/>
          <p:nvPr/>
        </p:nvSpPr>
        <p:spPr>
          <a:xfrm>
            <a:off x="777240" y="2679192"/>
            <a:ext cx="10634472" cy="8401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889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889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669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risk_model.py define `class InsufficientDataError(Exception)` with a docstring stating it is raised when a price history is too short for a reliable risk estimate.</a:t>
            </a:r>
          </a:p>
        </p:txBody>
      </p:sp>
      <p:sp>
        <p:nvSpPr>
          <p:cNvPr id="17" name="Rectangle 16"/>
          <p:cNvSpPr/>
          <p:nvPr/>
        </p:nvSpPr>
        <p:spPr>
          <a:xfrm>
            <a:off x="7452360" y="281578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81578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risk_model.py</a:t>
            </a:r>
          </a:p>
        </p:txBody>
      </p:sp>
      <p:sp>
        <p:nvSpPr>
          <p:cNvPr id="19" name="Rectangle 18"/>
          <p:cNvSpPr/>
          <p:nvPr/>
        </p:nvSpPr>
        <p:spPr>
          <a:xfrm>
            <a:off x="777240" y="3610737"/>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7303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7303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47313"/>
            <a:ext cx="96926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compute_volatility(prices, min_obs=30) that raises InsufficientDataError with a message naming the actual and required observation counts when len(prices) &lt; min_obs, and otherwise returns the annualised standard deviation of daily returns.</a:t>
            </a:r>
          </a:p>
        </p:txBody>
      </p:sp>
      <p:sp>
        <p:nvSpPr>
          <p:cNvPr id="23" name="Rectangle 22"/>
          <p:cNvSpPr/>
          <p:nvPr/>
        </p:nvSpPr>
        <p:spPr>
          <a:xfrm>
            <a:off x="777240" y="4247388"/>
            <a:ext cx="10634472" cy="5452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30968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0968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283964"/>
            <a:ext cx="9692640" cy="4720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fake connection object with open() and close() methods that print their action, to stand in for a market-data API session.</a:t>
            </a:r>
          </a:p>
        </p:txBody>
      </p:sp>
      <p:sp>
        <p:nvSpPr>
          <p:cNvPr id="27" name="Rectangle 26"/>
          <p:cNvSpPr/>
          <p:nvPr/>
        </p:nvSpPr>
        <p:spPr>
          <a:xfrm>
            <a:off x="777240" y="4884039"/>
            <a:ext cx="10634472" cy="8401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09377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09377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4920615"/>
            <a:ext cx="9692640" cy="7669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Assemble the full structure: try (open connection, compute volatility) / except InsufficientDataError (print the reason, mark the run FAILED) / else (print the volatility and the risk band, mark the run OK) / finally (close the connection and append a timestamped line to audit.log).</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model against a 250-day series and confirm the else branch executes.</a:t>
            </a:r>
          </a:p>
        </p:txBody>
      </p:sp>
      <p:sp>
        <p:nvSpPr>
          <p:cNvPr id="35" name="Rectangle 34"/>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risk_model.py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Else, Finally and a Custom InsufficientDataError for a Risk Model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72077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5377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5377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4762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it again against a 12-day series and confirm the custom exception is caught, the else branch is skipped, and the connection is STILL closed.</a:t>
            </a:r>
          </a:p>
        </p:txBody>
      </p:sp>
      <p:sp>
        <p:nvSpPr>
          <p:cNvPr id="11" name="Rectangle 10"/>
          <p:cNvSpPr/>
          <p:nvPr/>
        </p:nvSpPr>
        <p:spPr>
          <a:xfrm>
            <a:off x="7452360" y="228062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8062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risk_model.py --short</a:t>
            </a:r>
          </a:p>
        </p:txBody>
      </p:sp>
      <p:sp>
        <p:nvSpPr>
          <p:cNvPr id="13" name="Rectangle 12"/>
          <p:cNvSpPr/>
          <p:nvPr/>
        </p:nvSpPr>
        <p:spPr>
          <a:xfrm>
            <a:off x="777240" y="3015919"/>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61639"/>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61639"/>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52495"/>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the audit log and confirm both runs are recorded with their outcome.</a:t>
            </a:r>
          </a:p>
        </p:txBody>
      </p:sp>
      <p:sp>
        <p:nvSpPr>
          <p:cNvPr id="17" name="Rectangle 16"/>
          <p:cNvSpPr/>
          <p:nvPr/>
        </p:nvSpPr>
        <p:spPr>
          <a:xfrm>
            <a:off x="7452360" y="3070783"/>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070783"/>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cat audit.log</a:t>
            </a:r>
          </a:p>
        </p:txBody>
      </p:sp>
      <p:sp>
        <p:nvSpPr>
          <p:cNvPr id="19" name="Rectangle 18"/>
          <p:cNvSpPr/>
          <p:nvPr/>
        </p:nvSpPr>
        <p:spPr>
          <a:xfrm>
            <a:off x="777240" y="3491407"/>
            <a:ext cx="10634472" cy="720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64148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4148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527983"/>
            <a:ext cx="9692640" cy="6476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finally ran in both the success and failure paths. Without it, a failed model run would leak the API session and leave no audit trail — the failure that is invisible is the one that gets you sanctioned.</a:t>
            </a:r>
          </a:p>
        </p:txBody>
      </p:sp>
      <p:sp>
        <p:nvSpPr>
          <p:cNvPr id="23" name="Rectangle 22"/>
          <p:cNvSpPr/>
          <p:nvPr/>
        </p:nvSpPr>
        <p:spPr>
          <a:xfrm>
            <a:off x="777240" y="4303623"/>
            <a:ext cx="10634472" cy="10837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6352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6352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340199"/>
            <a:ext cx="9692640" cy="101064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"Review this Python risk model. I use a custom InsufficientDataError plus try/except/else/finally. Suggest two more domain-specific exceptions a volatility model should raise (for example on stale or non-numeric prices), show the class definitions, and explain when a custom exception is better than reusing ValueError."</a:t>
            </a:r>
          </a:p>
        </p:txBody>
      </p:sp>
      <p:sp>
        <p:nvSpPr>
          <p:cNvPr id="27" name="Rectangle 26"/>
          <p:cNvSpPr/>
          <p:nvPr/>
        </p:nvSpPr>
        <p:spPr>
          <a:xfrm>
            <a:off x="777240" y="5478856"/>
            <a:ext cx="10634472" cy="720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6289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89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515432"/>
            <a:ext cx="5806440" cy="6476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Implement one of the AI's suggested exceptions yourself, add a test case that triggers it, and confirm audit.log still records the run.</a:t>
            </a:r>
          </a:p>
        </p:txBody>
      </p:sp>
      <p:sp>
        <p:nvSpPr>
          <p:cNvPr id="31" name="Rectangle 30"/>
          <p:cNvSpPr/>
          <p:nvPr/>
        </p:nvSpPr>
        <p:spPr>
          <a:xfrm>
            <a:off x="7452360" y="555578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55578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risk_model.py --stale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Else, Finally and a Custom InsufficientDataError for a Risk Model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three runs (normal, short history, stale prices) finish without an uncaught traceback, 'connection closed' prints every time, and audit.log contains one timestamped OK/FAILED line per run.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Loan Risk Classifier with Guarded Data Loading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752344"/>
            <a:ext cx="10698480" cy="175564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capstone activity for Topic 5, from the reference slide. The learner trains an XGBoost multi-class credit-risk classifier on creditloandata.csv. The loader is wrapped in try/except: if the CSV is absent or unreadable, the except branch generates a synthetic dataset of 120 mock records with income, debt-to-income and credit-score features and assigns risk labels 0/1/2 from a scoring function, so the model always trains. A second guard handles missing feature columns by dropping them and warning, rather than crashing. The model is evaluated with accuracy, a classification report, a Seaborn confusion-matrix heatmap and a multiclass ROC curve.</a:t>
            </a:r>
          </a:p>
        </p:txBody>
      </p:sp>
      <p:sp>
        <p:nvSpPr>
          <p:cNvPr id="10" name="Rectangle 9"/>
          <p:cNvSpPr/>
          <p:nvPr/>
        </p:nvSpPr>
        <p:spPr>
          <a:xfrm>
            <a:off x="777240" y="4690872"/>
            <a:ext cx="10698480"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85546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5202936"/>
            <a:ext cx="10241280" cy="45720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`lab-34-loan-risk-classifier` with loan_risk.py, a synthetic-data fallback, a printed classification report, confusion_matrix.png and roc_curve.png.</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numpy, scikit-learn, xgboost, matplotlib, seaborn,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Loan Risk Classifier with Guarded Data Loading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modelling stack.</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lab-34-loan-risk-classifier &amp;&amp; cd lab-34-loan-risk-classifier &amp;&amp; uv add pandas numpy scikit-learn xgboost matplotlib seaborn</a:t>
            </a:r>
          </a:p>
        </p:txBody>
      </p:sp>
      <p:sp>
        <p:nvSpPr>
          <p:cNvPr id="13" name="Rectangle 12"/>
          <p:cNvSpPr/>
          <p:nvPr/>
        </p:nvSpPr>
        <p:spPr>
          <a:xfrm>
            <a:off x="777240" y="2679192"/>
            <a:ext cx="10634472" cy="12944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11610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1610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122129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with the full requirement: "Write a Python script that trains an XGBoost multi-class classifier for credit risk. Wrap the data loading in try/except: try to read 'creditloandata.csv' with pandas; if FileNotFoundError or pandas.errors.EmptyDataError is raised, generate a synthetic dataset of 120 records with columns income, debt_to_income and credit_score, and assign risk labels 0, 1, 2 from a custom scoring function. Split 75/25 stratified, train XGBClassifier, then report accuracy, a classification_report, a Seaborn confusion-matrix heatmap and a multiclass ROC curve. Print clearly which data source was used."</a:t>
            </a:r>
          </a:p>
        </p:txBody>
      </p:sp>
      <p:sp>
        <p:nvSpPr>
          <p:cNvPr id="17" name="Rectangle 16"/>
          <p:cNvSpPr/>
          <p:nvPr/>
        </p:nvSpPr>
        <p:spPr>
          <a:xfrm>
            <a:off x="777240" y="4065079"/>
            <a:ext cx="10634472" cy="63093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1702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1702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101655"/>
            <a:ext cx="5806440" cy="55778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generated code as loan_risk.py and READ IT before running — check the fallback actually produces three populated classes and that the except branch is not catching bare Exception.</a:t>
            </a:r>
          </a:p>
        </p:txBody>
      </p:sp>
      <p:sp>
        <p:nvSpPr>
          <p:cNvPr id="21" name="Rectangle 20"/>
          <p:cNvSpPr/>
          <p:nvPr/>
        </p:nvSpPr>
        <p:spPr>
          <a:xfrm>
            <a:off x="7452360" y="4119943"/>
            <a:ext cx="3886200" cy="52120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119943"/>
            <a:ext cx="3648456" cy="521207"/>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loan_risk.py</a:t>
            </a:r>
          </a:p>
        </p:txBody>
      </p:sp>
      <p:sp>
        <p:nvSpPr>
          <p:cNvPr id="23" name="Rectangle 22"/>
          <p:cNvSpPr/>
          <p:nvPr/>
        </p:nvSpPr>
        <p:spPr>
          <a:xfrm>
            <a:off x="777240" y="4787454"/>
            <a:ext cx="10634472" cy="4097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833174"/>
            <a:ext cx="318326" cy="31832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33174"/>
            <a:ext cx="318326" cy="318326"/>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24030"/>
            <a:ext cx="5806440" cy="33661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 with NO creditloandata.csv present and confirm the synthetic fallback path is taken and the model still trains.</a:t>
            </a:r>
          </a:p>
        </p:txBody>
      </p:sp>
      <p:sp>
        <p:nvSpPr>
          <p:cNvPr id="27" name="Rectangle 26"/>
          <p:cNvSpPr/>
          <p:nvPr/>
        </p:nvSpPr>
        <p:spPr>
          <a:xfrm>
            <a:off x="7452360" y="4842318"/>
            <a:ext cx="3886200" cy="30003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842318"/>
            <a:ext cx="3648456" cy="30003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loan_risk.py</a:t>
            </a:r>
          </a:p>
        </p:txBody>
      </p:sp>
      <p:sp>
        <p:nvSpPr>
          <p:cNvPr id="29" name="Rectangle 28"/>
          <p:cNvSpPr/>
          <p:nvPr/>
        </p:nvSpPr>
        <p:spPr>
          <a:xfrm>
            <a:off x="777240" y="5288660"/>
            <a:ext cx="10634472" cy="4097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334380"/>
            <a:ext cx="318326" cy="31832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334380"/>
            <a:ext cx="318326" cy="318326"/>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325236"/>
            <a:ext cx="5806440" cy="33661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a small real creditloandata.csv with the three feature columns and a risk column, re-run, and confirm the try branch is taken instead.</a:t>
            </a:r>
          </a:p>
        </p:txBody>
      </p:sp>
      <p:sp>
        <p:nvSpPr>
          <p:cNvPr id="33" name="Rectangle 32"/>
          <p:cNvSpPr/>
          <p:nvPr/>
        </p:nvSpPr>
        <p:spPr>
          <a:xfrm>
            <a:off x="7452360" y="5343524"/>
            <a:ext cx="3886200" cy="30003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343524"/>
            <a:ext cx="3648456" cy="30003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loan_risk.py</a:t>
            </a:r>
          </a:p>
        </p:txBody>
      </p:sp>
      <p:sp>
        <p:nvSpPr>
          <p:cNvPr id="35" name="Rectangle 34"/>
          <p:cNvSpPr/>
          <p:nvPr/>
        </p:nvSpPr>
        <p:spPr>
          <a:xfrm>
            <a:off x="777240" y="5789866"/>
            <a:ext cx="10634472" cy="4097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835586"/>
            <a:ext cx="318326" cy="31832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35586"/>
            <a:ext cx="318326" cy="318326"/>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826442"/>
            <a:ext cx="9692640" cy="33661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THIRD guard: wrap feature selection in try/except KeyError so that if credit_score is missing from the CSV the script warns, drops that feature and trains on the remaining two rather than crashing.</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Loan Risk Classifier with Guarded Data Loading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5185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5268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5268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4454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missing-feature path by deleting the credit_score column from the CSV and re-running.</a:t>
            </a:r>
          </a:p>
        </p:txBody>
      </p:sp>
      <p:sp>
        <p:nvSpPr>
          <p:cNvPr id="11" name="Rectangle 10"/>
          <p:cNvSpPr/>
          <p:nvPr/>
        </p:nvSpPr>
        <p:spPr>
          <a:xfrm>
            <a:off x="7452360" y="2258568"/>
            <a:ext cx="3886200" cy="4088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408867"/>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loan_risk.py</a:t>
            </a:r>
          </a:p>
        </p:txBody>
      </p:sp>
      <p:sp>
        <p:nvSpPr>
          <p:cNvPr id="13" name="Rectangle 12"/>
          <p:cNvSpPr/>
          <p:nvPr/>
        </p:nvSpPr>
        <p:spPr>
          <a:xfrm>
            <a:off x="777240" y="2813739"/>
            <a:ext cx="10634472" cy="5185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6272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6272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50315"/>
            <a:ext cx="9692640" cy="4454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degraded two-feature model still produced a number. Is a silently degraded credit model acceptable? Agree as a class where the boundary sits between graceful degradation and a failure that must stop the run.</a:t>
            </a:r>
          </a:p>
        </p:txBody>
      </p:sp>
      <p:sp>
        <p:nvSpPr>
          <p:cNvPr id="17" name="Rectangle 16"/>
          <p:cNvSpPr/>
          <p:nvPr/>
        </p:nvSpPr>
        <p:spPr>
          <a:xfrm>
            <a:off x="777240" y="3423774"/>
            <a:ext cx="10634472" cy="15557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460350"/>
            <a:ext cx="5806440" cy="148263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Break the script deliberately — feed it a CSV whose risk column contains the string 'high' instead of an integer — capture the resulting traceback, and paste it into your AI assistant with: "Explain this traceback from my XGBoost credit risk script and give me the exception handler that converts the label column safely, raising a clear InvalidLabelError if the values cannot be mapped to 0, 1 or 2."</a:t>
            </a:r>
          </a:p>
        </p:txBody>
      </p:sp>
      <p:sp>
        <p:nvSpPr>
          <p:cNvPr id="21" name="Rectangle 20"/>
          <p:cNvSpPr/>
          <p:nvPr/>
        </p:nvSpPr>
        <p:spPr>
          <a:xfrm>
            <a:off x="7452360" y="391820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91820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loan_risk.py 2&gt; traceback.txt</a:t>
            </a:r>
          </a:p>
        </p:txBody>
      </p:sp>
      <p:sp>
        <p:nvSpPr>
          <p:cNvPr id="23" name="Rectangle 22"/>
          <p:cNvSpPr/>
          <p:nvPr/>
        </p:nvSpPr>
        <p:spPr>
          <a:xfrm>
            <a:off x="777240" y="5071000"/>
            <a:ext cx="10634472" cy="5185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11998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11998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107576"/>
            <a:ext cx="5806440" cy="4454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and test the AI's handler, then confirm the confusion-matrix heatmap and ROC curve are written to disk on a successful run.</a:t>
            </a:r>
          </a:p>
        </p:txBody>
      </p:sp>
      <p:sp>
        <p:nvSpPr>
          <p:cNvPr id="27" name="Rectangle 26"/>
          <p:cNvSpPr/>
          <p:nvPr/>
        </p:nvSpPr>
        <p:spPr>
          <a:xfrm>
            <a:off x="7452360" y="5125864"/>
            <a:ext cx="3886200" cy="4088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5125864"/>
            <a:ext cx="3648456" cy="408867"/>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loan_risk.py &amp;&amp; ls -la *.png</a:t>
            </a:r>
          </a:p>
        </p:txBody>
      </p:sp>
      <p:sp>
        <p:nvSpPr>
          <p:cNvPr id="29" name="Rectangle 28"/>
          <p:cNvSpPr/>
          <p:nvPr/>
        </p:nvSpPr>
        <p:spPr>
          <a:xfrm>
            <a:off x="777240" y="5681035"/>
            <a:ext cx="10634472" cy="5185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7300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300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717611"/>
            <a:ext cx="9692640" cy="4454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five-line 'error handling contract' comment at the top of loan_risk.py listing every exception the script handles and the business decision behind each response.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Loan Risk Classifier with Guarded Data Loading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script runs to completion in all four scenarios — CSV present, CSV absent, feature column missing, label column malformed — never exits with an uncaught traceback, prints accuracy above 0.60 on the synthetic data, and writes confusion_matrix.png and roc_curve.png.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Error Handling Using Exception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LO4: Distinguish an exception from a syntax error and read a Python traceback for a financial script.</a:t>
            </a:r>
          </a:p>
          <a:p>
            <a:pPr>
              <a:spcAft>
                <a:spcPts val="1000"/>
              </a:spcAft>
            </a:pPr>
            <a:r>
              <a:rPr sz="1700" b="0">
                <a:solidFill>
                  <a:srgbClr val="161B26"/>
                </a:solidFill>
                <a:latin typeface="Arial"/>
              </a:rPr>
              <a:t>•  You can now: LO4: Wrap a live market-data call in try/except so a delisted or invalid ticker does not halt the pipeline.</a:t>
            </a:r>
          </a:p>
          <a:p>
            <a:pPr>
              <a:spcAft>
                <a:spcPts val="1000"/>
              </a:spcAft>
            </a:pPr>
            <a:r>
              <a:rPr sz="1700" b="0">
                <a:solidFill>
                  <a:srgbClr val="161B26"/>
                </a:solidFill>
                <a:latin typeface="Arial"/>
              </a:rPr>
              <a:t>•  You can now: LO4: Handle ZeroDivisionError and TypeError in financial ratio calculations where the denominator can legitimately be zero.</a:t>
            </a:r>
          </a:p>
          <a:p>
            <a:pPr>
              <a:spcAft>
                <a:spcPts val="1000"/>
              </a:spcAft>
            </a:pPr>
            <a:r>
              <a:rPr sz="1700" b="0">
                <a:solidFill>
                  <a:srgbClr val="161B26"/>
                </a:solidFill>
                <a:latin typeface="Arial"/>
              </a:rPr>
              <a:t>•  You can now: LO4: Catch KeyError for a missing portfolio holding and ValueError for malformed user input, using multiple except branches.</a:t>
            </a:r>
          </a:p>
          <a:p>
            <a:pPr>
              <a:spcAft>
                <a:spcPts val="1000"/>
              </a:spcAft>
            </a:pPr>
            <a:r>
              <a:rPr sz="1700" b="0">
                <a:solidFill>
                  <a:srgbClr val="161B26"/>
                </a:solidFill>
                <a:latin typeface="Arial"/>
              </a:rPr>
              <a:t>•  You can now: LO4: Use the else and finally clauses and raise a custom exception to enforce a data-sufficiency rule in a risk model.</a:t>
            </a:r>
          </a:p>
          <a:p>
            <a:pPr>
              <a:spcAft>
                <a:spcPts val="1000"/>
              </a:spcAft>
            </a:pPr>
            <a:r>
              <a:rPr sz="1700" b="0">
                <a:solidFill>
                  <a:srgbClr val="161B26"/>
                </a:solidFill>
                <a:latin typeface="Arial"/>
              </a:rPr>
              <a:t>•  You can now: LO4: Build an XGBoost multi-class credit-risk classifier whose data loading, feature selection and scoring are wrapped in exception handling that degrades gracefully.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DAY 2 COMPLETE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End of Day 2</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today's labs and bring your questions to tomorrow morning.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START OF DAY 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Day 3</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Financial Data Analysis — pandas, aggregation, visualisation and Streamlit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DIGITAL ATTENDANCE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It is mandatory to take the AM, PM and Assessment digital attendance for this funded course.</a:t>
            </a:r>
          </a:p>
          <a:p>
            <a:pPr>
              <a:spcAft>
                <a:spcPts val="1000"/>
              </a:spcAft>
            </a:pPr>
            <a:r>
              <a:rPr sz="2000" b="0">
                <a:solidFill>
                  <a:srgbClr val="161B26"/>
                </a:solidFill>
                <a:latin typeface="Arial"/>
              </a:rPr>
              <a:t>•  The trainer/administrator displays the digital attendance QR code from the training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IBF-STS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Import and Process Finance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Pandas package · DataFrame and Series · Import · Filter and slice · Clean missing data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14%</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Import and Process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Pandas is the workhorse of financial data analysis; Series is a single labelled column and DataFrame is a labelled table.</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Financial data is imported from CSV, Excel and market APIs such as yfinance.</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Filtering and slicing select the rows and columns relevant to an analysis — a date range, a sector, or a set of tickers.</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Missing market data is detected and cleaned by dropping or imputing, and the choice must be documented because it changes the result.</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Moving averages and returns are derived columns that feed trading signals.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Import and Process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35–37</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Pandas Series vs DataFrame with Price Data</a:t>
            </a:r>
          </a:p>
          <a:p>
            <a:pPr>
              <a:spcAft>
                <a:spcPts val="900"/>
              </a:spcAft>
            </a:pPr>
            <a:r>
              <a:rPr sz="1400" b="0">
                <a:solidFill>
                  <a:srgbClr val="161B26"/>
                </a:solidFill>
                <a:latin typeface="Arial"/>
              </a:rPr>
              <a:t>•  Import Finance Data from CSV</a:t>
            </a:r>
          </a:p>
          <a:p>
            <a:pPr>
              <a:spcAft>
                <a:spcPts val="900"/>
              </a:spcAft>
            </a:pPr>
            <a:r>
              <a:rPr sz="1400" b="0">
                <a:solidFill>
                  <a:srgbClr val="161B26"/>
                </a:solidFill>
                <a:latin typeface="Arial"/>
              </a:rPr>
              <a:t>•  Import Live Market Data with yfinance</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38–40</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Inspect a Dataset with head, info and describe</a:t>
            </a:r>
          </a:p>
          <a:p>
            <a:pPr>
              <a:spcAft>
                <a:spcPts val="900"/>
              </a:spcAft>
            </a:pPr>
            <a:r>
              <a:rPr sz="1400" b="0">
                <a:solidFill>
                  <a:srgbClr val="161B26"/>
                </a:solidFill>
                <a:latin typeface="Arial"/>
              </a:rPr>
              <a:t>•  Filter and Slice by Date, Sector and Ticker</a:t>
            </a:r>
          </a:p>
          <a:p>
            <a:pPr>
              <a:spcAft>
                <a:spcPts val="900"/>
              </a:spcAft>
            </a:pPr>
            <a:r>
              <a:rPr sz="1400" b="0">
                <a:solidFill>
                  <a:srgbClr val="161B26"/>
                </a:solidFill>
                <a:latin typeface="Arial"/>
              </a:rPr>
              <a:t>•  Handle Missing Market Data and Compare the Choices</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41–42</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Derived Columns — Daily Returns and Moving Averages</a:t>
            </a:r>
          </a:p>
          <a:p>
            <a:pPr>
              <a:spcAft>
                <a:spcPts val="900"/>
              </a:spcAft>
            </a:pPr>
            <a:r>
              <a:rPr sz="1400" b="0">
                <a:solidFill>
                  <a:srgbClr val="161B26"/>
                </a:solidFill>
                <a:latin typeface="Arial"/>
              </a:rPr>
              <a:t>•  Activity: Algorithmic Trading — Moving Average Crossover Backtest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Pandas Series vs DataFrame with Price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35</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builds a Series of closing prices indexed by date, then a DataFrame holding open, high, low, close and volume for several tickers. Working with both side by side makes the distinction concrete: a Series is one labelled column — a single instrument's price history — while a DataFrame is a labelled table where a column selection returns a Series again. The learner also compares `.loc` label-based access against `.iloc` position-based access, the source of most beginner indexing bugs in finance code.</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`lab-35-series-dataframe` with series_vs_frame.py demonstrating Series construction, DataFrame construction, column and row selection, and a printed comparison of .loc versus .iloc.</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Pandas Series vs DataFrame with Price Data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lab-35-series-dataframe &amp;&amp; cd lab-35-series-dataframe &amp;&amp; uv add pandas</a:t>
            </a:r>
          </a:p>
        </p:txBody>
      </p:sp>
      <p:sp>
        <p:nvSpPr>
          <p:cNvPr id="13" name="Rectangle 12"/>
          <p:cNvSpPr/>
          <p:nvPr/>
        </p:nvSpPr>
        <p:spPr>
          <a:xfrm>
            <a:off x="777240" y="2203704"/>
            <a:ext cx="10634472" cy="9113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44904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44904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8381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series_vs_frame.py build a Series of 10 daily closing prices for D05.SI indexed by a pd.date_range of business days, and print it with its .index, .dtype and .name.</a:t>
            </a:r>
          </a:p>
        </p:txBody>
      </p:sp>
      <p:sp>
        <p:nvSpPr>
          <p:cNvPr id="17" name="Rectangle 16"/>
          <p:cNvSpPr/>
          <p:nvPr/>
        </p:nvSpPr>
        <p:spPr>
          <a:xfrm>
            <a:off x="7452360" y="237589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7589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series_vs_frame.py</a:t>
            </a:r>
          </a:p>
        </p:txBody>
      </p:sp>
      <p:sp>
        <p:nvSpPr>
          <p:cNvPr id="19" name="Rectangle 18"/>
          <p:cNvSpPr/>
          <p:nvPr/>
        </p:nvSpPr>
        <p:spPr>
          <a:xfrm>
            <a:off x="777240" y="3206449"/>
            <a:ext cx="10634472" cy="602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973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973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243025"/>
            <a:ext cx="5806440" cy="5293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series.mean(), series.max() and series.pct_change() and note that a Series carries its index through every operation.</a:t>
            </a:r>
          </a:p>
        </p:txBody>
      </p:sp>
      <p:sp>
        <p:nvSpPr>
          <p:cNvPr id="23" name="Rectangle 22"/>
          <p:cNvSpPr/>
          <p:nvPr/>
        </p:nvSpPr>
        <p:spPr>
          <a:xfrm>
            <a:off x="7452360" y="3261313"/>
            <a:ext cx="3886200" cy="4927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61313"/>
            <a:ext cx="3648456" cy="4927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series_vs_frame.py</a:t>
            </a:r>
          </a:p>
        </p:txBody>
      </p:sp>
      <p:sp>
        <p:nvSpPr>
          <p:cNvPr id="25" name="Rectangle 24"/>
          <p:cNvSpPr/>
          <p:nvPr/>
        </p:nvSpPr>
        <p:spPr>
          <a:xfrm>
            <a:off x="777240" y="3900408"/>
            <a:ext cx="10634472" cy="602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936984"/>
            <a:ext cx="9692640" cy="5293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a DataFrame with columns Open, High, Low, Close and Volume over the same dates, and print df.shape, df.columns and df.dtypes.</a:t>
            </a:r>
          </a:p>
        </p:txBody>
      </p:sp>
      <p:sp>
        <p:nvSpPr>
          <p:cNvPr id="29" name="Rectangle 28"/>
          <p:cNvSpPr/>
          <p:nvPr/>
        </p:nvSpPr>
        <p:spPr>
          <a:xfrm>
            <a:off x="777240" y="4594367"/>
            <a:ext cx="10634472" cy="9113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8397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97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630943"/>
            <a:ext cx="5806440" cy="8381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Select a single column with df['Close'] and confirm with type() that it is a Series, not a DataFrame; then select df[['Close', 'Volume']] and confirm that a list of columns returns a DataFrame.</a:t>
            </a:r>
          </a:p>
        </p:txBody>
      </p:sp>
      <p:sp>
        <p:nvSpPr>
          <p:cNvPr id="33" name="Rectangle 32"/>
          <p:cNvSpPr/>
          <p:nvPr/>
        </p:nvSpPr>
        <p:spPr>
          <a:xfrm>
            <a:off x="7452360" y="476655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76655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series_vs_frame.py</a:t>
            </a:r>
          </a:p>
        </p:txBody>
      </p:sp>
      <p:sp>
        <p:nvSpPr>
          <p:cNvPr id="35" name="Rectangle 34"/>
          <p:cNvSpPr/>
          <p:nvPr/>
        </p:nvSpPr>
        <p:spPr>
          <a:xfrm>
            <a:off x="777240" y="5597112"/>
            <a:ext cx="10634472" cy="602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6880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6880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633688"/>
            <a:ext cx="9692640" cy="5293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single-bracket versus double-bracket distinction. Passing a Series where a DataFrame is expected is a very common error in financial pipelines.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Pandas Series vs DataFrame with Price Data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259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1474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74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11859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Compare label and position indexing: df.loc['2024-03-05'] against df.iloc[2], and df.loc['2024-03-04':'2024-03-08'] against df.iloc[1:4]. Note that .loc slices are INCLUSIVE of the endpoint while .iloc slices are not.</a:t>
            </a:r>
          </a:p>
        </p:txBody>
      </p:sp>
      <p:sp>
        <p:nvSpPr>
          <p:cNvPr id="11" name="Rectangle 10"/>
          <p:cNvSpPr/>
          <p:nvPr/>
        </p:nvSpPr>
        <p:spPr>
          <a:xfrm>
            <a:off x="7452360" y="207431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07431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series_vs_frame.py</a:t>
            </a:r>
          </a:p>
        </p:txBody>
      </p:sp>
      <p:sp>
        <p:nvSpPr>
          <p:cNvPr id="13" name="Rectangle 12"/>
          <p:cNvSpPr/>
          <p:nvPr/>
        </p:nvSpPr>
        <p:spPr>
          <a:xfrm>
            <a:off x="777240" y="3078784"/>
            <a:ext cx="10634472" cy="1259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4980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9803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115360"/>
            <a:ext cx="9692640" cy="118597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"Explain the difference between a pandas Series and a DataFrame using a stock price example, and give me three short code snippets showing when .loc silently returns different rows than .iloc on a date-indexed price table. Include the off-by-one trap on slice endpoints."</a:t>
            </a:r>
          </a:p>
        </p:txBody>
      </p:sp>
      <p:sp>
        <p:nvSpPr>
          <p:cNvPr id="17" name="Rectangle 16"/>
          <p:cNvSpPr/>
          <p:nvPr/>
        </p:nvSpPr>
        <p:spPr>
          <a:xfrm>
            <a:off x="777240" y="4429352"/>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6387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387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465928"/>
            <a:ext cx="58064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AI's snippets yourself and verify each claim against your own DataFrame — do not accept the endpoint behaviour on trust.</a:t>
            </a:r>
          </a:p>
        </p:txBody>
      </p:sp>
      <p:sp>
        <p:nvSpPr>
          <p:cNvPr id="21" name="Rectangle 20"/>
          <p:cNvSpPr/>
          <p:nvPr/>
        </p:nvSpPr>
        <p:spPr>
          <a:xfrm>
            <a:off x="7452360" y="456559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56559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series_vs_frame.py</a:t>
            </a:r>
          </a:p>
        </p:txBody>
      </p:sp>
      <p:sp>
        <p:nvSpPr>
          <p:cNvPr id="23" name="Rectangle 22"/>
          <p:cNvSpPr/>
          <p:nvPr/>
        </p:nvSpPr>
        <p:spPr>
          <a:xfrm>
            <a:off x="777240" y="5360211"/>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5696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696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396787"/>
            <a:ext cx="58064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multi-ticker DataFrame with a two-level column index (ticker, field) and select just the Close columns for all tickers.</a:t>
            </a:r>
          </a:p>
        </p:txBody>
      </p:sp>
      <p:sp>
        <p:nvSpPr>
          <p:cNvPr id="27" name="Rectangle 26"/>
          <p:cNvSpPr/>
          <p:nvPr/>
        </p:nvSpPr>
        <p:spPr>
          <a:xfrm>
            <a:off x="7452360" y="549645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549645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series_vs_frame.py</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Pandas Series vs DataFrame with Price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script prints the Series with its DatetimeIndex, confirms type(df['Close']) is Series and type(df[['Close']]) is DataFrame, and shows .loc and .iloc returning the expected rows with the inclusive/exclusive endpoint difference clearly labelled.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Finance Data from CSV</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36</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imports a historical prices CSV and confronts the three defects that make most real finance CSVs unusable on the first read: dates loaded as strings, numbers loaded as objects because of thousands separators or currency symbols, and an unnamed index column. The learner fixes each with read_csv parameters — parse_dates, index_col, thousands, dtype and na_values — rather than by post-processing, and confirms the fix with .dtypes.</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`lab-36-csv-import` containing prices.csv, load_csv.py with a correctly parameterised read_csv call, and a printed dtype report proving Close is float64 and the index is a DatetimeIndex.</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Finance Data from CSV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lab-36-csv-import &amp;&amp; cd lab-36-csv-import &amp;&amp; uv add pandas</a:t>
            </a:r>
          </a:p>
        </p:txBody>
      </p:sp>
      <p:sp>
        <p:nvSpPr>
          <p:cNvPr id="13" name="Rectangle 12"/>
          <p:cNvSpPr/>
          <p:nvPr/>
        </p:nvSpPr>
        <p:spPr>
          <a:xfrm>
            <a:off x="777240" y="2203704"/>
            <a:ext cx="10634472" cy="9936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4902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4902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9204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prices.csv with columns Date, Ticker, Open, Close, Volume — deliberately writing volumes with thousands commas like '1,204,300', a few cells as 'N/A', and dates in DD/MM/YYYY form.</a:t>
            </a:r>
          </a:p>
        </p:txBody>
      </p:sp>
      <p:sp>
        <p:nvSpPr>
          <p:cNvPr id="17" name="Rectangle 16"/>
          <p:cNvSpPr/>
          <p:nvPr/>
        </p:nvSpPr>
        <p:spPr>
          <a:xfrm>
            <a:off x="7452360" y="24170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4170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prices.csv</a:t>
            </a:r>
          </a:p>
        </p:txBody>
      </p:sp>
      <p:sp>
        <p:nvSpPr>
          <p:cNvPr id="19" name="Rectangle 18"/>
          <p:cNvSpPr/>
          <p:nvPr/>
        </p:nvSpPr>
        <p:spPr>
          <a:xfrm>
            <a:off x="777240" y="328879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0804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0804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25368"/>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Load it with a naive pd.read_csv('prices.csv') and print df.dtypes and df.head().</a:t>
            </a:r>
          </a:p>
        </p:txBody>
      </p:sp>
      <p:sp>
        <p:nvSpPr>
          <p:cNvPr id="23" name="Rectangle 22"/>
          <p:cNvSpPr/>
          <p:nvPr/>
        </p:nvSpPr>
        <p:spPr>
          <a:xfrm>
            <a:off x="7452360" y="3343656"/>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343656"/>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load_csv.py</a:t>
            </a:r>
          </a:p>
        </p:txBody>
      </p:sp>
      <p:sp>
        <p:nvSpPr>
          <p:cNvPr id="25" name="Rectangle 24"/>
          <p:cNvSpPr/>
          <p:nvPr/>
        </p:nvSpPr>
        <p:spPr>
          <a:xfrm>
            <a:off x="777240" y="403936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1586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586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75938"/>
            <a:ext cx="96926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Date came in as object, Volume came in as object because of the commas, and 'N/A' was not recognised as missing. Every downstream calculation on these columns would either fail or be silently wrong.</a:t>
            </a:r>
          </a:p>
        </p:txBody>
      </p:sp>
      <p:sp>
        <p:nvSpPr>
          <p:cNvPr id="29" name="Rectangle 28"/>
          <p:cNvSpPr/>
          <p:nvPr/>
        </p:nvSpPr>
        <p:spPr>
          <a:xfrm>
            <a:off x="777240" y="478993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90918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0918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826508"/>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Re-import with parse_dates=['Date'], dayfirst=True, index_col='Date', thousands=',' and na_values=['N/A', '', '-'], then reprint df.dtypes.</a:t>
            </a:r>
          </a:p>
        </p:txBody>
      </p:sp>
      <p:sp>
        <p:nvSpPr>
          <p:cNvPr id="33" name="Rectangle 32"/>
          <p:cNvSpPr/>
          <p:nvPr/>
        </p:nvSpPr>
        <p:spPr>
          <a:xfrm>
            <a:off x="7452360" y="4844796"/>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844796"/>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load_csv.py</a:t>
            </a:r>
          </a:p>
        </p:txBody>
      </p:sp>
      <p:sp>
        <p:nvSpPr>
          <p:cNvPr id="35" name="Rectangle 34"/>
          <p:cNvSpPr/>
          <p:nvPr/>
        </p:nvSpPr>
        <p:spPr>
          <a:xfrm>
            <a:off x="777240" y="5540502"/>
            <a:ext cx="10634472" cy="6591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6597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6597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577078"/>
            <a:ext cx="5806440" cy="58597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index with df.index.dtype and confirm df.index.is_monotonic_increasing; sort the index if it is not.</a:t>
            </a:r>
          </a:p>
        </p:txBody>
      </p:sp>
      <p:sp>
        <p:nvSpPr>
          <p:cNvPr id="39" name="Rectangle 38"/>
          <p:cNvSpPr/>
          <p:nvPr/>
        </p:nvSpPr>
        <p:spPr>
          <a:xfrm>
            <a:off x="7452360" y="5595366"/>
            <a:ext cx="3886200" cy="54940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595366"/>
            <a:ext cx="3648456" cy="54940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load_csv.py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Finance Data from CSV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5739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485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485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150075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"Here are the first five rows of my stock price CSV &lt;paste rows&gt;. Write the single pd.read_csv call that parses the DD/MM/YYYY dates into a DatetimeIndex, strips thousands separators from Volume, treats 'N/A' and '-' as missing, and forces Close to float64. Explain each parameter you used."</a:t>
            </a:r>
          </a:p>
        </p:txBody>
      </p:sp>
      <p:sp>
        <p:nvSpPr>
          <p:cNvPr id="11" name="Rectangle 10"/>
          <p:cNvSpPr/>
          <p:nvPr/>
        </p:nvSpPr>
        <p:spPr>
          <a:xfrm>
            <a:off x="777240" y="3393567"/>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70789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0789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430143"/>
            <a:ext cx="96926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Compare the AI's read_csv call with your own. Check specifically that it set dayfirst correctly — a wrong dayfirst silently swaps day and month for the first twelve days of each month and is nearly invisible.</a:t>
            </a:r>
          </a:p>
        </p:txBody>
      </p:sp>
      <p:sp>
        <p:nvSpPr>
          <p:cNvPr id="15" name="Rectangle 14"/>
          <p:cNvSpPr/>
          <p:nvPr/>
        </p:nvSpPr>
        <p:spPr>
          <a:xfrm>
            <a:off x="777240" y="4534281"/>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8486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486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570857"/>
            <a:ext cx="58064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the parse is right by printing the rows for a date after the 12th of a month and checking it against the raw CSV text.</a:t>
            </a:r>
          </a:p>
        </p:txBody>
      </p:sp>
      <p:sp>
        <p:nvSpPr>
          <p:cNvPr id="19" name="Rectangle 18"/>
          <p:cNvSpPr/>
          <p:nvPr/>
        </p:nvSpPr>
        <p:spPr>
          <a:xfrm>
            <a:off x="7452360" y="477545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477545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load_csv.py</a:t>
            </a:r>
          </a:p>
        </p:txBody>
      </p:sp>
      <p:sp>
        <p:nvSpPr>
          <p:cNvPr id="21" name="Rectangle 20"/>
          <p:cNvSpPr/>
          <p:nvPr/>
        </p:nvSpPr>
        <p:spPr>
          <a:xfrm>
            <a:off x="777240" y="5674995"/>
            <a:ext cx="10634472" cy="52463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72700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72700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711571"/>
            <a:ext cx="5806440" cy="45148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cleaned frame back out and confirm the round trip is stable.</a:t>
            </a:r>
          </a:p>
        </p:txBody>
      </p:sp>
      <p:sp>
        <p:nvSpPr>
          <p:cNvPr id="25" name="Rectangle 24"/>
          <p:cNvSpPr/>
          <p:nvPr/>
        </p:nvSpPr>
        <p:spPr>
          <a:xfrm>
            <a:off x="7452360" y="5729859"/>
            <a:ext cx="3886200" cy="41490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729859"/>
            <a:ext cx="3648456" cy="41490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load_csv.py &amp;&amp; head -3 prices_clean.csv</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Finance Data from CSV</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df.dtypes shows Close and Open as float64, Volume as int64 or float64, and df.index is a DatetimeIndex sorted ascending. The 'N/A' cells appear as NaN, and a spot-checked date after the 12th matches the raw CSV.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Live Market Data with yfinance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37</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downloads three years of daily data for a small multi-market portfolio with yfinance and immediately meets its awkward output shape: a MultiIndex column frame when several tickers are requested, and a flat frame when only one is. The learner writes a loader that normalises both cases into a tidy long-format DataFrame with Date, Ticker and Close, caches it to CSV so the rest of the course is not dependent on the network, and wraps the download in the try/except pattern learned in Topic 5.</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`lab-37-yfinance-import` with load_market.py producing a tidy long-format DataFrame and a cached market_data.csv covering three years and at least four tickers.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Live Market Data with yfinance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data dependencies.</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lab-37-yfinance-import &amp;&amp; cd lab-37-yfinance-import &amp;&amp; uv add yfinance pandas</a:t>
            </a:r>
          </a:p>
        </p:txBody>
      </p:sp>
      <p:sp>
        <p:nvSpPr>
          <p:cNvPr id="13" name="Rectangle 12"/>
          <p:cNvSpPr/>
          <p:nvPr/>
        </p:nvSpPr>
        <p:spPr>
          <a:xfrm>
            <a:off x="777240" y="2203704"/>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564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564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Download three years of daily data for a single ticker and inspect the shape of what comes back.</a:t>
            </a:r>
          </a:p>
        </p:txBody>
      </p:sp>
      <p:sp>
        <p:nvSpPr>
          <p:cNvPr id="17" name="Rectangle 16"/>
          <p:cNvSpPr/>
          <p:nvPr/>
        </p:nvSpPr>
        <p:spPr>
          <a:xfrm>
            <a:off x="7452360" y="228325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8325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yfinance as yf; d=yf.download('AAPL', period='3y'); print(d.columns); print(d.head())"</a:t>
            </a:r>
          </a:p>
        </p:txBody>
      </p:sp>
      <p:sp>
        <p:nvSpPr>
          <p:cNvPr id="19" name="Rectangle 18"/>
          <p:cNvSpPr/>
          <p:nvPr/>
        </p:nvSpPr>
        <p:spPr>
          <a:xfrm>
            <a:off x="777240" y="3021177"/>
            <a:ext cx="10634472" cy="7260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17388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17388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057753"/>
            <a:ext cx="5806440" cy="65288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Now download four tickers at once — AAPL, MSFT, D05.SI, O39.SI — and print the columns again to see the MultiIndex.</a:t>
            </a:r>
          </a:p>
        </p:txBody>
      </p:sp>
      <p:sp>
        <p:nvSpPr>
          <p:cNvPr id="23" name="Rectangle 22"/>
          <p:cNvSpPr/>
          <p:nvPr/>
        </p:nvSpPr>
        <p:spPr>
          <a:xfrm>
            <a:off x="7452360" y="310072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10072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load_market.py</a:t>
            </a:r>
          </a:p>
        </p:txBody>
      </p:sp>
      <p:sp>
        <p:nvSpPr>
          <p:cNvPr id="25" name="Rectangle 24"/>
          <p:cNvSpPr/>
          <p:nvPr/>
        </p:nvSpPr>
        <p:spPr>
          <a:xfrm>
            <a:off x="777240" y="3838650"/>
            <a:ext cx="10634472" cy="7260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875226"/>
            <a:ext cx="9692640" cy="6528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with one ticker the columns are flat; with several they are a (field, ticker) MultiIndex. Code written against one shape breaks against the other — a very common production bug.</a:t>
            </a:r>
          </a:p>
        </p:txBody>
      </p:sp>
      <p:sp>
        <p:nvSpPr>
          <p:cNvPr id="29" name="Rectangle 28"/>
          <p:cNvSpPr/>
          <p:nvPr/>
        </p:nvSpPr>
        <p:spPr>
          <a:xfrm>
            <a:off x="777240" y="4656124"/>
            <a:ext cx="10634472" cy="7260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80882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0882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692700"/>
            <a:ext cx="9692640" cy="6528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load_market.py write fetch(tickers, period) that always returns a tidy long frame with columns Date, Ticker, Open, High, Low, Close, Volume, using .stack() to flatten the MultiIndex case and adding a Ticker column in the single case.</a:t>
            </a:r>
          </a:p>
        </p:txBody>
      </p:sp>
      <p:sp>
        <p:nvSpPr>
          <p:cNvPr id="33" name="Rectangle 32"/>
          <p:cNvSpPr/>
          <p:nvPr/>
        </p:nvSpPr>
        <p:spPr>
          <a:xfrm>
            <a:off x="777240" y="5473598"/>
            <a:ext cx="10634472" cy="7260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62630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2630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510174"/>
            <a:ext cx="5806440" cy="6528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Wrap the download in try/except (Topic 5 pattern) so a failed or empty ticker is reported and skipped rather than aborting the whole fetch.</a:t>
            </a:r>
          </a:p>
        </p:txBody>
      </p:sp>
      <p:sp>
        <p:nvSpPr>
          <p:cNvPr id="37" name="Rectangle 36"/>
          <p:cNvSpPr/>
          <p:nvPr/>
        </p:nvSpPr>
        <p:spPr>
          <a:xfrm>
            <a:off x="7452360" y="555315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55315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load_market.py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Live Market Data with yfinance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8211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92846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2846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7479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Cache the tidy frame to market_data.csv and add a guard so the script reads the cache when it exists and only hits the network otherwise.</a:t>
            </a:r>
          </a:p>
        </p:txBody>
      </p:sp>
      <p:sp>
        <p:nvSpPr>
          <p:cNvPr id="11" name="Rectangle 10"/>
          <p:cNvSpPr/>
          <p:nvPr/>
        </p:nvSpPr>
        <p:spPr>
          <a:xfrm>
            <a:off x="7452360" y="185531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85531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load_market.py &amp;&amp; wc -l market_data.csv</a:t>
            </a:r>
          </a:p>
        </p:txBody>
      </p:sp>
      <p:sp>
        <p:nvSpPr>
          <p:cNvPr id="13" name="Rectangle 12"/>
          <p:cNvSpPr/>
          <p:nvPr/>
        </p:nvSpPr>
        <p:spPr>
          <a:xfrm>
            <a:off x="777240" y="2640787"/>
            <a:ext cx="10634472" cy="12316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04632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4632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7363"/>
            <a:ext cx="9692640" cy="115854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"yf.download returns a MultiIndex column DataFrame for multiple tickers and a flat one for a single ticker. Write a function that normalises both into a long-format DataFrame with columns Date, Ticker, Open, High, Low, Close, Volume. Handle auto_adjust and explain what Adj Close means for a dividend-paying stock."</a:t>
            </a:r>
          </a:p>
        </p:txBody>
      </p:sp>
      <p:sp>
        <p:nvSpPr>
          <p:cNvPr id="17" name="Rectangle 16"/>
          <p:cNvSpPr/>
          <p:nvPr/>
        </p:nvSpPr>
        <p:spPr>
          <a:xfrm>
            <a:off x="777240" y="3963923"/>
            <a:ext cx="10634472" cy="8211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16417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16417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000499"/>
            <a:ext cx="5806440" cy="7479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AI's normaliser with a one-ticker call AND a four-ticker call and confirm both produce identical column layouts.</a:t>
            </a:r>
          </a:p>
        </p:txBody>
      </p:sp>
      <p:sp>
        <p:nvSpPr>
          <p:cNvPr id="21" name="Rectangle 20"/>
          <p:cNvSpPr/>
          <p:nvPr/>
        </p:nvSpPr>
        <p:spPr>
          <a:xfrm>
            <a:off x="7452360" y="409102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09102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load_market.py</a:t>
            </a:r>
          </a:p>
        </p:txBody>
      </p:sp>
      <p:sp>
        <p:nvSpPr>
          <p:cNvPr id="23" name="Rectangle 22"/>
          <p:cNvSpPr/>
          <p:nvPr/>
        </p:nvSpPr>
        <p:spPr>
          <a:xfrm>
            <a:off x="777240" y="4876494"/>
            <a:ext cx="10634472" cy="4105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22214"/>
            <a:ext cx="319125" cy="319125"/>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22214"/>
            <a:ext cx="319125" cy="319125"/>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13070"/>
            <a:ext cx="9692640" cy="33741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AI's explanation of adjusted close: why backtesting on unadjusted close overstates losses around ex-dividend dates.</a:t>
            </a:r>
          </a:p>
        </p:txBody>
      </p:sp>
      <p:sp>
        <p:nvSpPr>
          <p:cNvPr id="27" name="Rectangle 26"/>
          <p:cNvSpPr/>
          <p:nvPr/>
        </p:nvSpPr>
        <p:spPr>
          <a:xfrm>
            <a:off x="777240" y="5378499"/>
            <a:ext cx="10634472" cy="8211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5787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5787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415075"/>
            <a:ext cx="5806440" cy="7479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a summary — the date range, the row count per ticker, and the number of trading days captured.</a:t>
            </a:r>
          </a:p>
        </p:txBody>
      </p:sp>
      <p:sp>
        <p:nvSpPr>
          <p:cNvPr id="31" name="Rectangle 30"/>
          <p:cNvSpPr/>
          <p:nvPr/>
        </p:nvSpPr>
        <p:spPr>
          <a:xfrm>
            <a:off x="7452360" y="550560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50560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load_market.py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Import Live Market Data with yfinance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market_data.csv exists, covers roughly three years, contains all four tickers in long format with one row per ticker per trading day, and the loader returns the same column layout whether called with one ticker or four.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Inspect a Dataset with head, info and describe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38</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Before any calculation, an analyst profiles the data. The learner runs the standard inspection sequence over the cached market data and reads each output as a finance question: does info() show fewer non-null Closes than rows, meaning gaps? Does describe() show a minimum price of zero or a negative volume, meaning corrupt records? Does value_counts() over Ticker show one instrument with far fewer rows, meaning a late listing or a suspension? The learner writes a reusable profiling function that answers all of them.</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`lab-38-inspect-data` with profile.py printing a full data-quality report and a written list of every anomaly found in the dataset.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Inspect a Dataset with head, info and describe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add pandas, and copy in market_data.csv from lab 37.</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lab-38-inspect-data &amp;&amp; cd lab-38-inspect-data &amp;&amp; uv add pandas &amp;&amp; cp ../lab-37-yfinance-import/market_data.csv .</a:t>
            </a:r>
          </a:p>
        </p:txBody>
      </p:sp>
      <p:sp>
        <p:nvSpPr>
          <p:cNvPr id="13" name="Rectangle 12"/>
          <p:cNvSpPr/>
          <p:nvPr/>
        </p:nvSpPr>
        <p:spPr>
          <a:xfrm>
            <a:off x="777240" y="2203704"/>
            <a:ext cx="10634472" cy="72029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5354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5354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64714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Load the CSV with proper date parsing and print df.head(10) and df.tail(10) to see the start and end of the series.</a:t>
            </a:r>
          </a:p>
        </p:txBody>
      </p:sp>
      <p:sp>
        <p:nvSpPr>
          <p:cNvPr id="17" name="Rectangle 16"/>
          <p:cNvSpPr/>
          <p:nvPr/>
        </p:nvSpPr>
        <p:spPr>
          <a:xfrm>
            <a:off x="7452360" y="228038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8038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profile.py</a:t>
            </a:r>
          </a:p>
        </p:txBody>
      </p:sp>
      <p:sp>
        <p:nvSpPr>
          <p:cNvPr id="19" name="Rectangle 18"/>
          <p:cNvSpPr/>
          <p:nvPr/>
        </p:nvSpPr>
        <p:spPr>
          <a:xfrm>
            <a:off x="777240" y="3015441"/>
            <a:ext cx="10634472" cy="7202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16527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16527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052017"/>
            <a:ext cx="5806440" cy="64714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df.info() and read it as a finance question: compare the non-null count of Close against the total row count to find missing prices.</a:t>
            </a:r>
          </a:p>
        </p:txBody>
      </p:sp>
      <p:sp>
        <p:nvSpPr>
          <p:cNvPr id="23" name="Rectangle 22"/>
          <p:cNvSpPr/>
          <p:nvPr/>
        </p:nvSpPr>
        <p:spPr>
          <a:xfrm>
            <a:off x="7452360" y="309212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09212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profile.py</a:t>
            </a:r>
          </a:p>
        </p:txBody>
      </p:sp>
      <p:sp>
        <p:nvSpPr>
          <p:cNvPr id="25" name="Rectangle 24"/>
          <p:cNvSpPr/>
          <p:nvPr/>
        </p:nvSpPr>
        <p:spPr>
          <a:xfrm>
            <a:off x="777240" y="3827179"/>
            <a:ext cx="10634472" cy="10852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15948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5948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863755"/>
            <a:ext cx="5806440" cy="101207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df.describe() and inspect the min, max and quartiles of Close and Volume for impossible values — a zero price, a negative volume, or a max thousands of times the median.</a:t>
            </a:r>
          </a:p>
        </p:txBody>
      </p:sp>
      <p:sp>
        <p:nvSpPr>
          <p:cNvPr id="29" name="Rectangle 28"/>
          <p:cNvSpPr/>
          <p:nvPr/>
        </p:nvSpPr>
        <p:spPr>
          <a:xfrm>
            <a:off x="7452360" y="408632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08632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profile.py</a:t>
            </a:r>
          </a:p>
        </p:txBody>
      </p:sp>
      <p:sp>
        <p:nvSpPr>
          <p:cNvPr id="31" name="Rectangle 30"/>
          <p:cNvSpPr/>
          <p:nvPr/>
        </p:nvSpPr>
        <p:spPr>
          <a:xfrm>
            <a:off x="777240" y="5003846"/>
            <a:ext cx="10634472" cy="7202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15368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15368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5040422"/>
            <a:ext cx="5806440" cy="64714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df['Ticker'].value_counts() and check every ticker has a similar row count; investigate any that does not.</a:t>
            </a:r>
          </a:p>
        </p:txBody>
      </p:sp>
      <p:sp>
        <p:nvSpPr>
          <p:cNvPr id="35" name="Rectangle 34"/>
          <p:cNvSpPr/>
          <p:nvPr/>
        </p:nvSpPr>
        <p:spPr>
          <a:xfrm>
            <a:off x="7452360" y="508053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08053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profile.py</a:t>
            </a:r>
          </a:p>
        </p:txBody>
      </p:sp>
      <p:sp>
        <p:nvSpPr>
          <p:cNvPr id="37" name="Rectangle 36"/>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three anomalies you found and what each would do to a portfolio return calculation if left uncorrected.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Inspect a Dataset with head, info and describe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1446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0902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902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107151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profile_dataset(df) that packages the whole sequence — shape, dtypes, null counts per column, describe, per-ticker row counts and date coverage — into one printed report.</a:t>
            </a:r>
          </a:p>
        </p:txBody>
      </p:sp>
      <p:sp>
        <p:nvSpPr>
          <p:cNvPr id="11" name="Rectangle 10"/>
          <p:cNvSpPr/>
          <p:nvPr/>
        </p:nvSpPr>
        <p:spPr>
          <a:xfrm>
            <a:off x="7452360" y="201708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01708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profile.py</a:t>
            </a:r>
          </a:p>
        </p:txBody>
      </p:sp>
      <p:sp>
        <p:nvSpPr>
          <p:cNvPr id="13" name="Rectangle 12"/>
          <p:cNvSpPr/>
          <p:nvPr/>
        </p:nvSpPr>
        <p:spPr>
          <a:xfrm>
            <a:off x="777240" y="2964318"/>
            <a:ext cx="10634472" cy="1526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51711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1711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00894"/>
            <a:ext cx="9692640" cy="14530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"Write a pandas data-quality report function for a long-format stock price DataFrame with columns Date, Ticker, Close, Volume. It must report: missing values per column, duplicate (Date, Ticker) rows, non-positive prices, gaps of more than 5 calendar days in each ticker's date coverage, and any date that is not a business day. Print it as a readable table."</a:t>
            </a:r>
          </a:p>
        </p:txBody>
      </p:sp>
      <p:sp>
        <p:nvSpPr>
          <p:cNvPr id="17" name="Rectangle 16"/>
          <p:cNvSpPr/>
          <p:nvPr/>
        </p:nvSpPr>
        <p:spPr>
          <a:xfrm>
            <a:off x="777240" y="4581974"/>
            <a:ext cx="10634472" cy="7631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75321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5321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618550"/>
            <a:ext cx="5806440" cy="68995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AI's report on your data and verify each finding by hand against the raw CSV before trusting it.</a:t>
            </a:r>
          </a:p>
        </p:txBody>
      </p:sp>
      <p:sp>
        <p:nvSpPr>
          <p:cNvPr id="21" name="Rectangle 20"/>
          <p:cNvSpPr/>
          <p:nvPr/>
        </p:nvSpPr>
        <p:spPr>
          <a:xfrm>
            <a:off x="7452360" y="468006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68006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profile.py</a:t>
            </a:r>
          </a:p>
        </p:txBody>
      </p:sp>
      <p:sp>
        <p:nvSpPr>
          <p:cNvPr id="23" name="Rectangle 22"/>
          <p:cNvSpPr/>
          <p:nvPr/>
        </p:nvSpPr>
        <p:spPr>
          <a:xfrm>
            <a:off x="777240" y="5436522"/>
            <a:ext cx="10634472" cy="7631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6077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0776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473098"/>
            <a:ext cx="9692640" cy="68995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Record the confirmed anomalies as a comment block at the top of profile.py — this is the data-quality note that must accompany any published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Inspect a Dataset with head, info and describe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profile.py prints shape, dtypes, per-column null counts, describe output, per-ticker row counts and date coverage, plus a list of duplicate or non-positive-price rows. The learner can name at least two concrete data-quality issues found in their own dataset.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Filter and Slice by Date, Sector and Ticker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39</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attaches a sector mapping to the price data and then answers a series of real screening questions with boolean masks: all bank stocks in Q1, every day AAPL closed above its own 200-day average, the intersection of a date window and a ticker list. The lab covers the operator-precedence trap unique to pandas — `&amp;` and `|` with parentheses, never `and`/`or` — plus .isin(), .between(), .query() and .loc date slicing on a DatetimeIndex.</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`lab-39-filter-slice` with screen.py answering five stated screening questions, each as a documented boolean mask.</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Filter and Slice by Date, Sector and Ticker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add pandas and copy in the market data.</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lab-39-filter-slice &amp;&amp; cd lab-39-filter-slice &amp;&amp; uv add pandas &amp;&amp; cp ../lab-37-yfinance-import/market_data.csv .</a:t>
            </a:r>
          </a:p>
        </p:txBody>
      </p:sp>
      <p:sp>
        <p:nvSpPr>
          <p:cNvPr id="13" name="Rectangle 12"/>
          <p:cNvSpPr/>
          <p:nvPr/>
        </p:nvSpPr>
        <p:spPr>
          <a:xfrm>
            <a:off x="777240" y="2203704"/>
            <a:ext cx="10634472" cy="9113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44904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44904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8381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SECTORS dict mapping each ticker to a sector — AAPL and MSFT to Technology, D05.SI and O39.SI to Financials — and map it into a new Sector column.</a:t>
            </a:r>
          </a:p>
        </p:txBody>
      </p:sp>
      <p:sp>
        <p:nvSpPr>
          <p:cNvPr id="17" name="Rectangle 16"/>
          <p:cNvSpPr/>
          <p:nvPr/>
        </p:nvSpPr>
        <p:spPr>
          <a:xfrm>
            <a:off x="7452360" y="237589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7589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screen.py</a:t>
            </a:r>
          </a:p>
        </p:txBody>
      </p:sp>
      <p:sp>
        <p:nvSpPr>
          <p:cNvPr id="19" name="Rectangle 18"/>
          <p:cNvSpPr/>
          <p:nvPr/>
        </p:nvSpPr>
        <p:spPr>
          <a:xfrm>
            <a:off x="777240" y="3206449"/>
            <a:ext cx="10634472" cy="602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973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973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243025"/>
            <a:ext cx="5806440" cy="5293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Question 1: slice the last full calendar year using .loc with a date range on the DatetimeIndex, and print the row count.</a:t>
            </a:r>
          </a:p>
        </p:txBody>
      </p:sp>
      <p:sp>
        <p:nvSpPr>
          <p:cNvPr id="23" name="Rectangle 22"/>
          <p:cNvSpPr/>
          <p:nvPr/>
        </p:nvSpPr>
        <p:spPr>
          <a:xfrm>
            <a:off x="7452360" y="3261313"/>
            <a:ext cx="3886200" cy="4927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61313"/>
            <a:ext cx="3648456" cy="4927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a:t>
            </a:r>
          </a:p>
        </p:txBody>
      </p:sp>
      <p:sp>
        <p:nvSpPr>
          <p:cNvPr id="25" name="Rectangle 24"/>
          <p:cNvSpPr/>
          <p:nvPr/>
        </p:nvSpPr>
        <p:spPr>
          <a:xfrm>
            <a:off x="777240" y="3900408"/>
            <a:ext cx="10634472" cy="602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9913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9913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936984"/>
            <a:ext cx="5806440" cy="5293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Question 2: select only the Financials rows with a boolean mask df['Sector'] == 'Financials', and print the tickers it contains to verify.</a:t>
            </a:r>
          </a:p>
        </p:txBody>
      </p:sp>
      <p:sp>
        <p:nvSpPr>
          <p:cNvPr id="29" name="Rectangle 28"/>
          <p:cNvSpPr/>
          <p:nvPr/>
        </p:nvSpPr>
        <p:spPr>
          <a:xfrm>
            <a:off x="7452360" y="3955272"/>
            <a:ext cx="3886200" cy="4927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955272"/>
            <a:ext cx="3648456" cy="4927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a:t>
            </a:r>
          </a:p>
        </p:txBody>
      </p:sp>
      <p:sp>
        <p:nvSpPr>
          <p:cNvPr id="31" name="Rectangle 30"/>
          <p:cNvSpPr/>
          <p:nvPr/>
        </p:nvSpPr>
        <p:spPr>
          <a:xfrm>
            <a:off x="777240" y="4594367"/>
            <a:ext cx="10634472" cy="9113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8397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8397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630943"/>
            <a:ext cx="5806440" cy="83815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Question 3: combine two conditions — Financials AND Close above 30 — using &amp; with parentheses around each condition. Then deliberately try it with `and` and read the resulting ValueError.</a:t>
            </a:r>
          </a:p>
        </p:txBody>
      </p:sp>
      <p:sp>
        <p:nvSpPr>
          <p:cNvPr id="35" name="Rectangle 34"/>
          <p:cNvSpPr/>
          <p:nvPr/>
        </p:nvSpPr>
        <p:spPr>
          <a:xfrm>
            <a:off x="7452360" y="4766555"/>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766555"/>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a:t>
            </a:r>
          </a:p>
        </p:txBody>
      </p:sp>
      <p:sp>
        <p:nvSpPr>
          <p:cNvPr id="37" name="Rectangle 36"/>
          <p:cNvSpPr/>
          <p:nvPr/>
        </p:nvSpPr>
        <p:spPr>
          <a:xfrm>
            <a:off x="777240" y="5597112"/>
            <a:ext cx="10634472" cy="602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6880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6880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633688"/>
            <a:ext cx="9692640" cy="5293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pandas cannot evaluate the truth of a whole Series, which is why `and` fails and `&amp;` is required. Forgetting the parentheses gives a wrong answer silently because of operator precedence.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Filter and Slice by Date, Sector and Ticker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7437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88979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8979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6706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Question 4: use .isin(['AAPL', 'D05.SI']) to select a ticker subset, and .between() on Close to select a price band, and combine both.</a:t>
            </a:r>
          </a:p>
        </p:txBody>
      </p:sp>
      <p:sp>
        <p:nvSpPr>
          <p:cNvPr id="11" name="Rectangle 10"/>
          <p:cNvSpPr/>
          <p:nvPr/>
        </p:nvSpPr>
        <p:spPr>
          <a:xfrm>
            <a:off x="7452360" y="181664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81664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a:t>
            </a:r>
          </a:p>
        </p:txBody>
      </p:sp>
      <p:sp>
        <p:nvSpPr>
          <p:cNvPr id="13" name="Rectangle 12"/>
          <p:cNvSpPr/>
          <p:nvPr/>
        </p:nvSpPr>
        <p:spPr>
          <a:xfrm>
            <a:off x="777240" y="2563437"/>
            <a:ext cx="10634472" cy="7437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50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501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00013"/>
            <a:ext cx="5806440" cy="6706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Question 5: rewrite the most complex mask using .query() and compare readability with the bracket form; time both on the full dataset.</a:t>
            </a:r>
          </a:p>
        </p:txBody>
      </p:sp>
      <p:sp>
        <p:nvSpPr>
          <p:cNvPr id="17" name="Rectangle 16"/>
          <p:cNvSpPr/>
          <p:nvPr/>
        </p:nvSpPr>
        <p:spPr>
          <a:xfrm>
            <a:off x="7452360" y="265186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65186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a:t>
            </a:r>
          </a:p>
        </p:txBody>
      </p:sp>
      <p:sp>
        <p:nvSpPr>
          <p:cNvPr id="19" name="Rectangle 18"/>
          <p:cNvSpPr/>
          <p:nvPr/>
        </p:nvSpPr>
        <p:spPr>
          <a:xfrm>
            <a:off x="777240" y="3398658"/>
            <a:ext cx="10634472" cy="11170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468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468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35234"/>
            <a:ext cx="9692640" cy="104387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"Using a pandas DataFrame with columns Date (DatetimeIndex), Ticker, Sector, Close and Volume, write filters for: all Financials rows in 2024 where Close rose more than 2 percent from the prior day, and the 10 highest-volume days for any Technology stock. Use boolean masks with correct parentheses and explain why `and` would fail."</a:t>
            </a:r>
          </a:p>
        </p:txBody>
      </p:sp>
      <p:sp>
        <p:nvSpPr>
          <p:cNvPr id="23" name="Rectangle 22"/>
          <p:cNvSpPr/>
          <p:nvPr/>
        </p:nvSpPr>
        <p:spPr>
          <a:xfrm>
            <a:off x="777240" y="4607121"/>
            <a:ext cx="10634472" cy="11170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553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553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643697"/>
            <a:ext cx="5806440" cy="104387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AI's filters and verify the row counts by cross-checking a couple of rows manually — an incorrect mask usually returns a plausible but wrong number of rows.</a:t>
            </a:r>
          </a:p>
        </p:txBody>
      </p:sp>
      <p:sp>
        <p:nvSpPr>
          <p:cNvPr id="27" name="Rectangle 26"/>
          <p:cNvSpPr/>
          <p:nvPr/>
        </p:nvSpPr>
        <p:spPr>
          <a:xfrm>
            <a:off x="7452360" y="488216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88216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a:t>
            </a:r>
          </a:p>
        </p:txBody>
      </p:sp>
      <p:sp>
        <p:nvSpPr>
          <p:cNvPr id="29" name="Rectangle 28"/>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each screened subset to its own CSV for use in the next lab.</a:t>
            </a:r>
          </a:p>
        </p:txBody>
      </p:sp>
      <p:sp>
        <p:nvSpPr>
          <p:cNvPr id="33" name="Rectangle 32"/>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screen.py &amp;&amp; ls *.csv</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Filter and Slice by Date, Sector and Ticker</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five screening questions print a result with its row count, the `and` version raises the expected ValueError with an explanatory printed note, and the .query() result is identical to the bracket-mask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Handle Missing Market Data and Compare the Choices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40</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central judgement lab of Topic 6. Market data has gaps: public holidays that differ between SGX and NASDAQ, trading suspensions, and vendor errors. The learner injects and detects gaps, then applies three treatments — dropna, fillna with the mean, and forward-fill — to the SAME series, computes total return and volatility under each, and puts the three answers side by side. The point is that the numbers genuinely differ, so the cleaning choice is an analytical decision that must be documented, not a formatting step.</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`lab-40-missing-data` with clean_compare.py printing a comparison table of total return, mean daily return and annualised volatility under each of the four treatments, plus a written recommendation.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numpy,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Handle Missing Market Data and Compare the Choices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dependencies.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lab-40-missing-data &amp;&amp; cd lab-40-missing-data &amp;&amp; uv add pandas numpy &amp;&amp; cp ../lab-37-yfinance-import/market_data.csv .</a:t>
            </a:r>
          </a:p>
        </p:txBody>
      </p:sp>
      <p:sp>
        <p:nvSpPr>
          <p:cNvPr id="13" name="Rectangle 12"/>
          <p:cNvSpPr/>
          <p:nvPr/>
        </p:nvSpPr>
        <p:spPr>
          <a:xfrm>
            <a:off x="777240" y="2679192"/>
            <a:ext cx="10634472" cy="8668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0230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0230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79369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Reindex a single ticker's Close series onto a full business-day calendar so every non-trading gap becomes an explicit NaN, then count them with .isna().sum().</a:t>
            </a:r>
          </a:p>
        </p:txBody>
      </p:sp>
      <p:sp>
        <p:nvSpPr>
          <p:cNvPr id="17" name="Rectangle 16"/>
          <p:cNvSpPr/>
          <p:nvPr/>
        </p:nvSpPr>
        <p:spPr>
          <a:xfrm>
            <a:off x="7452360" y="282915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82915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19" name="Rectangle 18"/>
          <p:cNvSpPr/>
          <p:nvPr/>
        </p:nvSpPr>
        <p:spPr>
          <a:xfrm>
            <a:off x="777240" y="3637483"/>
            <a:ext cx="10634472" cy="5719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131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131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674059"/>
            <a:ext cx="5806440" cy="4988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specific dates that are missing and identify which are public holidays versus genuine data gaps.</a:t>
            </a:r>
          </a:p>
        </p:txBody>
      </p:sp>
      <p:sp>
        <p:nvSpPr>
          <p:cNvPr id="23" name="Rectangle 22"/>
          <p:cNvSpPr/>
          <p:nvPr/>
        </p:nvSpPr>
        <p:spPr>
          <a:xfrm>
            <a:off x="7452360" y="3692347"/>
            <a:ext cx="3886200" cy="46222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692347"/>
            <a:ext cx="3648456" cy="46222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25" name="Rectangle 24"/>
          <p:cNvSpPr/>
          <p:nvPr/>
        </p:nvSpPr>
        <p:spPr>
          <a:xfrm>
            <a:off x="777240" y="4300880"/>
            <a:ext cx="10634472" cy="5719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37654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7654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337456"/>
            <a:ext cx="5806440" cy="4988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Treatment A — dropna(): drop the missing rows, then compute total return, mean daily return and annualised volatility.</a:t>
            </a:r>
          </a:p>
        </p:txBody>
      </p:sp>
      <p:sp>
        <p:nvSpPr>
          <p:cNvPr id="29" name="Rectangle 28"/>
          <p:cNvSpPr/>
          <p:nvPr/>
        </p:nvSpPr>
        <p:spPr>
          <a:xfrm>
            <a:off x="7452360" y="4355744"/>
            <a:ext cx="3886200" cy="46222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355744"/>
            <a:ext cx="3648456" cy="46222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31" name="Rectangle 30"/>
          <p:cNvSpPr/>
          <p:nvPr/>
        </p:nvSpPr>
        <p:spPr>
          <a:xfrm>
            <a:off x="777240" y="4964277"/>
            <a:ext cx="10634472" cy="5719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03994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03994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5000853"/>
            <a:ext cx="5806440" cy="4988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Treatment B — fillna(series.mean()): fill every gap with the series mean and recompute the same three metrics.</a:t>
            </a:r>
          </a:p>
        </p:txBody>
      </p:sp>
      <p:sp>
        <p:nvSpPr>
          <p:cNvPr id="35" name="Rectangle 34"/>
          <p:cNvSpPr/>
          <p:nvPr/>
        </p:nvSpPr>
        <p:spPr>
          <a:xfrm>
            <a:off x="7452360" y="5019141"/>
            <a:ext cx="3886200" cy="46222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019141"/>
            <a:ext cx="3648456" cy="46222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37" name="Rectangle 36"/>
          <p:cNvSpPr/>
          <p:nvPr/>
        </p:nvSpPr>
        <p:spPr>
          <a:xfrm>
            <a:off x="777240" y="5627674"/>
            <a:ext cx="10634472" cy="5719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70334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70334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5664250"/>
            <a:ext cx="5806440" cy="4988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Treatment C — ffill(): forward-fill the last traded price across the gap, which is the standard convention for a non-trading day, and recompute.</a:t>
            </a:r>
          </a:p>
        </p:txBody>
      </p:sp>
      <p:sp>
        <p:nvSpPr>
          <p:cNvPr id="41" name="Rectangle 40"/>
          <p:cNvSpPr/>
          <p:nvPr/>
        </p:nvSpPr>
        <p:spPr>
          <a:xfrm>
            <a:off x="7452360" y="5682538"/>
            <a:ext cx="3886200" cy="46223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71231" y="5682538"/>
            <a:ext cx="3648456" cy="46223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Handle Missing Market Data and Compare the Choices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Treatment D — interpolate(method='time'): linearly interpolate across the gap and recompute.</a:t>
            </a:r>
          </a:p>
        </p:txBody>
      </p:sp>
      <p:sp>
        <p:nvSpPr>
          <p:cNvPr id="11" name="Rectangle 10"/>
          <p:cNvSpPr/>
          <p:nvPr/>
        </p:nvSpPr>
        <p:spPr>
          <a:xfrm>
            <a:off x="7452360" y="2258568"/>
            <a:ext cx="3886200" cy="3065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0659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13" name="Rectangle 12"/>
          <p:cNvSpPr/>
          <p:nvPr/>
        </p:nvSpPr>
        <p:spPr>
          <a:xfrm>
            <a:off x="777240" y="2711464"/>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57184"/>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57184"/>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48040"/>
            <a:ext cx="58064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all four sets of metrics in one comparison table and identify the largest discrepancy between treatments.</a:t>
            </a:r>
          </a:p>
        </p:txBody>
      </p:sp>
      <p:sp>
        <p:nvSpPr>
          <p:cNvPr id="17" name="Rectangle 16"/>
          <p:cNvSpPr/>
          <p:nvPr/>
        </p:nvSpPr>
        <p:spPr>
          <a:xfrm>
            <a:off x="7452360" y="2766328"/>
            <a:ext cx="3886200" cy="3065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66328"/>
            <a:ext cx="3648456" cy="306592"/>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19" name="Rectangle 18"/>
          <p:cNvSpPr/>
          <p:nvPr/>
        </p:nvSpPr>
        <p:spPr>
          <a:xfrm>
            <a:off x="777240" y="3219224"/>
            <a:ext cx="10634472" cy="8326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252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252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255800"/>
            <a:ext cx="9692640" cy="7594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 the key judgement of this topic: filling with the series mean injects a huge artificial price jump and inflates volatility; dropna understates the number of periods; forward-fill correctly implies zero return on a non-trading day but suppresses volatility if used across a long suspension. Which treatment would you defend to an auditor, and for which kind of gap?</a:t>
            </a:r>
          </a:p>
        </p:txBody>
      </p:sp>
      <p:sp>
        <p:nvSpPr>
          <p:cNvPr id="23" name="Rectangle 22"/>
          <p:cNvSpPr/>
          <p:nvPr/>
        </p:nvSpPr>
        <p:spPr>
          <a:xfrm>
            <a:off x="777240" y="4143305"/>
            <a:ext cx="10634472" cy="8326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3493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493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179881"/>
            <a:ext cx="9692640" cy="7594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"I have a daily stock Close series with NaNs from public holidays and one three-week trading suspension. Compare dropna, fillna(mean), ffill and time interpolation for computing daily returns and annualised volatility. For each, state the assumption it makes about what happened during the gap and when it biases the volatility estimate up or down."</a:t>
            </a:r>
          </a:p>
        </p:txBody>
      </p:sp>
      <p:sp>
        <p:nvSpPr>
          <p:cNvPr id="27" name="Rectangle 26"/>
          <p:cNvSpPr/>
          <p:nvPr/>
        </p:nvSpPr>
        <p:spPr>
          <a:xfrm>
            <a:off x="777240" y="5067386"/>
            <a:ext cx="10634472" cy="6244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16931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16931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103962"/>
            <a:ext cx="5806440" cy="5513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the AI's reasoning against your own measured numbers from the comparison table — does its claimed direction of bias match what you actually observed?</a:t>
            </a:r>
          </a:p>
        </p:txBody>
      </p:sp>
      <p:sp>
        <p:nvSpPr>
          <p:cNvPr id="31" name="Rectangle 30"/>
          <p:cNvSpPr/>
          <p:nvPr/>
        </p:nvSpPr>
        <p:spPr>
          <a:xfrm>
            <a:off x="7452360" y="5122250"/>
            <a:ext cx="3886200" cy="5147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122250"/>
            <a:ext cx="3648456" cy="5147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clean_compare.py</a:t>
            </a:r>
          </a:p>
        </p:txBody>
      </p:sp>
      <p:sp>
        <p:nvSpPr>
          <p:cNvPr id="33" name="Rectangle 32"/>
          <p:cNvSpPr/>
          <p:nvPr/>
        </p:nvSpPr>
        <p:spPr>
          <a:xfrm>
            <a:off x="777240" y="5783307"/>
            <a:ext cx="10634472" cy="416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29027"/>
            <a:ext cx="324880" cy="324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29027"/>
            <a:ext cx="324880" cy="32488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19883"/>
            <a:ext cx="9692640" cy="34316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your recommendation as a comment block: which treatment for a holiday, which for a suspension, and which you would never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Handle Missing Market Data and Compare the Choices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comparison table prints four rows of metrics that visibly differ, the missing dates are listed by date, and the file ends with a written, justified recommendation naming a treatment per gap type.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Derived Columns — Daily Returns and Moving Averages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41</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turns a price table into an analytics table. Daily simple returns come from pct_change(); log returns from np.log on a shift() ratio; cumulative growth from cumprod. Rolling windows produce the 20-day and 50-day simple moving averages and a 20-day rolling volatility. The lab emphasises correct grouping — every derived column must be computed per ticker with groupby, or the first return of each ticker will be contaminated by the last price of the previous one, a mistake that is easy to make and hard to see.</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`lab-41-derived-columns` with features.py producing enriched_prices.csv containing daily_return, log_return, cum_return, sma_20, sma_50 and vol_20 per ticker.</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numpy,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Derived Columns — Daily Returns and Moving Averages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dependencies.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lab-41-derived-columns &amp;&amp; cd lab-41-derived-columns &amp;&amp; uv add pandas numpy &amp;&amp; cp ../lab-37-yfinance-import/market_data.csv .</a:t>
            </a:r>
          </a:p>
        </p:txBody>
      </p:sp>
      <p:sp>
        <p:nvSpPr>
          <p:cNvPr id="13" name="Rectangle 12"/>
          <p:cNvSpPr/>
          <p:nvPr/>
        </p:nvSpPr>
        <p:spPr>
          <a:xfrm>
            <a:off x="777240" y="2679192"/>
            <a:ext cx="10634472" cy="5719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5485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5485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4988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Load the long-format data, sort by Ticker then Date, and add daily_return using df.groupby('Ticker')['Close'].pct_change().</a:t>
            </a:r>
          </a:p>
        </p:txBody>
      </p:sp>
      <p:sp>
        <p:nvSpPr>
          <p:cNvPr id="17" name="Rectangle 16"/>
          <p:cNvSpPr/>
          <p:nvPr/>
        </p:nvSpPr>
        <p:spPr>
          <a:xfrm>
            <a:off x="7452360" y="2734056"/>
            <a:ext cx="3886200" cy="46222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46222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19" name="Rectangle 18"/>
          <p:cNvSpPr/>
          <p:nvPr/>
        </p:nvSpPr>
        <p:spPr>
          <a:xfrm>
            <a:off x="777240" y="3342589"/>
            <a:ext cx="10634472" cy="5719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182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182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79165"/>
            <a:ext cx="5806440" cy="4988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Deliberately compute the same column WITHOUT groupby and compare the first row of each ticker between the two versions.</a:t>
            </a:r>
          </a:p>
        </p:txBody>
      </p:sp>
      <p:sp>
        <p:nvSpPr>
          <p:cNvPr id="23" name="Rectangle 22"/>
          <p:cNvSpPr/>
          <p:nvPr/>
        </p:nvSpPr>
        <p:spPr>
          <a:xfrm>
            <a:off x="7452360" y="3397453"/>
            <a:ext cx="3886200" cy="46222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397453"/>
            <a:ext cx="3648456" cy="46222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25" name="Rectangle 24"/>
          <p:cNvSpPr/>
          <p:nvPr/>
        </p:nvSpPr>
        <p:spPr>
          <a:xfrm>
            <a:off x="777240" y="4005986"/>
            <a:ext cx="10634472" cy="57195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0816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0816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42562"/>
            <a:ext cx="9692640" cy="49880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without groupby the first row of MSFT was computed against the last price of AAPL, producing a nonsense return. Nothing raised an error — this is a silent correctness bug that survives all the way to a published number.</a:t>
            </a:r>
          </a:p>
        </p:txBody>
      </p:sp>
      <p:sp>
        <p:nvSpPr>
          <p:cNvPr id="29" name="Rectangle 28"/>
          <p:cNvSpPr/>
          <p:nvPr/>
        </p:nvSpPr>
        <p:spPr>
          <a:xfrm>
            <a:off x="777240" y="4669383"/>
            <a:ext cx="10634472" cy="8668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8924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924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705959"/>
            <a:ext cx="5806440" cy="79369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log_return using np.log(close / close.shift(1)) within the groupby, and explain when log returns are preferred (time-additivity for multi-period aggregation).</a:t>
            </a:r>
          </a:p>
        </p:txBody>
      </p:sp>
      <p:sp>
        <p:nvSpPr>
          <p:cNvPr id="33" name="Rectangle 32"/>
          <p:cNvSpPr/>
          <p:nvPr/>
        </p:nvSpPr>
        <p:spPr>
          <a:xfrm>
            <a:off x="7452360" y="4819344"/>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819344"/>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35" name="Rectangle 34"/>
          <p:cNvSpPr/>
          <p:nvPr/>
        </p:nvSpPr>
        <p:spPr>
          <a:xfrm>
            <a:off x="777240" y="5627674"/>
            <a:ext cx="10634472" cy="5719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70334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70334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664250"/>
            <a:ext cx="5806440" cy="4988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cum_return as (1 + daily_return).cumprod() - 1 per ticker, and print the three-year cumulative return for each instrument.</a:t>
            </a:r>
          </a:p>
        </p:txBody>
      </p:sp>
      <p:sp>
        <p:nvSpPr>
          <p:cNvPr id="39" name="Rectangle 38"/>
          <p:cNvSpPr/>
          <p:nvPr/>
        </p:nvSpPr>
        <p:spPr>
          <a:xfrm>
            <a:off x="7452360" y="5682538"/>
            <a:ext cx="3886200" cy="46223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71231" y="5682538"/>
            <a:ext cx="3648456" cy="46223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Derived Columns — Daily Returns and Moving Averages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726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726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sma_20 and sma_50 with groupby + rolling(window).mean(), and confirm the first 19 and 49 values respectively are NaN by design.</a:t>
            </a:r>
          </a:p>
        </p:txBody>
      </p:sp>
      <p:sp>
        <p:nvSpPr>
          <p:cNvPr id="11" name="Rectangle 10"/>
          <p:cNvSpPr/>
          <p:nvPr/>
        </p:nvSpPr>
        <p:spPr>
          <a:xfrm>
            <a:off x="7452360" y="2258568"/>
            <a:ext cx="3886200" cy="44875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44875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13" name="Rectangle 12"/>
          <p:cNvSpPr/>
          <p:nvPr/>
        </p:nvSpPr>
        <p:spPr>
          <a:xfrm>
            <a:off x="777240" y="2853631"/>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225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2256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90207"/>
            <a:ext cx="58064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vol_20 as the 20-day rolling standard deviation of daily_return, annualised by multiplying by the square root of 252.</a:t>
            </a:r>
          </a:p>
        </p:txBody>
      </p:sp>
      <p:sp>
        <p:nvSpPr>
          <p:cNvPr id="17" name="Rectangle 16"/>
          <p:cNvSpPr/>
          <p:nvPr/>
        </p:nvSpPr>
        <p:spPr>
          <a:xfrm>
            <a:off x="7452360" y="2908495"/>
            <a:ext cx="3886200" cy="44875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908495"/>
            <a:ext cx="3648456" cy="44875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19" name="Rectangle 18"/>
          <p:cNvSpPr/>
          <p:nvPr/>
        </p:nvSpPr>
        <p:spPr>
          <a:xfrm>
            <a:off x="777240" y="3503558"/>
            <a:ext cx="10634472" cy="11169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85173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5173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540134"/>
            <a:ext cx="9692640" cy="10438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"Given a long-format pandas DataFrame with columns Date, Ticker and Close, write vectorised code that adds daily simple returns, log returns, cumulative return, a 20-day and 50-day SMA, and 20-day annualised rolling volatility — all computed per ticker with groupby so no value leaks across tickers. Explain why min_periods matters on the rolling calls."</a:t>
            </a:r>
          </a:p>
        </p:txBody>
      </p:sp>
      <p:sp>
        <p:nvSpPr>
          <p:cNvPr id="23" name="Rectangle 22"/>
          <p:cNvSpPr/>
          <p:nvPr/>
        </p:nvSpPr>
        <p:spPr>
          <a:xfrm>
            <a:off x="777240" y="4711972"/>
            <a:ext cx="10634472" cy="8377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2052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2052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748548"/>
            <a:ext cx="5806440" cy="7645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AI's output on the boundary rows: check the first row of each ticker is NaN for daily_return, and that no SMA value appears before its window is full.</a:t>
            </a:r>
          </a:p>
        </p:txBody>
      </p:sp>
      <p:sp>
        <p:nvSpPr>
          <p:cNvPr id="27" name="Rectangle 26"/>
          <p:cNvSpPr/>
          <p:nvPr/>
        </p:nvSpPr>
        <p:spPr>
          <a:xfrm>
            <a:off x="7452360" y="484737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84737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a:t>
            </a:r>
          </a:p>
        </p:txBody>
      </p:sp>
      <p:sp>
        <p:nvSpPr>
          <p:cNvPr id="29" name="Rectangle 28"/>
          <p:cNvSpPr/>
          <p:nvPr/>
        </p:nvSpPr>
        <p:spPr>
          <a:xfrm>
            <a:off x="777240" y="5641143"/>
            <a:ext cx="10634472" cy="55848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71007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1007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677719"/>
            <a:ext cx="5806440" cy="48533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enriched frame to enriched_prices.csv and print a per-ticker summary of cumulative return and mean annualised volatility.</a:t>
            </a:r>
          </a:p>
        </p:txBody>
      </p:sp>
      <p:sp>
        <p:nvSpPr>
          <p:cNvPr id="33" name="Rectangle 32"/>
          <p:cNvSpPr/>
          <p:nvPr/>
        </p:nvSpPr>
        <p:spPr>
          <a:xfrm>
            <a:off x="7452360" y="5696007"/>
            <a:ext cx="3886200" cy="44875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5696007"/>
            <a:ext cx="3648456" cy="44875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features.py &amp;&amp; head -3 enriched_prices.csv</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Derived Columns — Daily Returns and Moving Averages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enriched_prices.csv contains all six derived columns, the first row of every ticker has NaN daily_return, sma_50 is NaN for exactly the first 49 rows of each ticker, and the per-ticker summary prints a plausible cumulative return and volatility.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Algorithmic Trading — Moving Average Crossover Backtest</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42</a:t>
            </a:r>
          </a:p>
        </p:txBody>
      </p:sp>
      <p:sp>
        <p:nvSpPr>
          <p:cNvPr id="9" name="TextBox 8"/>
          <p:cNvSpPr txBox="1"/>
          <p:nvPr/>
        </p:nvSpPr>
        <p:spPr>
          <a:xfrm>
            <a:off x="777240" y="2752344"/>
            <a:ext cx="10698480" cy="202996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capstone activity for Topic 6, from the reference slide. The learner prompts for a ticker and for short and long moving-average windows, downloads three years of data with yfinance, generates buy and sell signals where the short SMA crosses the long SMA, and backtests the resulting position against buy-and-hold. Performance is reported as total return, annualised return, annualised volatility, Sharpe ratio at a zero risk-free rate, and maximum drawdown. A matplotlib chart plots the price with both moving averages, green '^' markers at buy signals and red 'v' markers at sell signals. The whole run is wrapped in the Topic 5 error handling and uses the Topic 6 cleaning decisions.</a:t>
            </a:r>
          </a:p>
        </p:txBody>
      </p:sp>
      <p:sp>
        <p:nvSpPr>
          <p:cNvPr id="10" name="Rectangle 9"/>
          <p:cNvSpPr/>
          <p:nvPr/>
        </p:nvSpPr>
        <p:spPr>
          <a:xfrm>
            <a:off x="777240" y="4965192"/>
            <a:ext cx="1069848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12978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5477256"/>
            <a:ext cx="10241280" cy="18288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`lab-42-ma-crossover-backtest` with backtest.py, a printed KPI table comparing the strategy with buy-and-hold, and backtest_chart.png showing price, both SMAs and the marked signals.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numpy, matplotlib, AI coding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Algorithmic Trading — Moving Average Crossover Backtest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full backtesting stack.</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lab-42-ma-crossover-backtest &amp;&amp; cd lab-42-ma-crossover-backtest &amp;&amp; uv add yfinance pandas numpy matplotlib</a:t>
            </a:r>
          </a:p>
        </p:txBody>
      </p:sp>
      <p:sp>
        <p:nvSpPr>
          <p:cNvPr id="13" name="Rectangle 12"/>
          <p:cNvSpPr/>
          <p:nvPr/>
        </p:nvSpPr>
        <p:spPr>
          <a:xfrm>
            <a:off x="777240" y="2679192"/>
            <a:ext cx="10634472" cy="13135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1256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256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124035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AI STEP — prompt your AI assistant with the full specification: "Write a Python script using yfinance, pandas, numpy and matplotlib that backtests a Moving Average Crossover strategy on 3 years of daily data. Prompt the user for a stock ticker and integer short and long SMA windows. Generate a buy signal when the short SMA crosses above the long SMA and a sell signal when it crosses below. Compute Total Return, Annualised Return, Annualised Volatility, Sharpe Ratio at a 0 percent risk-free rate, and Maximum Drawdown, for both the strategy and buy-and-hold. Plot the close price with both moving average lines, green '^' markers at buy signals and red 'v' markers at sell signals, and save it as backtest_chart.png. Handle an invalid ticker with try/except."</a:t>
            </a:r>
          </a:p>
        </p:txBody>
      </p:sp>
      <p:sp>
        <p:nvSpPr>
          <p:cNvPr id="17" name="Rectangle 16"/>
          <p:cNvSpPr/>
          <p:nvPr/>
        </p:nvSpPr>
        <p:spPr>
          <a:xfrm>
            <a:off x="777240" y="4084141"/>
            <a:ext cx="10634472" cy="6890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21834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1834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120717"/>
            <a:ext cx="5806440" cy="61587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result as backtest.py and READ IT BEFORE RUNNING. Check three specific things: that the signal is shifted by one day before being applied to returns, that the SMAs use only past data, and that the drawdown is computed from the cumulative equity curve.</a:t>
            </a:r>
          </a:p>
        </p:txBody>
      </p:sp>
      <p:sp>
        <p:nvSpPr>
          <p:cNvPr id="21" name="Rectangle 20"/>
          <p:cNvSpPr/>
          <p:nvPr/>
        </p:nvSpPr>
        <p:spPr>
          <a:xfrm>
            <a:off x="7452360" y="414519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14519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touch backtest.py</a:t>
            </a:r>
          </a:p>
        </p:txBody>
      </p:sp>
      <p:sp>
        <p:nvSpPr>
          <p:cNvPr id="23" name="Rectangle 22"/>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01184"/>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backtest on AAPL with windows 20 and 50.</a:t>
            </a:r>
          </a:p>
        </p:txBody>
      </p:sp>
      <p:sp>
        <p:nvSpPr>
          <p:cNvPr id="27" name="Rectangle 26"/>
          <p:cNvSpPr/>
          <p:nvPr/>
        </p:nvSpPr>
        <p:spPr>
          <a:xfrm>
            <a:off x="7452360" y="4919472"/>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919472"/>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backtest.py</a:t>
            </a:r>
          </a:p>
        </p:txBody>
      </p:sp>
      <p:sp>
        <p:nvSpPr>
          <p:cNvPr id="29" name="Rectangle 28"/>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376672"/>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the look-ahead bias check: if the position is not shifted by one day, the strategy trades on a signal derived from the same day's close — an impossible trade that flatters every KPI. Confirm your script shifts.</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Fix any look-ahead bias you found, re-run, and compare the KPIs before and after — note how much the Sharpe ratio fell.</a:t>
            </a:r>
          </a:p>
        </p:txBody>
      </p:sp>
      <p:sp>
        <p:nvSpPr>
          <p:cNvPr id="37" name="Rectangle 36"/>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backtest.py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Algorithmic Trading — Moving Average Crossover Backtest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544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6560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6560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471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same backtest on a Singapore bank, D05.SI, with the same windows and compare the results across the two markets.</a:t>
            </a:r>
          </a:p>
        </p:txBody>
      </p:sp>
      <p:sp>
        <p:nvSpPr>
          <p:cNvPr id="11" name="Rectangle 10"/>
          <p:cNvSpPr/>
          <p:nvPr/>
        </p:nvSpPr>
        <p:spPr>
          <a:xfrm>
            <a:off x="7452360" y="2258568"/>
            <a:ext cx="3886200" cy="4346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4346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backtest.py</a:t>
            </a:r>
          </a:p>
        </p:txBody>
      </p:sp>
      <p:sp>
        <p:nvSpPr>
          <p:cNvPr id="13" name="Rectangle 12"/>
          <p:cNvSpPr/>
          <p:nvPr/>
        </p:nvSpPr>
        <p:spPr>
          <a:xfrm>
            <a:off x="777240" y="2839563"/>
            <a:ext cx="10634472" cy="544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9014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014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76139"/>
            <a:ext cx="5806440" cy="471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Sweep the window pair: run 10/30, 20/50 and 50/200 on the same ticker and tabulate total return and Sharpe for each.</a:t>
            </a:r>
          </a:p>
        </p:txBody>
      </p:sp>
      <p:sp>
        <p:nvSpPr>
          <p:cNvPr id="17" name="Rectangle 16"/>
          <p:cNvSpPr/>
          <p:nvPr/>
        </p:nvSpPr>
        <p:spPr>
          <a:xfrm>
            <a:off x="7452360" y="2894427"/>
            <a:ext cx="3886200" cy="4346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894427"/>
            <a:ext cx="3648456" cy="4346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backtest.py</a:t>
            </a:r>
          </a:p>
        </p:txBody>
      </p:sp>
      <p:sp>
        <p:nvSpPr>
          <p:cNvPr id="19" name="Rectangle 18"/>
          <p:cNvSpPr/>
          <p:nvPr/>
        </p:nvSpPr>
        <p:spPr>
          <a:xfrm>
            <a:off x="777240" y="3475422"/>
            <a:ext cx="10634472" cy="544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373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3731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511998"/>
            <a:ext cx="9692640" cy="471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overfitting: the best window pair in this sample is not the best pair out of sample. Why does picking the winner from a sweep overstate expected live performance?</a:t>
            </a:r>
          </a:p>
        </p:txBody>
      </p:sp>
      <p:sp>
        <p:nvSpPr>
          <p:cNvPr id="23" name="Rectangle 22"/>
          <p:cNvSpPr/>
          <p:nvPr/>
        </p:nvSpPr>
        <p:spPr>
          <a:xfrm>
            <a:off x="777240" y="4111281"/>
            <a:ext cx="10634472" cy="544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17317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7317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147857"/>
            <a:ext cx="5806440" cy="471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backtest_chart.png and verify the markers sit exactly at the crossover points and that buys and sells alternate.</a:t>
            </a:r>
          </a:p>
        </p:txBody>
      </p:sp>
      <p:sp>
        <p:nvSpPr>
          <p:cNvPr id="27" name="Rectangle 26"/>
          <p:cNvSpPr/>
          <p:nvPr/>
        </p:nvSpPr>
        <p:spPr>
          <a:xfrm>
            <a:off x="7452360" y="4166145"/>
            <a:ext cx="3886200" cy="43469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4166145"/>
            <a:ext cx="3648456" cy="434691"/>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open backtest_chart.png</a:t>
            </a:r>
          </a:p>
        </p:txBody>
      </p:sp>
      <p:sp>
        <p:nvSpPr>
          <p:cNvPr id="29" name="Rectangle 28"/>
          <p:cNvSpPr/>
          <p:nvPr/>
        </p:nvSpPr>
        <p:spPr>
          <a:xfrm>
            <a:off x="777240" y="4747140"/>
            <a:ext cx="10634472" cy="81662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94514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4514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783716"/>
            <a:ext cx="5806440" cy="74347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Topic 6 cleaning decision explicitly: forward-fill any missing closes before computing the SMAs, and print a note stating the treatment used.</a:t>
            </a:r>
          </a:p>
        </p:txBody>
      </p:sp>
      <p:sp>
        <p:nvSpPr>
          <p:cNvPr id="33" name="Rectangle 32"/>
          <p:cNvSpPr/>
          <p:nvPr/>
        </p:nvSpPr>
        <p:spPr>
          <a:xfrm>
            <a:off x="7452360" y="487199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87199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backtest.py</a:t>
            </a:r>
          </a:p>
        </p:txBody>
      </p:sp>
      <p:sp>
        <p:nvSpPr>
          <p:cNvPr id="35" name="Rectangle 34"/>
          <p:cNvSpPr/>
          <p:nvPr/>
        </p:nvSpPr>
        <p:spPr>
          <a:xfrm>
            <a:off x="777240" y="5655209"/>
            <a:ext cx="10634472" cy="544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7171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7171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5691785"/>
            <a:ext cx="9692640" cy="471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short conclusion in the script header: did the crossover strategy beat buy-and-hold on your ticker after the look-ahead fix, and what would you need to add before trusting the result (transaction costs, slippage, out-of-sample testing)?</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Activity: Algorithmic Trading — Moving Average Crossover Backtest</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script accepts a ticker and two windows, prints a KPI table with Total Return, Annualised Return, Annualised Volatility, Sharpe Ratio and Maximum Drawdown for both the strategy and buy-and-hold, writes backtest_chart.png with both SMA lines and alternating green '^' and red 'v' markers at the crossovers, and exits cleanly on an invalid ticker.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Import and Process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LO5: Construct and distinguish a pandas Series and a DataFrame, and index both with financial labels.</a:t>
            </a:r>
          </a:p>
          <a:p>
            <a:pPr>
              <a:spcAft>
                <a:spcPts val="1000"/>
              </a:spcAft>
            </a:pPr>
            <a:r>
              <a:rPr sz="1700" b="0">
                <a:solidFill>
                  <a:srgbClr val="161B26"/>
                </a:solidFill>
                <a:latin typeface="Arial"/>
              </a:rPr>
              <a:t>•  You can now: LO5: Import a financial CSV into pandas with correct date parsing, index and dtypes.</a:t>
            </a:r>
          </a:p>
          <a:p>
            <a:pPr>
              <a:spcAft>
                <a:spcPts val="1000"/>
              </a:spcAft>
            </a:pPr>
            <a:r>
              <a:rPr sz="1700" b="0">
                <a:solidFill>
                  <a:srgbClr val="161B26"/>
                </a:solidFill>
                <a:latin typeface="Arial"/>
              </a:rPr>
              <a:t>•  You can now: LO5: Download multi-ticker market data with yfinance and reshape the result into an analysis-ready DataFrame.</a:t>
            </a:r>
          </a:p>
          <a:p>
            <a:pPr>
              <a:spcAft>
                <a:spcPts val="1000"/>
              </a:spcAft>
            </a:pPr>
            <a:r>
              <a:rPr sz="1700" b="0">
                <a:solidFill>
                  <a:srgbClr val="161B26"/>
                </a:solidFill>
                <a:latin typeface="Arial"/>
              </a:rPr>
              <a:t>•  You can now: LO5: Profile a financial dataset with head, tail, info, describe and value_counts to identify data-quality problems before analysis.</a:t>
            </a:r>
          </a:p>
          <a:p>
            <a:pPr>
              <a:spcAft>
                <a:spcPts val="1000"/>
              </a:spcAft>
            </a:pPr>
            <a:r>
              <a:rPr sz="1700" b="0">
                <a:solidFill>
                  <a:srgbClr val="161B26"/>
                </a:solidFill>
                <a:latin typeface="Arial"/>
              </a:rPr>
              <a:t>•  You can now: LO5: Select subsets of financial data with boolean masks, date-range slicing and multi-condition filters.</a:t>
            </a:r>
          </a:p>
          <a:p>
            <a:pPr>
              <a:spcAft>
                <a:spcPts val="1000"/>
              </a:spcAft>
            </a:pPr>
            <a:r>
              <a:rPr sz="1700" b="0">
                <a:solidFill>
                  <a:srgbClr val="161B26"/>
                </a:solidFill>
                <a:latin typeface="Arial"/>
              </a:rPr>
              <a:t>•  You can now: LO5: Detect missing market data with isna, and compare dropna, fillna and forward-fill, quantifying how each choice changes the analytical result.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Aggregate and Visualize Finance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Concat, append and merge · Groupby · Pivot table · Assess code for gaps · Test and visualise · Streamlit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14%</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Aggregate and Visualize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Finance datasets are joined with concat, append and merge to combine prices, fundamentals and customer records.</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Groupby aggregates loan and portfolio data by sector, region, gender or status.</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Pivot tables cross-tabulate metrics such as average debt-to-income ratio by segment.</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Charts turn an aggregation into a decision — trends, distributions and comparisons.</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Streamlit publishes the analysis as an interactive web application that a business user can operate without touching Python.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Aggregate and Visualize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43–45</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Generate Mock Credit-Loan Data with df_finance</a:t>
            </a:r>
          </a:p>
          <a:p>
            <a:pPr>
              <a:spcAft>
                <a:spcPts val="900"/>
              </a:spcAft>
            </a:pPr>
            <a:r>
              <a:rPr sz="1400" b="0">
                <a:solidFill>
                  <a:srgbClr val="161B26"/>
                </a:solidFill>
                <a:latin typeface="Arial"/>
              </a:rPr>
              <a:t>•  Join Finance Datasets with concat, append and merge</a:t>
            </a:r>
          </a:p>
          <a:p>
            <a:pPr>
              <a:spcAft>
                <a:spcPts val="900"/>
              </a:spcAft>
            </a:pPr>
            <a:r>
              <a:rPr sz="1400" b="0">
                <a:solidFill>
                  <a:srgbClr val="161B26"/>
                </a:solidFill>
                <a:latin typeface="Arial"/>
              </a:rPr>
              <a:t>•  Groupby: Annual Income by Gender and Region</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46–48</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Loan Application Counts by Status and Type</a:t>
            </a:r>
          </a:p>
          <a:p>
            <a:pPr>
              <a:spcAft>
                <a:spcPts val="900"/>
              </a:spcAft>
            </a:pPr>
            <a:r>
              <a:rPr sz="1400" b="0">
                <a:solidFill>
                  <a:srgbClr val="161B26"/>
                </a:solidFill>
                <a:latin typeface="Arial"/>
              </a:rPr>
              <a:t>•  Multi-Metric Aggregation by Employment Sector with .agg()</a:t>
            </a:r>
          </a:p>
          <a:p>
            <a:pPr>
              <a:spcAft>
                <a:spcPts val="900"/>
              </a:spcAft>
            </a:pPr>
            <a:r>
              <a:rPr sz="1400" b="0">
                <a:solidFill>
                  <a:srgbClr val="161B26"/>
                </a:solidFill>
                <a:latin typeface="Arial"/>
              </a:rPr>
              <a:t>•  Pivot Table of Debt-to-Income Ratio and Matplotlib Visualisation</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49–50</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Streamlit Capstone Part 1 — Portfolio &amp; Loan Analytics App Shell</a:t>
            </a:r>
          </a:p>
          <a:p>
            <a:pPr>
              <a:spcAft>
                <a:spcPts val="900"/>
              </a:spcAft>
            </a:pPr>
            <a:r>
              <a:rPr sz="1400" b="0">
                <a:solidFill>
                  <a:srgbClr val="161B26"/>
                </a:solidFill>
                <a:latin typeface="Arial"/>
              </a:rPr>
              <a:t>•  Streamlit Capstone Part 2 — Charts and Pivot Tab in the Dashboard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Generate Mock Credit-Loan Data with df_finance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43</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creates a uv project and generates a reproducible mock credit-loan portfolio of 500 applicants as a pandas DataFrame named df_finance, with the columns used throughout Topics 7 and 9: Applicant_ID, Gender, Region, Employment_Sector, Annual_Income, Credit_Score, Years_at_Job, Loan_Type, Loan_Status, Loan_Amount_Requested, Debt_to_Income_Ratio, Missed_Payments_Last_2Y, Education and Marital_Status. An AI prompt drafts the generator; the learner reviews the ranges for financial realism before accepting the code.</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uv project containing generate_data.py and a saved df_finance.csv of 500 mock loan applicants.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pandas, NumPy,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Generate Mock Credit-Loan Data with df_finance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and enter the uv project for this lab.</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lab-43-mock-loan-data &amp;&amp; cd lab-43-mock-loan-data</a:t>
            </a:r>
          </a:p>
        </p:txBody>
      </p:sp>
      <p:sp>
        <p:nvSpPr>
          <p:cNvPr id="13" name="Rectangle 12"/>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data libraries to the project.</a:t>
            </a:r>
          </a:p>
        </p:txBody>
      </p:sp>
      <p:sp>
        <p:nvSpPr>
          <p:cNvPr id="17" name="Rectangle 16"/>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add pandas numpy</a:t>
            </a:r>
          </a:p>
        </p:txBody>
      </p:sp>
      <p:sp>
        <p:nvSpPr>
          <p:cNvPr id="19" name="Rectangle 18"/>
          <p:cNvSpPr/>
          <p:nvPr/>
        </p:nvSpPr>
        <p:spPr>
          <a:xfrm>
            <a:off x="777240" y="2679192"/>
            <a:ext cx="10634472" cy="201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743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743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715768"/>
            <a:ext cx="9692640" cy="19378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with this exact text: "Write a Python function generate_finance_data(n=500, seed=42) that returns a pandas DataFrame df_finance of mock credit-loan applicants with columns Applicant_ID, Gender (Male/Female), Region (North/South/East/West/Central), Employment_Sector (Banking/Technology/Healthcare/Manufacturing/Retail/Government), Annual_Income (lognormal, 30000-250000 SGD), Credit_Score (300-850), Years_at_Job (0-35), Loan_Type (Personal/Mortgage/Auto/Education), Loan_Status (Approved/Rejected/Pending), Loan_Amount_Requested, Debt_to_Income_Ratio (0.05-0.75), Missed_Payments_Last_2Y (0-6), Education and Marital_Status. Use numpy with a fixed seed so results are reproducible."</a:t>
            </a:r>
          </a:p>
        </p:txBody>
      </p:sp>
      <p:sp>
        <p:nvSpPr>
          <p:cNvPr id="23" name="Rectangle 22"/>
          <p:cNvSpPr/>
          <p:nvPr/>
        </p:nvSpPr>
        <p:spPr>
          <a:xfrm>
            <a:off x="777240" y="4781608"/>
            <a:ext cx="10634472" cy="467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827328"/>
            <a:ext cx="375608" cy="375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27328"/>
            <a:ext cx="375608" cy="375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18184"/>
            <a:ext cx="9692640" cy="393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generated code as generate_data.py and read every line — confirm the income and credit-score ranges are financially plausible and that the seed is fixed.</a:t>
            </a:r>
          </a:p>
        </p:txBody>
      </p:sp>
      <p:sp>
        <p:nvSpPr>
          <p:cNvPr id="27" name="Rectangle 26"/>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76672"/>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a line at the end that writes the frame to CSV: df_finance.to_csv('df_finance.csv', index=False).</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generator.</a:t>
            </a:r>
          </a:p>
        </p:txBody>
      </p:sp>
      <p:sp>
        <p:nvSpPr>
          <p:cNvPr id="35" name="Rectangle 34"/>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generate_data.py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Generate Mock Credit-Loan Data with df_finance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0721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05397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5397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9989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the shape, dtypes and first rows in a REPL to confirm the schema.</a:t>
            </a:r>
          </a:p>
        </p:txBody>
      </p:sp>
      <p:sp>
        <p:nvSpPr>
          <p:cNvPr id="11" name="Rectangle 10"/>
          <p:cNvSpPr/>
          <p:nvPr/>
        </p:nvSpPr>
        <p:spPr>
          <a:xfrm>
            <a:off x="7452360" y="1980819"/>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980819"/>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print(d.shape); print(d.dtypes); print(d.head())"</a:t>
            </a:r>
          </a:p>
        </p:txBody>
      </p:sp>
      <p:sp>
        <p:nvSpPr>
          <p:cNvPr id="13" name="Rectangle 12"/>
          <p:cNvSpPr/>
          <p:nvPr/>
        </p:nvSpPr>
        <p:spPr>
          <a:xfrm>
            <a:off x="777240" y="2891790"/>
            <a:ext cx="10634472" cy="2144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75361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5361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28366"/>
            <a:ext cx="5806440" cy="2071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the categorical spread — every Region, Loan_Status and Employment_Sector must be represented.</a:t>
            </a:r>
          </a:p>
        </p:txBody>
      </p:sp>
      <p:sp>
        <p:nvSpPr>
          <p:cNvPr id="17" name="Rectangle 16"/>
          <p:cNvSpPr/>
          <p:nvPr/>
        </p:nvSpPr>
        <p:spPr>
          <a:xfrm>
            <a:off x="7452360" y="368046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68046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[print(c, d[c].value_counts().to_dict()) for c in ['Region','Loan_Status','Employment_Sector']]"</a:t>
            </a:r>
          </a:p>
        </p:txBody>
      </p:sp>
      <p:sp>
        <p:nvSpPr>
          <p:cNvPr id="19" name="Rectangle 18"/>
          <p:cNvSpPr/>
          <p:nvPr/>
        </p:nvSpPr>
        <p:spPr>
          <a:xfrm>
            <a:off x="777240" y="5127498"/>
            <a:ext cx="10634472" cy="10721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545325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5325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5164074"/>
            <a:ext cx="9692640" cy="9989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does a fixed random seed matter when a model output will be reviewed by a risk committee or an auditor?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Generate Mock Credit-Loan Data with df_finance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df_finance.csv exists with 500 rows and 14 columns; re-running generate_data.py produces a byte-identical file, proving reproducibility.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Join Finance Datasets with concat, append and merge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44</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combines the loan book with two extra sources: a second branch's loan file (stacked vertically with pd.concat) and a regional risk-rating reference table (joined horizontally with pd.merge on Region). The lab contrasts inner, left and outer joins and shows what a mismatched key silently does to a loan book — the classic cause of disappearing applicants in a reconciliation.</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join_data.py script producing df_all — the combined multi-branch loan book enriched with regional risk ratings.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Join Finance Datasets with concat, append and merge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2258568"/>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lab-44-join-finance-data &amp;&amp; cd lab-44-join-finance-data &amp;&amp; uv add pandas numpy</a:t>
            </a:r>
          </a:p>
        </p:txBody>
      </p:sp>
      <p:sp>
        <p:nvSpPr>
          <p:cNvPr id="13" name="Rectangle 12"/>
          <p:cNvSpPr/>
          <p:nvPr/>
        </p:nvSpPr>
        <p:spPr>
          <a:xfrm>
            <a:off x="777240" y="2737485"/>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83205"/>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83205"/>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74061"/>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df_finance.csv from lab 43 into this project.</a:t>
            </a:r>
          </a:p>
        </p:txBody>
      </p:sp>
      <p:sp>
        <p:nvSpPr>
          <p:cNvPr id="17" name="Rectangle 16"/>
          <p:cNvSpPr/>
          <p:nvPr/>
        </p:nvSpPr>
        <p:spPr>
          <a:xfrm>
            <a:off x="7452360" y="2792349"/>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92349"/>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19" name="Rectangle 18"/>
          <p:cNvSpPr/>
          <p:nvPr/>
        </p:nvSpPr>
        <p:spPr>
          <a:xfrm>
            <a:off x="777240" y="3271266"/>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316986"/>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316986"/>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07842"/>
            <a:ext cx="96926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a second branch file by regenerating with a different seed and an offset Applicant_ID, saving it as df_branch2.csv.</a:t>
            </a:r>
          </a:p>
        </p:txBody>
      </p:sp>
      <p:sp>
        <p:nvSpPr>
          <p:cNvPr id="23" name="Rectangle 22"/>
          <p:cNvSpPr/>
          <p:nvPr/>
        </p:nvSpPr>
        <p:spPr>
          <a:xfrm>
            <a:off x="777240" y="3805047"/>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3850767"/>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850767"/>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3841623"/>
            <a:ext cx="58064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Stack the two branches vertically and reset the index.</a:t>
            </a:r>
          </a:p>
        </p:txBody>
      </p:sp>
      <p:sp>
        <p:nvSpPr>
          <p:cNvPr id="27" name="Rectangle 26"/>
          <p:cNvSpPr/>
          <p:nvPr/>
        </p:nvSpPr>
        <p:spPr>
          <a:xfrm>
            <a:off x="7452360" y="3859911"/>
            <a:ext cx="3886200" cy="33261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859911"/>
            <a:ext cx="3648456" cy="33261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a=pd.read_csv('df_finance.csv'); b=pd.read_csv('df_branch2.csv'); df=pd.concat([a,b], ignore_index=True); print(len(a), len(b), len(df))"</a:t>
            </a:r>
          </a:p>
        </p:txBody>
      </p:sp>
      <p:sp>
        <p:nvSpPr>
          <p:cNvPr id="29" name="Rectangle 28"/>
          <p:cNvSpPr/>
          <p:nvPr/>
        </p:nvSpPr>
        <p:spPr>
          <a:xfrm>
            <a:off x="777240" y="4338828"/>
            <a:ext cx="10634472" cy="132702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79202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9202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375404"/>
            <a:ext cx="9692640" cy="125387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"Given a pandas DataFrame df of loan applicants with a Region column, build a small reference DataFrame df_risk with one row per Region and columns Regional_Risk_Rating (A/B/C) and Base_Interest_Rate. Then merge it into df on Region using a left join, and print how many rows have a null Regional_Risk_Rating after the merge."</a:t>
            </a:r>
          </a:p>
        </p:txBody>
      </p:sp>
      <p:sp>
        <p:nvSpPr>
          <p:cNvPr id="33" name="Rectangle 32"/>
          <p:cNvSpPr/>
          <p:nvPr/>
        </p:nvSpPr>
        <p:spPr>
          <a:xfrm>
            <a:off x="777240" y="5757291"/>
            <a:ext cx="10634472" cy="4423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03011"/>
            <a:ext cx="350901" cy="35090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03011"/>
            <a:ext cx="350901" cy="350901"/>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793867"/>
            <a:ext cx="9692640" cy="3691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Review the generated merge — confirm it uses how='left' so no applicant is dropped, and that the null check is present.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Join Finance Datasets with concat, append and merge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9304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45859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859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85725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Deliberately break one Region value (e.g. 'central' lower-case) and re-run the merge to see the applicant lose its rating.</a:t>
            </a:r>
          </a:p>
        </p:txBody>
      </p:sp>
      <p:sp>
        <p:nvSpPr>
          <p:cNvPr id="11" name="Rectangle 10"/>
          <p:cNvSpPr/>
          <p:nvPr/>
        </p:nvSpPr>
        <p:spPr>
          <a:xfrm>
            <a:off x="777240" y="3225546"/>
            <a:ext cx="10634472" cy="9304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4804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804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262122"/>
            <a:ext cx="5806440" cy="85725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Compare the row counts of an inner, left and outer merge on the broken key.</a:t>
            </a:r>
          </a:p>
        </p:txBody>
      </p:sp>
      <p:sp>
        <p:nvSpPr>
          <p:cNvPr id="15" name="Rectangle 14"/>
          <p:cNvSpPr/>
          <p:nvPr/>
        </p:nvSpPr>
        <p:spPr>
          <a:xfrm>
            <a:off x="7452360" y="340728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340728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join_data.py</a:t>
            </a:r>
          </a:p>
        </p:txBody>
      </p:sp>
      <p:sp>
        <p:nvSpPr>
          <p:cNvPr id="17" name="Rectangle 16"/>
          <p:cNvSpPr/>
          <p:nvPr/>
        </p:nvSpPr>
        <p:spPr>
          <a:xfrm>
            <a:off x="777240" y="4247388"/>
            <a:ext cx="10634472" cy="9304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50227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0227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83964"/>
            <a:ext cx="9692640" cy="85725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in a loan reconciliation, which join type is safest and why must the post-merge row count always be asserted?</a:t>
            </a:r>
          </a:p>
        </p:txBody>
      </p:sp>
      <p:sp>
        <p:nvSpPr>
          <p:cNvPr id="21" name="Rectangle 20"/>
          <p:cNvSpPr/>
          <p:nvPr/>
        </p:nvSpPr>
        <p:spPr>
          <a:xfrm>
            <a:off x="777240" y="5269230"/>
            <a:ext cx="10634472" cy="9304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5241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2411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305806"/>
            <a:ext cx="5806440" cy="85725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final combined frame.</a:t>
            </a:r>
          </a:p>
        </p:txBody>
      </p:sp>
      <p:sp>
        <p:nvSpPr>
          <p:cNvPr id="25" name="Rectangle 24"/>
          <p:cNvSpPr/>
          <p:nvPr/>
        </p:nvSpPr>
        <p:spPr>
          <a:xfrm>
            <a:off x="7452360" y="545096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45096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print('df_all saved')"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Join Finance Datasets with concat, append and merge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df_all has exactly len(branch1) + len(branch2) rows after the left merge — no applicant is silently lost — and zero null Regional_Risk_Rating values once the key is fixed.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Groupby: Annual Income by Gender and Region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45</a:t>
            </a:r>
          </a:p>
        </p:txBody>
      </p:sp>
      <p:sp>
        <p:nvSpPr>
          <p:cNvPr id="9" name="TextBox 8"/>
          <p:cNvSpPr txBox="1"/>
          <p:nvPr/>
        </p:nvSpPr>
        <p:spPr>
          <a:xfrm>
            <a:off x="777240" y="2276856"/>
            <a:ext cx="10698480" cy="93268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uses df.groupby() to compute average and median Annual_Income by Gender, then by Region, then by both keys together to produce a MultiIndex result. The lab covers unstack() to turn the MultiIndex into a readable Gender x Region matrix, and interprets the income gaps as a fair-lending analyst would.</a:t>
            </a:r>
          </a:p>
        </p:txBody>
      </p:sp>
      <p:sp>
        <p:nvSpPr>
          <p:cNvPr id="10" name="Rectangle 9"/>
          <p:cNvSpPr/>
          <p:nvPr/>
        </p:nvSpPr>
        <p:spPr>
          <a:xfrm>
            <a:off x="777240" y="3392424"/>
            <a:ext cx="10698480" cy="2807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5701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3904488"/>
            <a:ext cx="10241280" cy="175564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groupby_income.py script printing income statistics by Gender, by Region and by the Gender x Region cross-section.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Groupby: Annual Income by Gender and Region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1783080"/>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lab-45-groupby-income &amp;&amp; cd lab-45-groupby-income &amp;&amp; uv add pandas</a:t>
            </a:r>
          </a:p>
        </p:txBody>
      </p:sp>
      <p:sp>
        <p:nvSpPr>
          <p:cNvPr id="13" name="Rectangle 12"/>
          <p:cNvSpPr/>
          <p:nvPr/>
        </p:nvSpPr>
        <p:spPr>
          <a:xfrm>
            <a:off x="777240" y="2265680"/>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11400"/>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11400"/>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02256"/>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in df_finance.csv from lab 43.</a:t>
            </a:r>
          </a:p>
        </p:txBody>
      </p:sp>
      <p:sp>
        <p:nvSpPr>
          <p:cNvPr id="17" name="Rectangle 16"/>
          <p:cNvSpPr/>
          <p:nvPr/>
        </p:nvSpPr>
        <p:spPr>
          <a:xfrm>
            <a:off x="7452360" y="2320544"/>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20544"/>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19" name="Rectangle 18"/>
          <p:cNvSpPr/>
          <p:nvPr/>
        </p:nvSpPr>
        <p:spPr>
          <a:xfrm>
            <a:off x="777240" y="2803144"/>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2848864"/>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848864"/>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839720"/>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Compute mean Annual_Income by Gender.</a:t>
            </a:r>
          </a:p>
        </p:txBody>
      </p:sp>
      <p:sp>
        <p:nvSpPr>
          <p:cNvPr id="23" name="Rectangle 22"/>
          <p:cNvSpPr/>
          <p:nvPr/>
        </p:nvSpPr>
        <p:spPr>
          <a:xfrm>
            <a:off x="7452360" y="2858008"/>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2858008"/>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print(d.groupby('Gender')['Annual_Income'].mean().round(2))"</a:t>
            </a:r>
          </a:p>
        </p:txBody>
      </p:sp>
      <p:sp>
        <p:nvSpPr>
          <p:cNvPr id="25" name="Rectangle 24"/>
          <p:cNvSpPr/>
          <p:nvPr/>
        </p:nvSpPr>
        <p:spPr>
          <a:xfrm>
            <a:off x="777240" y="3340608"/>
            <a:ext cx="10634472" cy="892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57632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57632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377184"/>
            <a:ext cx="5806440" cy="818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Compute mean and median Annual_Income by Region and sort descending by the mean.</a:t>
            </a:r>
          </a:p>
        </p:txBody>
      </p:sp>
      <p:sp>
        <p:nvSpPr>
          <p:cNvPr id="29" name="Rectangle 28"/>
          <p:cNvSpPr/>
          <p:nvPr/>
        </p:nvSpPr>
        <p:spPr>
          <a:xfrm>
            <a:off x="7452360" y="350316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50316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print(d.groupby('Region')['Annual_Income'].agg(['mean','median']).round(2).sort_values('mean', ascending=False))"</a:t>
            </a:r>
          </a:p>
        </p:txBody>
      </p:sp>
      <p:sp>
        <p:nvSpPr>
          <p:cNvPr id="31" name="Rectangle 30"/>
          <p:cNvSpPr/>
          <p:nvPr/>
        </p:nvSpPr>
        <p:spPr>
          <a:xfrm>
            <a:off x="777240" y="4324096"/>
            <a:ext cx="10634472" cy="4460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369816"/>
            <a:ext cx="354584" cy="354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369816"/>
            <a:ext cx="354584" cy="35458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360672"/>
            <a:ext cx="5806440" cy="37287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Group by both keys to get a MultiIndex Series.</a:t>
            </a:r>
          </a:p>
        </p:txBody>
      </p:sp>
      <p:sp>
        <p:nvSpPr>
          <p:cNvPr id="35" name="Rectangle 34"/>
          <p:cNvSpPr/>
          <p:nvPr/>
        </p:nvSpPr>
        <p:spPr>
          <a:xfrm>
            <a:off x="7452360" y="4378960"/>
            <a:ext cx="3886200" cy="3362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378960"/>
            <a:ext cx="3648456" cy="33629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print(d.groupby(['Gender','Region'])['Annual_Income'].mean().round(2))"</a:t>
            </a:r>
          </a:p>
        </p:txBody>
      </p:sp>
      <p:sp>
        <p:nvSpPr>
          <p:cNvPr id="37" name="Rectangle 36"/>
          <p:cNvSpPr/>
          <p:nvPr/>
        </p:nvSpPr>
        <p:spPr>
          <a:xfrm>
            <a:off x="777240" y="4861560"/>
            <a:ext cx="10634472" cy="1338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32028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32028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4898136"/>
            <a:ext cx="9692640" cy="126492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"Using a pandas DataFrame df_finance, group Annual_Income by Gender and Region, take the mean, then unstack Region into columns so the result is a Gender-by-Region matrix rounded to 2 decimals. Add a final column showing each gender's overall mean and a final row showing each region's overall mean."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Groupby: Annual Income by Gender and Region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9376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376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generated code as groupby_income.py, read it, and confirm unstack() is applied to the correct level.</a:t>
            </a:r>
          </a:p>
        </p:txBody>
      </p:sp>
      <p:sp>
        <p:nvSpPr>
          <p:cNvPr id="11" name="Rectangle 10"/>
          <p:cNvSpPr/>
          <p:nvPr/>
        </p:nvSpPr>
        <p:spPr>
          <a:xfrm>
            <a:off x="777240" y="2659075"/>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8684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6847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695651"/>
            <a:ext cx="58064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 and inspect the matrix.</a:t>
            </a:r>
          </a:p>
        </p:txBody>
      </p:sp>
      <p:sp>
        <p:nvSpPr>
          <p:cNvPr id="15" name="Rectangle 14"/>
          <p:cNvSpPr/>
          <p:nvPr/>
        </p:nvSpPr>
        <p:spPr>
          <a:xfrm>
            <a:off x="7452360" y="279532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279532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groupby_income.py</a:t>
            </a:r>
          </a:p>
        </p:txBody>
      </p:sp>
      <p:sp>
        <p:nvSpPr>
          <p:cNvPr id="17" name="Rectangle 16"/>
          <p:cNvSpPr/>
          <p:nvPr/>
        </p:nvSpPr>
        <p:spPr>
          <a:xfrm>
            <a:off x="777240" y="3589934"/>
            <a:ext cx="10634472" cy="8394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9933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9933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626510"/>
            <a:ext cx="9692640" cy="766267"/>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Interpret the output: which Gender x Region cell has the widest gap from the overall mean?</a:t>
            </a:r>
          </a:p>
        </p:txBody>
      </p:sp>
      <p:sp>
        <p:nvSpPr>
          <p:cNvPr id="21" name="Rectangle 20"/>
          <p:cNvSpPr/>
          <p:nvPr/>
        </p:nvSpPr>
        <p:spPr>
          <a:xfrm>
            <a:off x="777240" y="4520793"/>
            <a:ext cx="10634472" cy="16788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1499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14990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557369"/>
            <a:ext cx="9692640" cy="160568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groupby means say nothing about causation — what confounders (sector, tenure, education) would a fair-lending review demand before acting on this table?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Groupby: Annual Income by Gender and Region</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unstacked matrix has one row per Gender and one column per Region, with the row/column totals matching the ungrouped overall mean to 2 decimal places.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Application Counts by Status and Type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46</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counts loan applications by Loan_Status and Loan_Type using groupby().size(), value_counts() and pd.crosstab(), then converts the raw counts into approval rates per loan product with normalize. The output answers a real credit-operations question: which product line has the weakest approval rate and the largest pending backlog?</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loan_counts.py script producing a Loan_Type x Loan_Status count table plus an approval-rate table.</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Application Counts by Status and Type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1783080"/>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lab-46-loan-counts &amp;&amp; cd lab-46-loan-counts &amp;&amp; uv add pandas</a:t>
            </a:r>
          </a:p>
        </p:txBody>
      </p:sp>
      <p:sp>
        <p:nvSpPr>
          <p:cNvPr id="13" name="Rectangle 12"/>
          <p:cNvSpPr/>
          <p:nvPr/>
        </p:nvSpPr>
        <p:spPr>
          <a:xfrm>
            <a:off x="777240" y="2321433"/>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367153"/>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67153"/>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58009"/>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in df_finance.csv.</a:t>
            </a:r>
          </a:p>
        </p:txBody>
      </p:sp>
      <p:sp>
        <p:nvSpPr>
          <p:cNvPr id="17" name="Rectangle 16"/>
          <p:cNvSpPr/>
          <p:nvPr/>
        </p:nvSpPr>
        <p:spPr>
          <a:xfrm>
            <a:off x="7452360" y="2376297"/>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376297"/>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19" name="Rectangle 18"/>
          <p:cNvSpPr/>
          <p:nvPr/>
        </p:nvSpPr>
        <p:spPr>
          <a:xfrm>
            <a:off x="777240" y="2914650"/>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2960370"/>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960370"/>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951226"/>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Count applications per Loan_Status.</a:t>
            </a:r>
          </a:p>
        </p:txBody>
      </p:sp>
      <p:sp>
        <p:nvSpPr>
          <p:cNvPr id="23" name="Rectangle 22"/>
          <p:cNvSpPr/>
          <p:nvPr/>
        </p:nvSpPr>
        <p:spPr>
          <a:xfrm>
            <a:off x="7452360" y="2969514"/>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2969514"/>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print(d['Loan_Status'].value_counts())"</a:t>
            </a:r>
          </a:p>
        </p:txBody>
      </p:sp>
      <p:sp>
        <p:nvSpPr>
          <p:cNvPr id="25" name="Rectangle 24"/>
          <p:cNvSpPr/>
          <p:nvPr/>
        </p:nvSpPr>
        <p:spPr>
          <a:xfrm>
            <a:off x="777240" y="3507867"/>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553587"/>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553587"/>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544443"/>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Count applications per Loan_Type and Loan_Status with groupby().size().</a:t>
            </a:r>
          </a:p>
        </p:txBody>
      </p:sp>
      <p:sp>
        <p:nvSpPr>
          <p:cNvPr id="29" name="Rectangle 28"/>
          <p:cNvSpPr/>
          <p:nvPr/>
        </p:nvSpPr>
        <p:spPr>
          <a:xfrm>
            <a:off x="7452360" y="3562731"/>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3562731"/>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print(d.groupby(['Loan_Type','Loan_Status']).size())"</a:t>
            </a:r>
          </a:p>
        </p:txBody>
      </p:sp>
      <p:sp>
        <p:nvSpPr>
          <p:cNvPr id="31" name="Rectangle 30"/>
          <p:cNvSpPr/>
          <p:nvPr/>
        </p:nvSpPr>
        <p:spPr>
          <a:xfrm>
            <a:off x="777240" y="4101084"/>
            <a:ext cx="10634472" cy="5017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4146804"/>
            <a:ext cx="410337" cy="410337"/>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146804"/>
            <a:ext cx="410337" cy="410337"/>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4137660"/>
            <a:ext cx="5806440" cy="42862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the same table as a cross-tab with margins (row and column totals).</a:t>
            </a:r>
          </a:p>
        </p:txBody>
      </p:sp>
      <p:sp>
        <p:nvSpPr>
          <p:cNvPr id="35" name="Rectangle 34"/>
          <p:cNvSpPr/>
          <p:nvPr/>
        </p:nvSpPr>
        <p:spPr>
          <a:xfrm>
            <a:off x="7452360" y="4155948"/>
            <a:ext cx="3886200" cy="39204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4155948"/>
            <a:ext cx="3648456" cy="39204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print(pd.crosstab(d['Loan_Type'], d['Loan_Status'], margins=True))"</a:t>
            </a:r>
          </a:p>
        </p:txBody>
      </p:sp>
      <p:sp>
        <p:nvSpPr>
          <p:cNvPr id="37" name="Rectangle 36"/>
          <p:cNvSpPr/>
          <p:nvPr/>
        </p:nvSpPr>
        <p:spPr>
          <a:xfrm>
            <a:off x="777240" y="4694301"/>
            <a:ext cx="10634472" cy="15053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14400" y="523665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23665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40" name="TextBox 39"/>
          <p:cNvSpPr txBox="1"/>
          <p:nvPr/>
        </p:nvSpPr>
        <p:spPr>
          <a:xfrm>
            <a:off x="1481328" y="4730877"/>
            <a:ext cx="9692640" cy="143217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"Using pandas, build a crosstab of Loan_Type against Loan_Status from df_finance, then produce a second table normalised by row so each cell is the percentage of that loan type's applications in that status, rounded to 1 decimal. Print which Loan_Type has the lowest Approved percentage and which has the highest Pending percentage."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Application Counts by Status and Type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04254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4254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96926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it as loan_counts.py, review the normalize='index' argument, and confirm each row sums to 100%.</a:t>
            </a:r>
          </a:p>
        </p:txBody>
      </p:sp>
      <p:sp>
        <p:nvSpPr>
          <p:cNvPr id="11" name="Rectangle 10"/>
          <p:cNvSpPr/>
          <p:nvPr/>
        </p:nvSpPr>
        <p:spPr>
          <a:xfrm>
            <a:off x="777240" y="2868930"/>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18325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8325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905506"/>
            <a:ext cx="58064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a:t>
            </a:r>
          </a:p>
        </p:txBody>
      </p:sp>
      <p:sp>
        <p:nvSpPr>
          <p:cNvPr id="15" name="Rectangle 14"/>
          <p:cNvSpPr/>
          <p:nvPr/>
        </p:nvSpPr>
        <p:spPr>
          <a:xfrm>
            <a:off x="7452360" y="311010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311010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loan_counts.py</a:t>
            </a:r>
          </a:p>
        </p:txBody>
      </p:sp>
      <p:sp>
        <p:nvSpPr>
          <p:cNvPr id="17" name="Rectangle 16"/>
          <p:cNvSpPr/>
          <p:nvPr/>
        </p:nvSpPr>
        <p:spPr>
          <a:xfrm>
            <a:off x="777240" y="4009644"/>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32396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2396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046220"/>
            <a:ext cx="96926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totals: the crosstab grand total must equal len(df_finance).</a:t>
            </a:r>
          </a:p>
        </p:txBody>
      </p:sp>
      <p:sp>
        <p:nvSpPr>
          <p:cNvPr id="21" name="Rectangle 20"/>
          <p:cNvSpPr/>
          <p:nvPr/>
        </p:nvSpPr>
        <p:spPr>
          <a:xfrm>
            <a:off x="777240" y="5150358"/>
            <a:ext cx="10634472" cy="10492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46468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46468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186934"/>
            <a:ext cx="9692640" cy="97612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is an approval rate a more actionable KPI for a credit committee than a raw approval count?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Loan Application Counts by Status and Type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row of the normalised table sums to 100.0 (+/- 0.1) and the crosstab margin total equals the DataFrame row count.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Multi-Metric Aggregation by Employment Sector with .agg()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47</a:t>
            </a:r>
          </a:p>
        </p:txBody>
      </p:sp>
      <p:sp>
        <p:nvSpPr>
          <p:cNvPr id="9" name="TextBox 8"/>
          <p:cNvSpPr txBox="1"/>
          <p:nvPr/>
        </p:nvSpPr>
        <p:spPr>
          <a:xfrm>
            <a:off x="777240" y="2752344"/>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This is the reference slide 137 activity. The learner groups df_finance by Employment_Sector and passes a dictionary to .agg() to compute the mean, median and standard deviation of Annual_Income plus the mean Credit_Score and mean Years_at_Job in one pass. The resulting MultiIndex columns are flattened and renamed to Avg_Income, Median_Income, Income_Std_Dev, Avg_Credit_Score and Avg_Tenure_Years.</a:t>
            </a:r>
          </a:p>
        </p:txBody>
      </p:sp>
      <p:sp>
        <p:nvSpPr>
          <p:cNvPr id="10" name="Rectangle 9"/>
          <p:cNvSpPr/>
          <p:nvPr/>
        </p:nvSpPr>
        <p:spPr>
          <a:xfrm>
            <a:off x="777240" y="4142231"/>
            <a:ext cx="10698480" cy="20574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06823"/>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654295"/>
            <a:ext cx="10241280" cy="1005841"/>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sector_agg.py script producing a flat, renamed one-row-per-sector summary table exported to sector_summary.csv.</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Multi-Metric Aggregation by Employment Sector with .agg()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lab-47-sector-aggregation &amp;&amp; cd lab-47-sector-aggregation &amp;&amp; uv add pandas</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in df_finance.csv.</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19" name="Rectangle 18"/>
          <p:cNvSpPr/>
          <p:nvPr/>
        </p:nvSpPr>
        <p:spPr>
          <a:xfrm>
            <a:off x="777240" y="315468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0040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0040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a single-metric baseline: mean Annual_Income by Employment_Sector.</a:t>
            </a:r>
          </a:p>
        </p:txBody>
      </p:sp>
      <p:sp>
        <p:nvSpPr>
          <p:cNvPr id="23" name="Rectangle 22"/>
          <p:cNvSpPr/>
          <p:nvPr/>
        </p:nvSpPr>
        <p:spPr>
          <a:xfrm>
            <a:off x="7452360" y="3209544"/>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09544"/>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print(d.groupby('Employment_Sector')['Annual_Income'].mean().round(2))"</a:t>
            </a:r>
          </a:p>
        </p:txBody>
      </p:sp>
      <p:sp>
        <p:nvSpPr>
          <p:cNvPr id="25" name="Rectangle 24"/>
          <p:cNvSpPr/>
          <p:nvPr/>
        </p:nvSpPr>
        <p:spPr>
          <a:xfrm>
            <a:off x="777240" y="3630168"/>
            <a:ext cx="10634472" cy="1618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2291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2910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666744"/>
            <a:ext cx="9692640" cy="15453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with the slide-137 brief: "Using pandas on a DataFrame named df_finance, group the data by Employment_Sector and perform a multi-metric aggregation with .agg(): calculate the mean, median and standard deviation for Annual_Income, and the mean for Credit_Score and Years_at_Job. Flatten the resulting MultiIndex columns and rename them to Avg_Income, Median_Income, Income_Std_Dev, Avg_Credit_Score and Avg_Tenure_Years. Round to 2 decimals, sort by Avg_Income descending and export to sector_summary.csv."</a:t>
            </a:r>
          </a:p>
        </p:txBody>
      </p:sp>
      <p:sp>
        <p:nvSpPr>
          <p:cNvPr id="29" name="Rectangle 28"/>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376672"/>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answer as sector_agg.py and review the .agg() dictionary — confirm it maps each column to its list of functions.</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how the MultiIndex is flattened: it should join the tuple levels, e.g. ['_'.join(c) for c in df.columns].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Multi-Metric Aggregation by Employment Sector with .agg()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655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655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a:t>
            </a:r>
          </a:p>
        </p:txBody>
      </p:sp>
      <p:sp>
        <p:nvSpPr>
          <p:cNvPr id="11" name="Rectangle 10"/>
          <p:cNvSpPr/>
          <p:nvPr/>
        </p:nvSpPr>
        <p:spPr>
          <a:xfrm>
            <a:off x="7452360" y="229240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9240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sector_agg.py</a:t>
            </a:r>
          </a:p>
        </p:txBody>
      </p:sp>
      <p:sp>
        <p:nvSpPr>
          <p:cNvPr id="13" name="Rectangle 12"/>
          <p:cNvSpPr/>
          <p:nvPr/>
        </p:nvSpPr>
        <p:spPr>
          <a:xfrm>
            <a:off x="777240" y="3039465"/>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013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013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76041"/>
            <a:ext cx="58064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flattened column names are exactly the five required names.</a:t>
            </a:r>
          </a:p>
        </p:txBody>
      </p:sp>
      <p:sp>
        <p:nvSpPr>
          <p:cNvPr id="17" name="Rectangle 16"/>
          <p:cNvSpPr/>
          <p:nvPr/>
        </p:nvSpPr>
        <p:spPr>
          <a:xfrm>
            <a:off x="7452360" y="312816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12816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print(list(pd.read_csv('sector_summary.csv').columns))"</a:t>
            </a:r>
          </a:p>
        </p:txBody>
      </p:sp>
      <p:sp>
        <p:nvSpPr>
          <p:cNvPr id="19" name="Rectangle 18"/>
          <p:cNvSpPr/>
          <p:nvPr/>
        </p:nvSpPr>
        <p:spPr>
          <a:xfrm>
            <a:off x="777240" y="3875226"/>
            <a:ext cx="10634472" cy="14886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440923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40923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911802"/>
            <a:ext cx="5806440" cy="14154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Cross-check one cell by hand: recompute Income_Std_Dev for the Banking sector independently.</a:t>
            </a:r>
          </a:p>
        </p:txBody>
      </p:sp>
      <p:sp>
        <p:nvSpPr>
          <p:cNvPr id="23" name="Rectangle 22"/>
          <p:cNvSpPr/>
          <p:nvPr/>
        </p:nvSpPr>
        <p:spPr>
          <a:xfrm>
            <a:off x="7452360" y="4336083"/>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4336083"/>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print(d[d.Employment_Sector=='Banking']['Annual_Income'].std().round(2))"</a:t>
            </a:r>
          </a:p>
        </p:txBody>
      </p:sp>
      <p:sp>
        <p:nvSpPr>
          <p:cNvPr id="25" name="Rectangle 24"/>
          <p:cNvSpPr/>
          <p:nvPr/>
        </p:nvSpPr>
        <p:spPr>
          <a:xfrm>
            <a:off x="777240" y="5455309"/>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6171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171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491885"/>
            <a:ext cx="96926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why does a high Income_Std_Dev within a sector matter more to a lender than the sector's mean income?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Multi-Metric Aggregation by Employment Sector with .agg()</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sector_summary.csv has one row per Employment_Sector, exactly the five renamed columns plus the sector key, and no MultiIndex or tuple-shaped headers remain.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Pivot Table of Debt-to-Income Ratio and Matplotlib Visualisation</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48</a:t>
            </a:r>
          </a:p>
        </p:txBody>
      </p:sp>
      <p:sp>
        <p:nvSpPr>
          <p:cNvPr id="9" name="TextBox 8"/>
          <p:cNvSpPr txBox="1"/>
          <p:nvPr/>
        </p:nvSpPr>
        <p:spPr>
          <a:xfrm>
            <a:off x="777240" y="2752344"/>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builds the reference slide 139 pivot table — average Debt_to_Income_Ratio indexed by Education with Marital_Status as columns, rounded to 3 decimals — then turns the Topic 7 aggregations into three matplotlib charts: a bar chart of average income by sector, a line chart of approval rate across credit-score bands, and a histogram of the Debt_to_Income_Ratio distribution. All charts are saved as PNG for the dashboard.</a:t>
            </a:r>
          </a:p>
        </p:txBody>
      </p:sp>
      <p:sp>
        <p:nvSpPr>
          <p:cNvPr id="10" name="Rectangle 9"/>
          <p:cNvSpPr/>
          <p:nvPr/>
        </p:nvSpPr>
        <p:spPr>
          <a:xfrm>
            <a:off x="777240" y="4142231"/>
            <a:ext cx="10698480" cy="20574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06823"/>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654295"/>
            <a:ext cx="10241280" cy="1005841"/>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pivot_and_charts.py script writing dti_pivot.csv plus chart_income_by_sector.png, chart_approval_by_score.png and chart_dti_distribution.png.</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matplotlib,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Pivot Table of Debt-to-Income Ratio and Matplotlib Visualisation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 and matplotlib.</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lab-48-pivot-and-charts &amp;&amp; cd lab-48-pivot-and-charts &amp;&amp; uv add pandas matplotlib</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in df_finance.csv.</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19" name="Rectangle 18"/>
          <p:cNvSpPr/>
          <p:nvPr/>
        </p:nvSpPr>
        <p:spPr>
          <a:xfrm>
            <a:off x="777240" y="315468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0040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0040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the slide-139 pivot table.</a:t>
            </a:r>
          </a:p>
        </p:txBody>
      </p:sp>
      <p:sp>
        <p:nvSpPr>
          <p:cNvPr id="23" name="Rectangle 22"/>
          <p:cNvSpPr/>
          <p:nvPr/>
        </p:nvSpPr>
        <p:spPr>
          <a:xfrm>
            <a:off x="7452360" y="3209544"/>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09544"/>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d=pd.read_csv('df_finance.csv'); print(pd.pivot_table(d, values='Debt_to_Income_Ratio', index='Education', columns='Marital_Status', aggfunc='mean').round(3))"</a:t>
            </a:r>
          </a:p>
        </p:txBody>
      </p:sp>
      <p:sp>
        <p:nvSpPr>
          <p:cNvPr id="25" name="Rectangle 24"/>
          <p:cNvSpPr/>
          <p:nvPr/>
        </p:nvSpPr>
        <p:spPr>
          <a:xfrm>
            <a:off x="777240" y="363016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67588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67588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66674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margins=True to get the row and column averages, and confirm the grand mean matches d['Debt_to_Income_Ratio'].mean().</a:t>
            </a:r>
          </a:p>
        </p:txBody>
      </p:sp>
      <p:sp>
        <p:nvSpPr>
          <p:cNvPr id="29" name="Rectangle 28"/>
          <p:cNvSpPr/>
          <p:nvPr/>
        </p:nvSpPr>
        <p:spPr>
          <a:xfrm>
            <a:off x="777240" y="4105656"/>
            <a:ext cx="10634472" cy="13551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57291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57291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142232"/>
            <a:ext cx="9692640" cy="128198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"Using pandas and matplotlib on df_finance, produce three saved PNG charts: (1) a horizontal bar chart of mean Annual_Income by Employment_Sector sorted descending, (2) a line chart of the Approved rate across Credit_Score bands created with pd.cut into 50-point bins, and (3) a histogram with 30 bins of Debt_to_Income_Ratio with a vertical dashed line at the mean. Give every chart a title, axis labels with units, and use plt.tight_layout() before savefig at dpi=150."</a:t>
            </a:r>
          </a:p>
        </p:txBody>
      </p:sp>
      <p:sp>
        <p:nvSpPr>
          <p:cNvPr id="33" name="Rectangle 32"/>
          <p:cNvSpPr/>
          <p:nvPr/>
        </p:nvSpPr>
        <p:spPr>
          <a:xfrm>
            <a:off x="777240" y="5552237"/>
            <a:ext cx="10634472" cy="6473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66562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6562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588813"/>
            <a:ext cx="9692640" cy="57424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pivot_and_charts.py and review: confirm matplotlib uses a non-interactive backend (matplotlib.use('Agg')) so it runs headless.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Pivot Table of Debt-to-Income Ratio and Matplotlib Visualisation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655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655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a:t>
            </a:r>
          </a:p>
        </p:txBody>
      </p:sp>
      <p:sp>
        <p:nvSpPr>
          <p:cNvPr id="11" name="Rectangle 10"/>
          <p:cNvSpPr/>
          <p:nvPr/>
        </p:nvSpPr>
        <p:spPr>
          <a:xfrm>
            <a:off x="7452360" y="229240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9240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pivot_and_charts.py</a:t>
            </a:r>
          </a:p>
        </p:txBody>
      </p:sp>
      <p:sp>
        <p:nvSpPr>
          <p:cNvPr id="13" name="Rectangle 12"/>
          <p:cNvSpPr/>
          <p:nvPr/>
        </p:nvSpPr>
        <p:spPr>
          <a:xfrm>
            <a:off x="777240" y="3039465"/>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013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013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76041"/>
            <a:ext cx="58064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all four output files exist.</a:t>
            </a:r>
          </a:p>
        </p:txBody>
      </p:sp>
      <p:sp>
        <p:nvSpPr>
          <p:cNvPr id="17" name="Rectangle 16"/>
          <p:cNvSpPr/>
          <p:nvPr/>
        </p:nvSpPr>
        <p:spPr>
          <a:xfrm>
            <a:off x="7452360" y="3128161"/>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128161"/>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ls -la dti_pivot.csv chart_*.png</a:t>
            </a:r>
          </a:p>
        </p:txBody>
      </p:sp>
      <p:sp>
        <p:nvSpPr>
          <p:cNvPr id="19" name="Rectangle 18"/>
          <p:cNvSpPr/>
          <p:nvPr/>
        </p:nvSpPr>
        <p:spPr>
          <a:xfrm>
            <a:off x="777240" y="3875226"/>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403707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03707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911802"/>
            <a:ext cx="96926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Open each PNG and check it is readable: are the axis labels present and is the sector bar chart actually sorted?</a:t>
            </a:r>
          </a:p>
        </p:txBody>
      </p:sp>
      <p:sp>
        <p:nvSpPr>
          <p:cNvPr id="23" name="Rectangle 22"/>
          <p:cNvSpPr/>
          <p:nvPr/>
        </p:nvSpPr>
        <p:spPr>
          <a:xfrm>
            <a:off x="777240" y="4710987"/>
            <a:ext cx="10634472" cy="14886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2449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2449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747563"/>
            <a:ext cx="9692640" cy="14154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which of the three chart types best supports a credit-policy decision, and why is a distribution more honest than a single average?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Pivot Table of Debt-to-Income Ratio and Matplotlib Visualisation</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dti_pivot.csv contains one row per Education level and one column per Marital_Status with all values rounded to 3 decimals, and the three PNG files open with titles and labelled axes.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1 — Portfolio &amp; Loan Analytics App Shell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49</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Streamlit capstone STARTS here. The learner creates the app project, writes app.py, and builds the shell of the 'Portfolio &amp; Loan Analytics' dashboard: page config, a cached data loader for df_finance.csv, a sidebar with multiselect filters for Employment_Sector, Region and Loan_Status, and a row of four KPI metric cards (Total Applications, Approval Rate, Average Annual Income, Average Debt-to-Income Ratio) that all recompute live as the filters change. This same app.py is extended in labs 50, 61 and 62.</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Streamlit project with app.py serving the filtered KPI dashboard at localhost:8501.</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Streamlit,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1 — Portfolio &amp; Loan Analytics App Shell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325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41141" cy="34114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41141" cy="34114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594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capstone project — keep this folder, labs 50, 61 and 62 all extend it.</a:t>
            </a:r>
          </a:p>
        </p:txBody>
      </p:sp>
      <p:sp>
        <p:nvSpPr>
          <p:cNvPr id="11" name="Rectangle 10"/>
          <p:cNvSpPr/>
          <p:nvPr/>
        </p:nvSpPr>
        <p:spPr>
          <a:xfrm>
            <a:off x="7452360" y="2258568"/>
            <a:ext cx="3886200" cy="3228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228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loan-analytics-app &amp;&amp; cd loan-analytics-app</a:t>
            </a:r>
          </a:p>
        </p:txBody>
      </p:sp>
      <p:sp>
        <p:nvSpPr>
          <p:cNvPr id="13" name="Rectangle 12"/>
          <p:cNvSpPr/>
          <p:nvPr/>
        </p:nvSpPr>
        <p:spPr>
          <a:xfrm>
            <a:off x="777240" y="2727725"/>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7344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73445"/>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64301"/>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Streamlit and the data libraries.</a:t>
            </a:r>
          </a:p>
        </p:txBody>
      </p:sp>
      <p:sp>
        <p:nvSpPr>
          <p:cNvPr id="17" name="Rectangle 16"/>
          <p:cNvSpPr/>
          <p:nvPr/>
        </p:nvSpPr>
        <p:spPr>
          <a:xfrm>
            <a:off x="7452360" y="2782589"/>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82589"/>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add streamlit pandas matplotlib</a:t>
            </a:r>
          </a:p>
        </p:txBody>
      </p:sp>
      <p:sp>
        <p:nvSpPr>
          <p:cNvPr id="19" name="Rectangle 18"/>
          <p:cNvSpPr/>
          <p:nvPr/>
        </p:nvSpPr>
        <p:spPr>
          <a:xfrm>
            <a:off x="777240" y="3203213"/>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4893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48933"/>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239789"/>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df_finance.csv from lab 43 into the app folder.</a:t>
            </a:r>
          </a:p>
        </p:txBody>
      </p:sp>
      <p:sp>
        <p:nvSpPr>
          <p:cNvPr id="23" name="Rectangle 22"/>
          <p:cNvSpPr/>
          <p:nvPr/>
        </p:nvSpPr>
        <p:spPr>
          <a:xfrm>
            <a:off x="7452360" y="3258077"/>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58077"/>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25" name="Rectangle 24"/>
          <p:cNvSpPr/>
          <p:nvPr/>
        </p:nvSpPr>
        <p:spPr>
          <a:xfrm>
            <a:off x="777240" y="3678701"/>
            <a:ext cx="10634472" cy="152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22909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22909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715277"/>
            <a:ext cx="9692640" cy="144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"Write a Streamlit app.py titled 'Portfolio &amp; Loan Analytics'. Use st.set_page_config with a wide layout. Add a load_data() function decorated with @st.cache_data that reads df_finance.csv. In the sidebar add three st.multiselect filters for Employment_Sector, Region and Loan_Status, each defaulting to all values. Filter the DataFrame by all three selections, then display four st.metric cards in st.columns(4): Total Applications, Approval Rate as a percentage, Average Annual Income formatted as SGD with thousands separators, and Average Debt-to-Income Ratio to 3 decimals. Show the filtered table below with st.dataframe."</a:t>
            </a:r>
          </a:p>
        </p:txBody>
      </p:sp>
      <p:sp>
        <p:nvSpPr>
          <p:cNvPr id="29" name="Rectangle 28"/>
          <p:cNvSpPr/>
          <p:nvPr/>
        </p:nvSpPr>
        <p:spPr>
          <a:xfrm>
            <a:off x="777240" y="5291562"/>
            <a:ext cx="10634472" cy="4325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5337282"/>
            <a:ext cx="341142" cy="34114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337282"/>
            <a:ext cx="341142" cy="341142"/>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5328138"/>
            <a:ext cx="9692640" cy="35943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answer as app.py — this is THE file every remaining capstone lab edits. Read it and confirm @st.cache_data is on the loader and the filter is applied before the metrics are computed.</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app.</a:t>
            </a:r>
          </a:p>
        </p:txBody>
      </p:sp>
      <p:sp>
        <p:nvSpPr>
          <p:cNvPr id="37" name="Rectangle 36"/>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streamlit run app.py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1 — Portfolio &amp; Loan Analytics App Shell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352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352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Open http://localhost:8501 and change one sidebar filter — verify all four metric cards update.</a:t>
            </a:r>
          </a:p>
        </p:txBody>
      </p:sp>
      <p:sp>
        <p:nvSpPr>
          <p:cNvPr id="11" name="Rectangle 10"/>
          <p:cNvSpPr/>
          <p:nvPr/>
        </p:nvSpPr>
        <p:spPr>
          <a:xfrm>
            <a:off x="777240" y="2915412"/>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0152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152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951988"/>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Set the Loan_Status filter to Approved only and confirm the Approval Rate card reads 100%.</a:t>
            </a:r>
          </a:p>
        </p:txBody>
      </p:sp>
      <p:sp>
        <p:nvSpPr>
          <p:cNvPr id="15" name="Rectangle 14"/>
          <p:cNvSpPr/>
          <p:nvPr/>
        </p:nvSpPr>
        <p:spPr>
          <a:xfrm>
            <a:off x="777240" y="3627120"/>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03707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3707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3663696"/>
            <a:ext cx="96926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Clear all values from one filter and confirm the app shows a friendly empty-state message rather than crashing; add an if filtered.empty: st.warning(...) guard if it does not.</a:t>
            </a:r>
          </a:p>
        </p:txBody>
      </p:sp>
      <p:sp>
        <p:nvSpPr>
          <p:cNvPr id="19" name="Rectangle 18"/>
          <p:cNvSpPr/>
          <p:nvPr/>
        </p:nvSpPr>
        <p:spPr>
          <a:xfrm>
            <a:off x="777240" y="4959096"/>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53690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690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2" name="TextBox 21"/>
          <p:cNvSpPr txBox="1"/>
          <p:nvPr/>
        </p:nvSpPr>
        <p:spPr>
          <a:xfrm>
            <a:off x="1481328" y="4995672"/>
            <a:ext cx="58064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Commit or note the file structure — labs 50, 61 and 62 add to this exact app.py.</a:t>
            </a:r>
          </a:p>
        </p:txBody>
      </p:sp>
      <p:sp>
        <p:nvSpPr>
          <p:cNvPr id="23" name="Rectangle 22"/>
          <p:cNvSpPr/>
          <p:nvPr/>
        </p:nvSpPr>
        <p:spPr>
          <a:xfrm>
            <a:off x="7452360" y="529590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529590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ls -la app.py df_finance.csv pyproject.toml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1 — Portfolio &amp; Loan Analytics App Shell</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app loads at localhost:8501; selecting a single Employment_Sector changes Total Applications to that sector's row count, and clearing a filter shows a warning instead of a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2 — Charts and Pivot Tab in the Dashboard</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50</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EXTENDS the same app.py from lab 49, adding st.tabs with three tabs: 'Sector Analysis' (bar chart of mean Annual_Income by Employment_Sector plus the .agg() sector summary table from lab 47), 'Loan Mix' (grouped bar chart of Loan_Type by Loan_Status counts), and 'Risk Pivot' (an interactive pivot table where the user chooses the index and column dimensions from selectboxes and sees average Debt_to_Income_Ratio, rendered with a background gradient). All charts respect the sidebar filters.</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An extended app.py with a three-tab analytics section: sector charts, loan mix, and a user-configurable risk pivot.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Streamlit, pandas, matplotlib,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2 — Charts and Pivot Tab in the Dashboard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Return to the capstone app folder from lab 49 — do NOT create a new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cd loan-analytics-app</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the lab 49 app still runs before changing anything.</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streamlit run app.py</a:t>
            </a:r>
          </a:p>
        </p:txBody>
      </p:sp>
      <p:sp>
        <p:nvSpPr>
          <p:cNvPr id="19" name="Rectangle 18"/>
          <p:cNvSpPr/>
          <p:nvPr/>
        </p:nvSpPr>
        <p:spPr>
          <a:xfrm>
            <a:off x="777240" y="3154680"/>
            <a:ext cx="10634472" cy="1618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5361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5361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9692640" cy="15453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"Extend this existing Streamlit app.py. Below the KPI metric cards add st.tabs(['Sector Analysis','Loan Mix','Risk Pivot']). In Sector Analysis, show a matplotlib horizontal bar chart of mean Annual_Income by Employment_Sector from the filtered DataFrame via st.pyplot, plus the multi-metric .agg() table with Avg_Income, Median_Income, Income_Std_Dev, Avg_Credit_Score, Avg_Tenure_Years. In Loan Mix, show a grouped bar chart of application counts by Loan_Type and Loan_Status. In Risk Pivot, add two st.selectbox controls letting the user pick the pivot index and columns from Education, Marital_Status, Region and Gender, then display pivot_table of mean Debt_to_Income_Ratio styled with a background gradient. Keep the existing sidebar filters and metric cards unchanged."</a:t>
            </a:r>
          </a:p>
        </p:txBody>
      </p:sp>
      <p:sp>
        <p:nvSpPr>
          <p:cNvPr id="23" name="Rectangle 22"/>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Paste the generated tabs into app.py under the metric-card row. Verify the existing filter and KPI code is untouched.</a:t>
            </a:r>
          </a:p>
        </p:txBody>
      </p:sp>
      <p:sp>
        <p:nvSpPr>
          <p:cNvPr id="27" name="Rectangle 26"/>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Re-run the app.</a:t>
            </a:r>
          </a:p>
        </p:txBody>
      </p:sp>
      <p:sp>
        <p:nvSpPr>
          <p:cNvPr id="31" name="Rectangle 30"/>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streamlit run app.py</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Click through all three tabs and confirm each renders without error.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2 — Charts and Pivot Tab in the Dashboard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6136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36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Change a sidebar filter and confirm the charts in every tab redraw with the filtered subset — this proves the filter is applied upstream of the tabs.</a:t>
            </a:r>
          </a:p>
        </p:txBody>
      </p:sp>
      <p:sp>
        <p:nvSpPr>
          <p:cNvPr id="11" name="Rectangle 10"/>
          <p:cNvSpPr/>
          <p:nvPr/>
        </p:nvSpPr>
        <p:spPr>
          <a:xfrm>
            <a:off x="777240" y="3535680"/>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63550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3550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572256"/>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 the Risk Pivot tab, set index=Education and columns=Marital_Status and check the numbers match dti_pivot.csv from lab 48.</a:t>
            </a:r>
          </a:p>
        </p:txBody>
      </p:sp>
      <p:sp>
        <p:nvSpPr>
          <p:cNvPr id="15" name="Rectangle 14"/>
          <p:cNvSpPr/>
          <p:nvPr/>
        </p:nvSpPr>
        <p:spPr>
          <a:xfrm>
            <a:off x="777240" y="4247388"/>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65734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5734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283964"/>
            <a:ext cx="96926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Guard against a pivot with an empty filtered frame — wrap the pivot in a try/except or an .empty check so the tab shows a message instead of an exception.</a:t>
            </a:r>
          </a:p>
        </p:txBody>
      </p:sp>
      <p:sp>
        <p:nvSpPr>
          <p:cNvPr id="19" name="Rectangle 18"/>
          <p:cNvSpPr/>
          <p:nvPr/>
        </p:nvSpPr>
        <p:spPr>
          <a:xfrm>
            <a:off x="777240" y="5579364"/>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567918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7918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2" name="TextBox 21"/>
          <p:cNvSpPr txBox="1"/>
          <p:nvPr/>
        </p:nvSpPr>
        <p:spPr>
          <a:xfrm>
            <a:off x="1481328" y="5615940"/>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what does moving from a static PNG chart to a Streamlit app change about who in the bank can use this analysis?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2 — Charts and Pivot Tab in the Dashboard</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three tabs render under any filter combination; the Risk Pivot values for Education x Marital_Status match the lab 48 pivot to 3 decimals when no filters are applied.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Aggregate and Visualize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LO6: Aggregate and visualise financial data — build the credit-loan dataset that every Topic 7 lab aggregates.</a:t>
            </a:r>
          </a:p>
          <a:p>
            <a:pPr>
              <a:spcAft>
                <a:spcPts val="1000"/>
              </a:spcAft>
            </a:pPr>
            <a:r>
              <a:rPr sz="1700" b="0">
                <a:solidFill>
                  <a:srgbClr val="161B26"/>
                </a:solidFill>
                <a:latin typeface="Arial"/>
              </a:rPr>
              <a:t>•  You can now: LO6: Combine prices, fundamentals and customer records into one analysis-ready frame using concat and merge.</a:t>
            </a:r>
          </a:p>
          <a:p>
            <a:pPr>
              <a:spcAft>
                <a:spcPts val="1000"/>
              </a:spcAft>
            </a:pPr>
            <a:r>
              <a:rPr sz="1700" b="0">
                <a:solidFill>
                  <a:srgbClr val="161B26"/>
                </a:solidFill>
                <a:latin typeface="Arial"/>
              </a:rPr>
              <a:t>•  You can now: LO6: Aggregate financial data with groupby across one and multiple grouping keys.</a:t>
            </a:r>
          </a:p>
          <a:p>
            <a:pPr>
              <a:spcAft>
                <a:spcPts val="1000"/>
              </a:spcAft>
            </a:pPr>
            <a:r>
              <a:rPr sz="1700" b="0">
                <a:solidFill>
                  <a:srgbClr val="161B26"/>
                </a:solidFill>
                <a:latin typeface="Arial"/>
              </a:rPr>
              <a:t>•  You can now: LO6: Aggregate categorical loan data into counts and approval rates with groupby and crosstab.</a:t>
            </a:r>
          </a:p>
          <a:p>
            <a:pPr>
              <a:spcAft>
                <a:spcPts val="1000"/>
              </a:spcAft>
            </a:pPr>
            <a:r>
              <a:rPr sz="1700" b="0">
                <a:solidFill>
                  <a:srgbClr val="161B26"/>
                </a:solidFill>
                <a:latin typeface="Arial"/>
              </a:rPr>
              <a:t>•  You can now: LO6: Perform multi-metric aggregation, flatten MultiIndex columns and produce a board-ready sector table.</a:t>
            </a:r>
          </a:p>
          <a:p>
            <a:pPr>
              <a:spcAft>
                <a:spcPts val="1000"/>
              </a:spcAft>
            </a:pPr>
            <a:r>
              <a:rPr sz="1700" b="0">
                <a:solidFill>
                  <a:srgbClr val="161B26"/>
                </a:solidFill>
                <a:latin typeface="Arial"/>
              </a:rPr>
              <a:t>•  You can now: LO6: Cross-tabulate a risk metric with pivot_table and visualise aggregations as bar, line and distribution charts.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DAY 3 COMPLETE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End of Day 3</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today's labs and bring your questions to tomorrow morning.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START OF DAY 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Day 4</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Object-Oriented Finance and Analysis — OOP, apply/pipe, capstone and assessment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DIGITAL ATTENDANCE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It is mandatory to take the AM, PM and Assessment digital attendance for this funded course.</a:t>
            </a:r>
          </a:p>
          <a:p>
            <a:pPr>
              <a:spcAft>
                <a:spcPts val="1000"/>
              </a:spcAft>
            </a:pPr>
            <a:r>
              <a:rPr sz="2000" b="0">
                <a:solidFill>
                  <a:srgbClr val="161B26"/>
                </a:solidFill>
                <a:latin typeface="Arial"/>
              </a:rPr>
              <a:t>•  The trainer/administrator displays the digital attendance QR code from the training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IBF-STS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Object Oriented Programming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Classes and objects · Methods and overloading · Initializer and destructor · Inheritance · Polymorphism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8%</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Object Oriented Programming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A class is the blueprint of an object, bundling data (attributes) with behaviour (methods).</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An object is an instance of a class — one Stock object per holding in a portfolio.</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The initializer __init__ sets up an instance's state; the destructor releases resources.</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Inheritance lets an Equity or Bond class extend a common Instrument class without duplicating code.</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Polymorphism allows one valuation call to behave correctly for every instrument type.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Object Oriented Programming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51–52</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Build a Stock Class — Attributes, Methods and __init__</a:t>
            </a:r>
          </a:p>
          <a:p>
            <a:pPr>
              <a:spcAft>
                <a:spcPts val="900"/>
              </a:spcAft>
            </a:pPr>
            <a:r>
              <a:rPr sz="1400" b="0">
                <a:solidFill>
                  <a:srgbClr val="161B26"/>
                </a:solidFill>
                <a:latin typeface="Arial"/>
              </a:rPr>
              <a:t>•  A Portfolio Class Holding Many Stock Objects</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53–54</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Dunder Methods — __str__, __repr__, __len__ and __add__ to Combine Portfolios</a:t>
            </a:r>
          </a:p>
          <a:p>
            <a:pPr>
              <a:spcAft>
                <a:spcPts val="900"/>
              </a:spcAft>
            </a:pPr>
            <a:r>
              <a:rPr sz="1400" b="0">
                <a:solidFill>
                  <a:srgbClr val="161B26"/>
                </a:solidFill>
                <a:latin typeface="Arial"/>
              </a:rPr>
              <a:t>•  Inheritance — an Instrument Base Class with Equity and Bond Subclasses</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55–56</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Polymorphism — One .value() Call Across a Mixed Instrument Book</a:t>
            </a:r>
          </a:p>
          <a:p>
            <a:pPr>
              <a:spcAft>
                <a:spcPts val="900"/>
              </a:spcAft>
            </a:pPr>
            <a:r>
              <a:rPr sz="1400" b="0">
                <a:solidFill>
                  <a:srgbClr val="161B26"/>
                </a:solidFill>
                <a:latin typeface="Arial"/>
              </a:rPr>
              <a:t>•  StockTechnicalAnalyzer — an OOP Class Computing SMA, RSI and BUY/SELL Signals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Build a Stock Class — Attributes, Methods and __init__</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51</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writes the first finance class: Stock. Instance attributes (ticker, name, sector, shares, buy_price, current_price) are set in the __init__ initializer, and methods add behaviour — market_value(), cost_basis(), unrealised_pnl() and pnl_percent(). The lab contrasts a class attribute (a shared CURRENCY = 'SGD') with instance attributes, and shows why every holding needs its own state.</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stock.py module defining the Stock class with four financial methods, plus a demo creating three holdings.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Build a Stock Class — Attributes, Methods and __init__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lab-51-stock-class &amp;&amp; cd lab-51-stock-class</a:t>
            </a:r>
          </a:p>
        </p:txBody>
      </p:sp>
      <p:sp>
        <p:nvSpPr>
          <p:cNvPr id="13" name="Rectangle 12"/>
          <p:cNvSpPr/>
          <p:nvPr/>
        </p:nvSpPr>
        <p:spPr>
          <a:xfrm>
            <a:off x="777240" y="2679192"/>
            <a:ext cx="10634472" cy="51871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823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823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44556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minimal class by hand first — class Stock with a class attribute CURRENCY = 'SGD' and a method describe() — to see the blueprint-versus-instance distinction before adding __init__.</a:t>
            </a:r>
          </a:p>
        </p:txBody>
      </p:sp>
      <p:sp>
        <p:nvSpPr>
          <p:cNvPr id="17" name="Rectangle 16"/>
          <p:cNvSpPr/>
          <p:nvPr/>
        </p:nvSpPr>
        <p:spPr>
          <a:xfrm>
            <a:off x="777240" y="3289346"/>
            <a:ext cx="10634472" cy="14838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82094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2094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325922"/>
            <a:ext cx="9692640" cy="141067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"Write a Python class Stock for a portfolio holding. The __init__ initializer takes ticker, name, sector, shares, buy_price and current_price and stores them as instance attributes, with a class attribute CURRENCY = 'SGD'. Add methods market_value() returning shares * current_price, cost_basis() returning shares * buy_price, unrealised_pnl() returning market_value minus cost_basis, and pnl_percent() returning the P&amp;L as a percentage of cost basis guarding against a zero cost basis. Add a describe() method printing a formatted one-line summary with the currency."</a:t>
            </a:r>
          </a:p>
        </p:txBody>
      </p:sp>
      <p:sp>
        <p:nvSpPr>
          <p:cNvPr id="21" name="Rectangle 20"/>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answer as stock.py. Read it and confirm every method takes self as its first parameter and reads attributes via self.</a:t>
            </a:r>
          </a:p>
        </p:txBody>
      </p:sp>
      <p:sp>
        <p:nvSpPr>
          <p:cNvPr id="25" name="Rectangle 24"/>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three objects — instances of the same class with different state.</a:t>
            </a:r>
          </a:p>
        </p:txBody>
      </p:sp>
      <p:sp>
        <p:nvSpPr>
          <p:cNvPr id="29" name="Rectangle 28"/>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stock import Stock; s=Stock('D05','DBS Group','Banking',500,32.10,38.40); print(s.market_value(), s.unrealised_pnl(), round(s.pnl_percent(),2))"</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instance independence: create two Stock objects, change current_price on one, and confirm the other is unaffected.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Build a Stock Class — Attributes, Methods and __init__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352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352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the class attribute is shared: print Stock.CURRENCY and s.CURRENCY and confirm they are the same object.</a:t>
            </a:r>
          </a:p>
        </p:txBody>
      </p:sp>
      <p:sp>
        <p:nvSpPr>
          <p:cNvPr id="11" name="Rectangle 10"/>
          <p:cNvSpPr/>
          <p:nvPr/>
        </p:nvSpPr>
        <p:spPr>
          <a:xfrm>
            <a:off x="777240" y="2915412"/>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3253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253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951988"/>
            <a:ext cx="58064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zero-cost-basis guard by creating a Stock with buy_price=0 and calling pnl_percent().</a:t>
            </a:r>
          </a:p>
        </p:txBody>
      </p:sp>
      <p:sp>
        <p:nvSpPr>
          <p:cNvPr id="15" name="Rectangle 14"/>
          <p:cNvSpPr/>
          <p:nvPr/>
        </p:nvSpPr>
        <p:spPr>
          <a:xfrm>
            <a:off x="7452360" y="325221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325221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stock import Stock; s=Stock('X','Test','Tech',10,0,5); print(s.pnl_percent())"</a:t>
            </a:r>
          </a:p>
        </p:txBody>
      </p:sp>
      <p:sp>
        <p:nvSpPr>
          <p:cNvPr id="17" name="Rectangle 16"/>
          <p:cNvSpPr/>
          <p:nvPr/>
        </p:nvSpPr>
        <p:spPr>
          <a:xfrm>
            <a:off x="777240" y="4247388"/>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65734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5734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83964"/>
            <a:ext cx="58064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a demo block under if __name__ == '__main__': that builds three holdings and prints each describe() line.</a:t>
            </a:r>
          </a:p>
        </p:txBody>
      </p:sp>
      <p:sp>
        <p:nvSpPr>
          <p:cNvPr id="21" name="Rectangle 20"/>
          <p:cNvSpPr/>
          <p:nvPr/>
        </p:nvSpPr>
        <p:spPr>
          <a:xfrm>
            <a:off x="7452360" y="458419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58419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stock.py</a:t>
            </a:r>
          </a:p>
        </p:txBody>
      </p:sp>
      <p:sp>
        <p:nvSpPr>
          <p:cNvPr id="23" name="Rectangle 22"/>
          <p:cNvSpPr/>
          <p:nvPr/>
        </p:nvSpPr>
        <p:spPr>
          <a:xfrm>
            <a:off x="777240" y="5579364"/>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67918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7918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615940"/>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what did wrapping price and shares in a class buy us over keeping parallel lists of tickers and prices?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Build a Stock Class — Attributes, Methods and __init__</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Three Stock objects report independent market values; pnl_percent() returns 0.0 (not a ZeroDivisionError) when buy_price is 0; Stock.CURRENCY is visible from every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 Portfolio Class Holding Many Stock Objects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52</a:t>
            </a:r>
          </a:p>
        </p:txBody>
      </p:sp>
      <p:sp>
        <p:nvSpPr>
          <p:cNvPr id="9" name="TextBox 8"/>
          <p:cNvSpPr txBox="1"/>
          <p:nvPr/>
        </p:nvSpPr>
        <p:spPr>
          <a:xfrm>
            <a:off x="777240" y="2276856"/>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builds a Portfolio class that holds a list of Stock objects (composition). Methods include add_holding(), total_value(), total_pnl(), weights() returning each holding's share of the book, sector_allocation() aggregating by sector, and top_holdings(n). The lab demonstrates why the Portfolio should never duplicate price data — it delegates to each Stock's own methods.</a:t>
            </a:r>
          </a:p>
        </p:txBody>
      </p:sp>
      <p:sp>
        <p:nvSpPr>
          <p:cNvPr id="10" name="Rectangle 9"/>
          <p:cNvSpPr/>
          <p:nvPr/>
        </p:nvSpPr>
        <p:spPr>
          <a:xfrm>
            <a:off x="777240" y="3666743"/>
            <a:ext cx="10698480" cy="25328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31335"/>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178807"/>
            <a:ext cx="10241280" cy="1481329"/>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portfolio.py module defining Portfolio, importing Stock from lab 51, with a demo book of six holdings.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 Portfolio Class Holding Many Stock Objects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1783080"/>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lab-52-portfolio-class &amp;&amp; cd lab-52-portfolio-class &amp;&amp; uv add pandas</a:t>
            </a:r>
          </a:p>
        </p:txBody>
      </p:sp>
      <p:sp>
        <p:nvSpPr>
          <p:cNvPr id="13" name="Rectangle 12"/>
          <p:cNvSpPr/>
          <p:nvPr/>
        </p:nvSpPr>
        <p:spPr>
          <a:xfrm>
            <a:off x="777240" y="2221077"/>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66797"/>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66797"/>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57653"/>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stock.py from lab 51 so Portfolio can import it.</a:t>
            </a:r>
          </a:p>
        </p:txBody>
      </p:sp>
      <p:sp>
        <p:nvSpPr>
          <p:cNvPr id="17" name="Rectangle 16"/>
          <p:cNvSpPr/>
          <p:nvPr/>
        </p:nvSpPr>
        <p:spPr>
          <a:xfrm>
            <a:off x="7452360" y="2275941"/>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75941"/>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../lab-51-stock-class/stock.py .</a:t>
            </a:r>
          </a:p>
        </p:txBody>
      </p:sp>
      <p:sp>
        <p:nvSpPr>
          <p:cNvPr id="19" name="Rectangle 18"/>
          <p:cNvSpPr/>
          <p:nvPr/>
        </p:nvSpPr>
        <p:spPr>
          <a:xfrm>
            <a:off x="777240" y="2713938"/>
            <a:ext cx="10634472" cy="20071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0718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0718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750514"/>
            <a:ext cx="9692640" cy="193395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"Write a Python class Portfolio that holds a list of Stock objects. __init__ takes an owner name and an optional list of holdings. Add add_holding(stock), total_value() summing each holding's market_value(), total_cost(), total_pnl(), weights() returning a dict of ticker to percentage of total_value, sector_allocation() returning a dict of sector to total market value, and top_holdings(n=3) returning the n largest holdings by market value. The Portfolio must call the Stock methods rather than recomputing prices itself."</a:t>
            </a:r>
          </a:p>
        </p:txBody>
      </p:sp>
      <p:sp>
        <p:nvSpPr>
          <p:cNvPr id="23" name="Rectangle 22"/>
          <p:cNvSpPr/>
          <p:nvPr/>
        </p:nvSpPr>
        <p:spPr>
          <a:xfrm>
            <a:off x="777240" y="4812486"/>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858206"/>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58206"/>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49062"/>
            <a:ext cx="96926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portfolio.py and review — confirm total_value() calls h.market_value() and does not re-implement shares * price.</a:t>
            </a:r>
          </a:p>
        </p:txBody>
      </p:sp>
      <p:sp>
        <p:nvSpPr>
          <p:cNvPr id="27" name="Rectangle 26"/>
          <p:cNvSpPr/>
          <p:nvPr/>
        </p:nvSpPr>
        <p:spPr>
          <a:xfrm>
            <a:off x="777240" y="5305347"/>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51067"/>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51067"/>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41923"/>
            <a:ext cx="96926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a six-stock demo book across at least three sectors.</a:t>
            </a:r>
          </a:p>
        </p:txBody>
      </p:sp>
      <p:sp>
        <p:nvSpPr>
          <p:cNvPr id="31" name="Rectangle 30"/>
          <p:cNvSpPr/>
          <p:nvPr/>
        </p:nvSpPr>
        <p:spPr>
          <a:xfrm>
            <a:off x="777240" y="5798208"/>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43928"/>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43928"/>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34784"/>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Print the book-level totals.</a:t>
            </a:r>
          </a:p>
        </p:txBody>
      </p:sp>
      <p:sp>
        <p:nvSpPr>
          <p:cNvPr id="35" name="Rectangle 34"/>
          <p:cNvSpPr/>
          <p:nvPr/>
        </p:nvSpPr>
        <p:spPr>
          <a:xfrm>
            <a:off x="7452360" y="5853072"/>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53072"/>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portfolio import build_demo; p=build_demo(); print(p.total_value(), p.total_pnl())"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 Portfolio Class Holding Many Stock Objects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6995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867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6766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6263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the weights sum to 100%.</a:t>
            </a:r>
          </a:p>
        </p:txBody>
      </p:sp>
      <p:sp>
        <p:nvSpPr>
          <p:cNvPr id="11" name="Rectangle 10"/>
          <p:cNvSpPr/>
          <p:nvPr/>
        </p:nvSpPr>
        <p:spPr>
          <a:xfrm>
            <a:off x="7452360" y="179451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9451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portfolio import build_demo; p=build_demo(); print(round(sum(p.weights().values()),6))"</a:t>
            </a:r>
          </a:p>
        </p:txBody>
      </p:sp>
      <p:sp>
        <p:nvSpPr>
          <p:cNvPr id="13" name="Rectangle 12"/>
          <p:cNvSpPr/>
          <p:nvPr/>
        </p:nvSpPr>
        <p:spPr>
          <a:xfrm>
            <a:off x="777240" y="2519172"/>
            <a:ext cx="10634472" cy="6995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65861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5861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55748"/>
            <a:ext cx="5806440" cy="6263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sector_allocation() totals equal total_value().</a:t>
            </a:r>
          </a:p>
        </p:txBody>
      </p:sp>
      <p:sp>
        <p:nvSpPr>
          <p:cNvPr id="17" name="Rectangle 16"/>
          <p:cNvSpPr/>
          <p:nvPr/>
        </p:nvSpPr>
        <p:spPr>
          <a:xfrm>
            <a:off x="7452360" y="258546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58546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portfolio.py</a:t>
            </a:r>
          </a:p>
        </p:txBody>
      </p:sp>
      <p:sp>
        <p:nvSpPr>
          <p:cNvPr id="19" name="Rectangle 18"/>
          <p:cNvSpPr/>
          <p:nvPr/>
        </p:nvSpPr>
        <p:spPr>
          <a:xfrm>
            <a:off x="777240" y="3310128"/>
            <a:ext cx="10634472" cy="13990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9933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9933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46704"/>
            <a:ext cx="9692640" cy="13258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Update one Stock's current_price and re-run total_value() — the Portfolio total must change with no Portfolio code touched. This is the payoff of delegation.</a:t>
            </a:r>
          </a:p>
        </p:txBody>
      </p:sp>
      <p:sp>
        <p:nvSpPr>
          <p:cNvPr id="23" name="Rectangle 22"/>
          <p:cNvSpPr/>
          <p:nvPr/>
        </p:nvSpPr>
        <p:spPr>
          <a:xfrm>
            <a:off x="777240" y="4800600"/>
            <a:ext cx="10634472" cy="13990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28980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28980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37176"/>
            <a:ext cx="9692640" cy="132588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composition (a Portfolio HAS Stocks) versus inheritance (an Equity IS an Instrument) — why is Portfolio the wrong place to use inheritance?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 Portfolio Class Holding Many Stock Objects</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weights() sums to 100.0; sum(sector_allocation().values()) equals total_value(); changing one Stock's current_price changes the Portfolio total without editing portfolio.py.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Dunder Methods — __str__, __repr__, __len__ and __add__ to Combine Portfolios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53</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adds Python's special (dunder) methods to Stock and Portfolio: __str__ for a human-readable holding line, __repr__ for the debugger-friendly form, __len__ so len(portfolio) returns the number of holdings, __getitem__ so a portfolio can be indexed and iterated, __eq__ to compare by ticker, and __add__ so two portfolios can be merged with the + operator — combining shares where the same ticker appears in both. This is operator overloading applied to a real fund-merger scenario.</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Enhanced stock.py and portfolio.py with six dunder methods, supporting print(), len(), iteration and portfolio_a + portfolio_b.</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Dunder Methods — __str__, __repr__, __len__ and __add__ to Combine Portfolios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copy the lab 52 modules.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lab-53-dunder-methods &amp;&amp; cd lab-53-dunder-methods &amp;&amp; cp ../lab-52-portfolio-class/*.py .</a:t>
            </a:r>
          </a:p>
        </p:txBody>
      </p:sp>
      <p:sp>
        <p:nvSpPr>
          <p:cNvPr id="13" name="Rectangle 12"/>
          <p:cNvSpPr/>
          <p:nvPr/>
        </p:nvSpPr>
        <p:spPr>
          <a:xfrm>
            <a:off x="777240" y="2679192"/>
            <a:ext cx="10634472" cy="5006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409194" cy="40919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409194" cy="40919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4274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Observe the default behaviour first: print a Stock object and note the unhelpful &lt;stock.Stock object at 0x...&gt; output.</a:t>
            </a:r>
          </a:p>
        </p:txBody>
      </p:sp>
      <p:sp>
        <p:nvSpPr>
          <p:cNvPr id="17" name="Rectangle 16"/>
          <p:cNvSpPr/>
          <p:nvPr/>
        </p:nvSpPr>
        <p:spPr>
          <a:xfrm>
            <a:off x="7452360" y="2734056"/>
            <a:ext cx="3886200" cy="39090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39090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stock import Stock; print(Stock('D05','DBS','Banking',500,32.10,38.40))"</a:t>
            </a:r>
          </a:p>
        </p:txBody>
      </p:sp>
      <p:sp>
        <p:nvSpPr>
          <p:cNvPr id="19" name="Rectangle 18"/>
          <p:cNvSpPr/>
          <p:nvPr/>
        </p:nvSpPr>
        <p:spPr>
          <a:xfrm>
            <a:off x="777240" y="3271266"/>
            <a:ext cx="10634472" cy="1385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5361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5361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307842"/>
            <a:ext cx="9692640" cy="1312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"Add dunder methods to these Stock and Portfolio classes. Stock gets __str__ returning 'D05 | DBS Group | 500 sh @ SGD 38.40 | MV 19,200.00 | P&amp;L +3,150.00', __repr__ returning Stock(ticker='D05', shares=500), and __eq__ comparing by ticker. Portfolio gets __len__ returning the number of holdings, __getitem__ so it can be indexed and iterated, __str__ returning a multi-line table of holdings with the total, and __add__ that merges two Portfolios into a new one, summing shares and recomputing a weighted average buy_price when the same ticker appears in both."</a:t>
            </a:r>
          </a:p>
        </p:txBody>
      </p:sp>
      <p:sp>
        <p:nvSpPr>
          <p:cNvPr id="23" name="Rectangle 22"/>
          <p:cNvSpPr/>
          <p:nvPr/>
        </p:nvSpPr>
        <p:spPr>
          <a:xfrm>
            <a:off x="777240" y="4748022"/>
            <a:ext cx="10634472" cy="5006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793742"/>
            <a:ext cx="409194" cy="40919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793742"/>
            <a:ext cx="409194" cy="40919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784598"/>
            <a:ext cx="9692640" cy="42748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generated dunder methods and read the __add__ implementation carefully — confirm it returns a NEW Portfolio and does not mutate either operand.</a:t>
            </a:r>
          </a:p>
        </p:txBody>
      </p:sp>
      <p:sp>
        <p:nvSpPr>
          <p:cNvPr id="27" name="Rectangle 26"/>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__str__ and __repr__.</a:t>
            </a:r>
          </a:p>
        </p:txBody>
      </p:sp>
      <p:sp>
        <p:nvSpPr>
          <p:cNvPr id="31" name="Rectangle 30"/>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stock import Stock; s=Stock('D05','DBS Group','Banking',500,32.10,38.40); print(str(s)); print(repr(s))"</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__len__ and iteration.</a:t>
            </a:r>
          </a:p>
        </p:txBody>
      </p:sp>
      <p:sp>
        <p:nvSpPr>
          <p:cNvPr id="37" name="Rectangle 36"/>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portfolio import build_demo; p=build_demo(); print(len(p)); [print(h.ticker) for h in p]"</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Dunder Methods — __str__, __repr__, __len__ and __add__ to Combine Portfolios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6136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36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two portfolios that share at least one ticker and merge them with the + operator.</a:t>
            </a:r>
          </a:p>
        </p:txBody>
      </p:sp>
      <p:sp>
        <p:nvSpPr>
          <p:cNvPr id="11" name="Rectangle 10"/>
          <p:cNvSpPr/>
          <p:nvPr/>
        </p:nvSpPr>
        <p:spPr>
          <a:xfrm>
            <a:off x="7452360" y="254050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54050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merge_demo.py</a:t>
            </a:r>
          </a:p>
        </p:txBody>
      </p:sp>
      <p:sp>
        <p:nvSpPr>
          <p:cNvPr id="13" name="Rectangle 12"/>
          <p:cNvSpPr/>
          <p:nvPr/>
        </p:nvSpPr>
        <p:spPr>
          <a:xfrm>
            <a:off x="777240" y="3535680"/>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63550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63550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572256"/>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merge conserves value: (a + b).total_value() must equal a.total_value() + b.total_value().</a:t>
            </a:r>
          </a:p>
        </p:txBody>
      </p:sp>
      <p:sp>
        <p:nvSpPr>
          <p:cNvPr id="17" name="Rectangle 16"/>
          <p:cNvSpPr/>
          <p:nvPr/>
        </p:nvSpPr>
        <p:spPr>
          <a:xfrm>
            <a:off x="777240" y="4247388"/>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34721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4721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83964"/>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neither operand was mutated — len(a) and len(b) are unchanged after the merge.</a:t>
            </a:r>
          </a:p>
        </p:txBody>
      </p:sp>
      <p:sp>
        <p:nvSpPr>
          <p:cNvPr id="21" name="Rectangle 20"/>
          <p:cNvSpPr/>
          <p:nvPr/>
        </p:nvSpPr>
        <p:spPr>
          <a:xfrm>
            <a:off x="777240" y="4959096"/>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3690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3690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95672"/>
            <a:ext cx="96926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when is operator overloading good design, and when does a + on a domain object become misleading to the next developer?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Dunder Methods — __str__, __repr__, __len__ and __add__ to Combine Portfolios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print(stock) shows the formatted line; len(portfolio) returns the holding count; (a + b).total_value() equals a.total_value() + b.total_value() and both a and b are unchanged.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Inheritance — an Instrument Base Class with Equity and Bond Subclasses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54</a:t>
            </a:r>
          </a:p>
        </p:txBody>
      </p:sp>
      <p:sp>
        <p:nvSpPr>
          <p:cNvPr id="9" name="TextBox 8"/>
          <p:cNvSpPr txBox="1"/>
          <p:nvPr/>
        </p:nvSpPr>
        <p:spPr>
          <a:xfrm>
            <a:off x="777240" y="2752344"/>
            <a:ext cx="10698480" cy="1207007"/>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refactors to a proper instrument hierarchy. A base Instrument class holds what every instrument shares (identifier, name, quantity, currency) and defines a value() method that raises NotImplementedError. Equity(Instrument) adds price and dividend_yield; Bond(Instrument) adds face_value, coupon_rate, years_to_maturity and market_yield, and values itself by discounting coupons and principal. Both use super().</a:t>
            </a:r>
          </a:p>
        </p:txBody>
      </p:sp>
      <p:sp>
        <p:nvSpPr>
          <p:cNvPr id="10" name="Rectangle 9"/>
          <p:cNvSpPr/>
          <p:nvPr/>
        </p:nvSpPr>
        <p:spPr>
          <a:xfrm>
            <a:off x="777240" y="4142231"/>
            <a:ext cx="10698480" cy="20574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06823"/>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654295"/>
            <a:ext cx="10241280" cy="1005841"/>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An instruments.py module with Instrument, Equity and Bond classes, each subclass calling super().__init__().</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Inheritance — an Instrument Base Class with Equity and Bond Subclasses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lab-54-inheritance-instruments &amp;&amp; cd lab-54-inheritance-instruments</a:t>
            </a:r>
          </a:p>
        </p:txBody>
      </p:sp>
      <p:sp>
        <p:nvSpPr>
          <p:cNvPr id="13" name="Rectangle 12"/>
          <p:cNvSpPr/>
          <p:nvPr/>
        </p:nvSpPr>
        <p:spPr>
          <a:xfrm>
            <a:off x="777240" y="2679192"/>
            <a:ext cx="10634472"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320040" cy="3200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320040" cy="32004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33832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Sketch the hierarchy on paper: what data does EVERY instrument have, and what belongs only to an Equity or only to a Bond? Only the shared fields go in the base class.</a:t>
            </a:r>
          </a:p>
        </p:txBody>
      </p:sp>
      <p:sp>
        <p:nvSpPr>
          <p:cNvPr id="17" name="Rectangle 16"/>
          <p:cNvSpPr/>
          <p:nvPr/>
        </p:nvSpPr>
        <p:spPr>
          <a:xfrm>
            <a:off x="777240" y="3182112"/>
            <a:ext cx="10634472" cy="1591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6732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6732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218688"/>
            <a:ext cx="9692640" cy="151790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"Write a Python class hierarchy for financial instruments. Base class Instrument has __init__(identifier, name, quantity, currency='SGD'), a value() method that raises NotImplementedError, and an income() method returning 0.0. Subclass Equity(Instrument) adds price and dividend_yield, overrides value() as quantity * price and income() as value * dividend_yield. Subclass Bond(Instrument) adds face_value, coupon_rate, years_to_maturity and market_yield, and overrides value() to return the present value of the coupon stream plus the discounted principal, multiplied by quantity. Both subclasses must call super().__init__() and each must have a __str__."</a:t>
            </a:r>
          </a:p>
        </p:txBody>
      </p:sp>
      <p:sp>
        <p:nvSpPr>
          <p:cNvPr id="21" name="Rectangle 20"/>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instruments.py and confirm both subclasses call super().__init__() rather than re-assigning the shared attributes.</a:t>
            </a:r>
          </a:p>
        </p:txBody>
      </p:sp>
      <p:sp>
        <p:nvSpPr>
          <p:cNvPr id="25" name="Rectangle 24"/>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inheritance chain with isinstance and the MRO.</a:t>
            </a:r>
          </a:p>
        </p:txBody>
      </p:sp>
      <p:sp>
        <p:nvSpPr>
          <p:cNvPr id="29" name="Rectangle 28"/>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instruments import Instrument, Equity, Bond; e=Equity('D05','DBS',100,38.40,0.055); print(isinstance(e, Instrument), Equity.__mro__)"</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the abstract base refuses to value itself.</a:t>
            </a:r>
          </a:p>
        </p:txBody>
      </p:sp>
      <p:sp>
        <p:nvSpPr>
          <p:cNvPr id="35" name="Rectangle 34"/>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instruments import Instrument; 
import traceback
try: Instrument('X','Generic',1).value()
except NotImplementedError: print('correctly abstract')"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Inheritance — an Instrument Base Class with Equity and Bond Subclasses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352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352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Value an Equity and a Bond.</a:t>
            </a:r>
          </a:p>
        </p:txBody>
      </p:sp>
      <p:sp>
        <p:nvSpPr>
          <p:cNvPr id="11" name="Rectangle 10"/>
          <p:cNvSpPr/>
          <p:nvPr/>
        </p:nvSpPr>
        <p:spPr>
          <a:xfrm>
            <a:off x="7452360" y="2258568"/>
            <a:ext cx="3886200" cy="5105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51054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instruments.py</a:t>
            </a:r>
          </a:p>
        </p:txBody>
      </p:sp>
      <p:sp>
        <p:nvSpPr>
          <p:cNvPr id="13" name="Rectangle 12"/>
          <p:cNvSpPr/>
          <p:nvPr/>
        </p:nvSpPr>
        <p:spPr>
          <a:xfrm>
            <a:off x="777240" y="2915412"/>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3253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3253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51988"/>
            <a:ext cx="58064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Sanity-check the bond maths: a bond priced at par (market_yield == coupon_rate) must value at face_value * quantity.</a:t>
            </a:r>
          </a:p>
        </p:txBody>
      </p:sp>
      <p:sp>
        <p:nvSpPr>
          <p:cNvPr id="17" name="Rectangle 16"/>
          <p:cNvSpPr/>
          <p:nvPr/>
        </p:nvSpPr>
        <p:spPr>
          <a:xfrm>
            <a:off x="7452360" y="325221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25221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instruments import Bond; b=Bond('SGB10','SG Govt Bond',10,1000,0.03,5,0.03); print(round(b.value(),2))"</a:t>
            </a:r>
          </a:p>
        </p:txBody>
      </p:sp>
      <p:sp>
        <p:nvSpPr>
          <p:cNvPr id="19" name="Rectangle 18"/>
          <p:cNvSpPr/>
          <p:nvPr/>
        </p:nvSpPr>
        <p:spPr>
          <a:xfrm>
            <a:off x="777240" y="4247388"/>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434721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34721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4283964"/>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a discount bond: raise market_yield above coupon_rate and confirm the value falls below par.</a:t>
            </a:r>
          </a:p>
        </p:txBody>
      </p:sp>
      <p:sp>
        <p:nvSpPr>
          <p:cNvPr id="23" name="Rectangle 22"/>
          <p:cNvSpPr/>
          <p:nvPr/>
        </p:nvSpPr>
        <p:spPr>
          <a:xfrm>
            <a:off x="777240" y="4959096"/>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3690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3690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95672"/>
            <a:ext cx="96926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what code would you have duplicated if Equity and Bond were unrelated classes, and what breaks when a third instrument type is added later?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Inheritance — an Instrument Base Class with Equity and Bond Subclasses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isinstance(equity, Instrument) is True; Instrument.value() raises NotImplementedError; a par bond values at exactly face_value * quantity and a bond yielding above its coupon values below par.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Polymorphism — One .value() Call Across a Mixed Instrument Book</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55</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adds a third subclass (a simple CashDeposit or FXForward), then builds a mixed book of Equity, Bond and Cash objects in one list and values the entire book with a single loop calling item.value() — Python dispatches to the correct override at runtime. The lab also adds a duck-typed report_book() function that works on any object exposing .value(), showing polymorphism does not require inheritance, and proves the open/closed principle by adding a fourth instrument type without editing the valuation loop.</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book.py script valuing a heterogeneous instrument book through one polymorphic loop, plus an asset-class breakdown.</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Python 3.12,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55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Polymorphism — One .value() Call Across a Mixed Instrument Book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add pandas and copy the lab 54 hierarchy.</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lab-55-polymorphism-book &amp;&amp; cd lab-55-polymorphism-book &amp;&amp; uv add pandas &amp;&amp; cp ../lab-54-inheritance-instruments/instruments.py .</a:t>
            </a:r>
          </a:p>
        </p:txBody>
      </p:sp>
      <p:sp>
        <p:nvSpPr>
          <p:cNvPr id="13" name="Rectangle 12"/>
          <p:cNvSpPr/>
          <p:nvPr/>
        </p:nvSpPr>
        <p:spPr>
          <a:xfrm>
            <a:off x="777240" y="2679192"/>
            <a:ext cx="10634472" cy="1483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1079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1079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14106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"Extend this instruments module with a CashDeposit(Instrument) subclass holding a principal and an annual interest rate, overriding value() as principal plus accrued interest and income() as principal * rate. Then write a function value_book(items) that takes a list of ANY Instrument subclasses and returns a pandas DataFrame with columns Identifier, Asset_Class (the class name), Value and Income, plus the book total — using a single loop that calls item.value() with no isinstance checks and no if/elif on type."</a:t>
            </a:r>
          </a:p>
        </p:txBody>
      </p:sp>
      <p:sp>
        <p:nvSpPr>
          <p:cNvPr id="17" name="Rectangle 16"/>
          <p:cNvSpPr/>
          <p:nvPr/>
        </p:nvSpPr>
        <p:spPr>
          <a:xfrm>
            <a:off x="777240" y="4254453"/>
            <a:ext cx="10634472" cy="5187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30349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0349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291029"/>
            <a:ext cx="9692640" cy="44556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book.py and audit the loop: if the generated code contains isinstance() or a type check inside value_book(), that is NOT polymorphism — rewrite it.</a:t>
            </a:r>
          </a:p>
        </p:txBody>
      </p:sp>
      <p:sp>
        <p:nvSpPr>
          <p:cNvPr id="21" name="Rectangle 20"/>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Build a mixed book of at least two Equities, two Bonds and one CashDeposit in a single Python list.</a:t>
            </a:r>
          </a:p>
        </p:txBody>
      </p:sp>
      <p:sp>
        <p:nvSpPr>
          <p:cNvPr id="25" name="Rectangle 24"/>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polymorphic valuation.</a:t>
            </a:r>
          </a:p>
        </p:txBody>
      </p:sp>
      <p:sp>
        <p:nvSpPr>
          <p:cNvPr id="29" name="Rectangle 28"/>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book.py</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each row's Asset_Class is derived at runtime via type(item).__name__ — the loop never knew the type in advance.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55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Polymorphism — One .value() Call Across a Mixed Instrument Book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655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655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Group the book by Asset_Class to produce the allocation table.</a:t>
            </a:r>
          </a:p>
        </p:txBody>
      </p:sp>
      <p:sp>
        <p:nvSpPr>
          <p:cNvPr id="11" name="Rectangle 10"/>
          <p:cNvSpPr/>
          <p:nvPr/>
        </p:nvSpPr>
        <p:spPr>
          <a:xfrm>
            <a:off x="7452360" y="229240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9240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book import value_book, build_book; df=value_book(build_book()); print(df.groupby('Asset_Class')['Value'].sum().round(2))"</a:t>
            </a:r>
          </a:p>
        </p:txBody>
      </p:sp>
      <p:sp>
        <p:nvSpPr>
          <p:cNvPr id="13" name="Rectangle 12"/>
          <p:cNvSpPr/>
          <p:nvPr/>
        </p:nvSpPr>
        <p:spPr>
          <a:xfrm>
            <a:off x="777240" y="3039465"/>
            <a:ext cx="10634472" cy="14886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57347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7347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76041"/>
            <a:ext cx="9692640" cy="14154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the open/closed principle: add a fourth subclass (e.g. FXForward) with its own value(), append one to the book, and re-run WITHOUT changing value_book().</a:t>
            </a:r>
          </a:p>
        </p:txBody>
      </p:sp>
      <p:sp>
        <p:nvSpPr>
          <p:cNvPr id="17" name="Rectangle 16"/>
          <p:cNvSpPr/>
          <p:nvPr/>
        </p:nvSpPr>
        <p:spPr>
          <a:xfrm>
            <a:off x="777240" y="4619548"/>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78139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8139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656124"/>
            <a:ext cx="96926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book total rose by exactly the new instrument's value.</a:t>
            </a:r>
          </a:p>
        </p:txBody>
      </p:sp>
      <p:sp>
        <p:nvSpPr>
          <p:cNvPr id="21" name="Rectangle 20"/>
          <p:cNvSpPr/>
          <p:nvPr/>
        </p:nvSpPr>
        <p:spPr>
          <a:xfrm>
            <a:off x="777240" y="5455309"/>
            <a:ext cx="10634472" cy="744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6171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1715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5491885"/>
            <a:ext cx="9692640" cy="6711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how does polymorphism reduce risk in a valuation engine compared with a long if/elif chain on instrument type?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55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Polymorphism — One .value() Call Across a Mixed Instrument Book</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value_book() contains no isinstance or type comparisons; adding a brand-new Instrument subclass to the list changes the book total with zero edits to value_book(), and the Asset_Class column names it correctly.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StockTechnicalAnalyzer — an OOP Class Computing SMA, RSI and BUY/SELL Signals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56</a:t>
            </a:r>
          </a:p>
        </p:txBody>
      </p:sp>
      <p:sp>
        <p:nvSpPr>
          <p:cNvPr id="9" name="TextBox 8"/>
          <p:cNvSpPr txBox="1"/>
          <p:nvPr/>
        </p:nvSpPr>
        <p:spPr>
          <a:xfrm>
            <a:off x="777240" y="2752344"/>
            <a:ext cx="10698480" cy="202996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This is the reference slide 148 activity and the class the Topic 9 capstone consumes. The learner builds StockTechnicalAnalyzer following OOP principles: the ticker and analysis period are instance attributes (encapsulation) and the work is split into modular methods — fetch_data() returning a boolean status, calculate_indicators() computing a 20-day SMA and 14-day RSI, generate_signals() emitting BUY when RSI &lt; 30 and price crosses above the SMA and SELL when RSI &gt; 70 or price crosses below, and plot_analysis() drawing price/SMA and RSI matplotlib subplots. A run_analysis() method orchestrates the sequence and fails gracefully when the download returns nothing.</a:t>
            </a:r>
          </a:p>
        </p:txBody>
      </p:sp>
      <p:sp>
        <p:nvSpPr>
          <p:cNvPr id="10" name="Rectangle 9"/>
          <p:cNvSpPr/>
          <p:nvPr/>
        </p:nvSpPr>
        <p:spPr>
          <a:xfrm>
            <a:off x="777240" y="4965192"/>
            <a:ext cx="1069848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12978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5477256"/>
            <a:ext cx="10241280" cy="18288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An analyzer.py module defining StockTechnicalAnalyzer, producing a signals table and a two-panel PNG chart.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yfinance, pandas, matplotlib,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56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StockTechnicalAnalyzer — an OOP Class Computing SMA, RSI and BUY/SELL Signals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market-data stack.</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lab-56-stock-analyzer &amp;&amp; cd lab-56-stock-analyzer &amp;&amp; uv add yfinance pandas matplotlib</a:t>
            </a:r>
          </a:p>
        </p:txBody>
      </p:sp>
      <p:sp>
        <p:nvSpPr>
          <p:cNvPr id="13" name="Rectangle 12"/>
          <p:cNvSpPr/>
          <p:nvPr/>
        </p:nvSpPr>
        <p:spPr>
          <a:xfrm>
            <a:off x="777240" y="2679192"/>
            <a:ext cx="10634472" cy="1618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7812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7812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9692640" cy="15453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with the slide-148 brief: "Write a Python class StockTechnicalAnalyzer following OOP principles to perform stock analysis using yfinance. Encapsulation: store the ticker and analysis period as instance attributes set in __init__, with self.data starting as None. Modular methods: fetch_data() downloads historical data with yfinance and returns a boolean status, storing it on self.data; calculate_indicators() computes a 20-day Simple Moving Average and a 14-day Relative Strength Index as new columns; generate_signals() returns a DataFrame of BUY and SELL signals where BUY is RSI below 30 with the close crossing above the SMA and SELL is RSI above 70 or the close crossing below the SMA; plot_analysis() uses matplotlib subplots to visualise close price with the SMA on the top panel and RSI with 30/70 reference lines on the bottom panel, saving to PNG. Add run_analysis() that calls the methods in order and returns early with a message if fetch_data() fails."</a:t>
            </a:r>
          </a:p>
        </p:txBody>
      </p:sp>
      <p:sp>
        <p:nvSpPr>
          <p:cNvPr id="17" name="Rectangle 16"/>
          <p:cNvSpPr/>
          <p:nvPr/>
        </p:nvSpPr>
        <p:spPr>
          <a:xfrm>
            <a:off x="777240" y="438912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43484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3484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425696"/>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analyzer.py and review the RSI calculation — confirm it uses a 14-period average gain over average loss and not a simple percentage change.</a:t>
            </a:r>
          </a:p>
        </p:txBody>
      </p:sp>
      <p:sp>
        <p:nvSpPr>
          <p:cNvPr id="21" name="Rectangle 20"/>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the encapsulation: fetch_data() must store to self.data, and calculate_indicators() must read self.data rather than take the frame as an argument.</a:t>
            </a:r>
          </a:p>
        </p:txBody>
      </p:sp>
      <p:sp>
        <p:nvSpPr>
          <p:cNvPr id="25" name="Rectangle 24"/>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Instantiate the analyzer for one ticker and fetch.</a:t>
            </a:r>
          </a:p>
        </p:txBody>
      </p:sp>
      <p:sp>
        <p:nvSpPr>
          <p:cNvPr id="29" name="Rectangle 28"/>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analyzer import StockTechnicalAnalyzer; a=StockTechnicalAnalyzer('AAPL','6mo'); print(a.fetch_data()); print(a.data.shape)"</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full analysis end to end.</a:t>
            </a:r>
          </a:p>
        </p:txBody>
      </p:sp>
      <p:sp>
        <p:nvSpPr>
          <p:cNvPr id="35" name="Rectangle 34"/>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analyzer.py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56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StockTechnicalAnalyzer — an OOP Class Computing SMA, RSI and BUY/SELL Signals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063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52505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2505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990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the indicators: the first 19 SMA values must be NaN and every non-null RSI must sit between 0 and 100.</a:t>
            </a:r>
          </a:p>
        </p:txBody>
      </p:sp>
      <p:sp>
        <p:nvSpPr>
          <p:cNvPr id="11" name="Rectangle 10"/>
          <p:cNvSpPr/>
          <p:nvPr/>
        </p:nvSpPr>
        <p:spPr>
          <a:xfrm>
            <a:off x="7452360" y="245189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45189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analyzer import StockTechnicalAnalyzer; a=StockTechnicalAnalyzer('AAPL','6mo'); a.run_analysis(); d=a.data.dropna(); print(d['RSI'].min(), d['RSI'].max())"</a:t>
            </a:r>
          </a:p>
        </p:txBody>
      </p:sp>
      <p:sp>
        <p:nvSpPr>
          <p:cNvPr id="13" name="Rectangle 12"/>
          <p:cNvSpPr/>
          <p:nvPr/>
        </p:nvSpPr>
        <p:spPr>
          <a:xfrm>
            <a:off x="777240" y="3358460"/>
            <a:ext cx="10634472" cy="5316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41397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1397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395036"/>
            <a:ext cx="9692640" cy="45850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Inspect the generated signals table and verify each BUY row really has RSI below 30.</a:t>
            </a:r>
          </a:p>
        </p:txBody>
      </p:sp>
      <p:sp>
        <p:nvSpPr>
          <p:cNvPr id="17" name="Rectangle 16"/>
          <p:cNvSpPr/>
          <p:nvPr/>
        </p:nvSpPr>
        <p:spPr>
          <a:xfrm>
            <a:off x="777240" y="3981558"/>
            <a:ext cx="10634472" cy="1063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30290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0290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4018134"/>
            <a:ext cx="5806440" cy="990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the failure path with a nonsense ticker — fetch_data() must return False and run_analysis() must exit cleanly with a message, not a traceback.</a:t>
            </a:r>
          </a:p>
        </p:txBody>
      </p:sp>
      <p:sp>
        <p:nvSpPr>
          <p:cNvPr id="21" name="Rectangle 20"/>
          <p:cNvSpPr/>
          <p:nvPr/>
        </p:nvSpPr>
        <p:spPr>
          <a:xfrm>
            <a:off x="7452360" y="422975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22975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"from analyzer import StockTechnicalAnalyzer; a=StockTechnicalAnalyzer('NOTATICKER','6mo'); print(a.run_analysis())"</a:t>
            </a:r>
          </a:p>
        </p:txBody>
      </p:sp>
      <p:sp>
        <p:nvSpPr>
          <p:cNvPr id="23" name="Rectangle 22"/>
          <p:cNvSpPr/>
          <p:nvPr/>
        </p:nvSpPr>
        <p:spPr>
          <a:xfrm>
            <a:off x="777240" y="5136314"/>
            <a:ext cx="10634472" cy="10633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4576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576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172890"/>
            <a:ext cx="9692640" cy="99016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three analyzer objects for three different tickers and confirm each keeps its own independent self.data — the payoff of instance state. Keep analyzer.py: lab 61 imports this class into the Streamlit app.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56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StockTechnicalAnalyzer — an OOP Class Computing SMA, RSI and BUY/SELL Signals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run_analysis() produces a PNG with two panels and a signals table where every BUY has RSI &lt; 30 and every SELL has RSI &gt; 70 or a downward SMA cross; an invalid ticker returns False from fetch_data() with no traceback.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Object Oriented Programming</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LO7: Model a financial instrument as a class with attributes and behaviour, initialised through __init__.</a:t>
            </a:r>
          </a:p>
          <a:p>
            <a:pPr>
              <a:spcAft>
                <a:spcPts val="1000"/>
              </a:spcAft>
            </a:pPr>
            <a:r>
              <a:rPr sz="1700" b="0">
                <a:solidFill>
                  <a:srgbClr val="161B26"/>
                </a:solidFill>
                <a:latin typeface="Arial"/>
              </a:rPr>
              <a:t>•  You can now: LO7: Compose objects — a Portfolio class that aggregates many Stock instances and reports book-level metrics.</a:t>
            </a:r>
          </a:p>
          <a:p>
            <a:pPr>
              <a:spcAft>
                <a:spcPts val="1000"/>
              </a:spcAft>
            </a:pPr>
            <a:r>
              <a:rPr sz="1700" b="0">
                <a:solidFill>
                  <a:srgbClr val="161B26"/>
                </a:solidFill>
                <a:latin typeface="Arial"/>
              </a:rPr>
              <a:t>•  You can now: LO7: Apply method overloading through dunder methods so financial objects print, size and merge naturally.</a:t>
            </a:r>
          </a:p>
          <a:p>
            <a:pPr>
              <a:spcAft>
                <a:spcPts val="1000"/>
              </a:spcAft>
            </a:pPr>
            <a:r>
              <a:rPr sz="1700" b="0">
                <a:solidFill>
                  <a:srgbClr val="161B26"/>
                </a:solidFill>
                <a:latin typeface="Arial"/>
              </a:rPr>
              <a:t>•  You can now: LO7: Use inheritance so Equity and Bond extend a shared Instrument class without duplicating code.</a:t>
            </a:r>
          </a:p>
          <a:p>
            <a:pPr>
              <a:spcAft>
                <a:spcPts val="1000"/>
              </a:spcAft>
            </a:pPr>
            <a:r>
              <a:rPr sz="1700" b="0">
                <a:solidFill>
                  <a:srgbClr val="161B26"/>
                </a:solidFill>
                <a:latin typeface="Arial"/>
              </a:rPr>
              <a:t>•  You can now: LO7: Apply polymorphism so a single valuation loop handles every instrument type correctly.</a:t>
            </a:r>
          </a:p>
          <a:p>
            <a:pPr>
              <a:spcAft>
                <a:spcPts val="1000"/>
              </a:spcAft>
            </a:pPr>
            <a:r>
              <a:rPr sz="1700" b="0">
                <a:solidFill>
                  <a:srgbClr val="161B26"/>
                </a:solidFill>
                <a:latin typeface="Arial"/>
              </a:rPr>
              <a:t>•  You can now: LO7: Encapsulate a complete technical-analysis workflow in one class with modular methods and generated trading signals.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Finance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Improve code with apply and pipe · Applications of statistics · Analyse finance data to track changes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6%</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Key Concepts — Analyze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198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The .apply() method runs a function across rows or columns — used to classify credit risk row by row.</a:t>
            </a:r>
          </a:p>
        </p:txBody>
      </p:sp>
      <p:sp>
        <p:nvSpPr>
          <p:cNvPr id="12" name="Rectangle 11"/>
          <p:cNvSpPr/>
          <p:nvPr/>
        </p:nvSpPr>
        <p:spPr>
          <a:xfrm>
            <a:off x="6231636" y="172821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1331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198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198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1965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The .pipe() method chains transformations into a readable, testable data pipeline.</a:t>
            </a:r>
          </a:p>
        </p:txBody>
      </p:sp>
      <p:sp>
        <p:nvSpPr>
          <p:cNvPr id="17" name="Rectangle 16"/>
          <p:cNvSpPr/>
          <p:nvPr/>
        </p:nvSpPr>
        <p:spPr>
          <a:xfrm>
            <a:off x="777240"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7936"/>
            <a:ext cx="91440" cy="1331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896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Descriptive statistics — mean, median, standard deviation and correlation — summarise risk and return.</a:t>
            </a:r>
          </a:p>
        </p:txBody>
      </p:sp>
      <p:sp>
        <p:nvSpPr>
          <p:cNvPr id="22" name="Rectangle 21"/>
          <p:cNvSpPr/>
          <p:nvPr/>
        </p:nvSpPr>
        <p:spPr>
          <a:xfrm>
            <a:off x="6231636" y="329793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297936"/>
            <a:ext cx="91440" cy="1331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896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896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38937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Tracking changes over time reveals trend, volatility and drawdown.</a:t>
            </a:r>
          </a:p>
        </p:txBody>
      </p:sp>
      <p:sp>
        <p:nvSpPr>
          <p:cNvPr id="27" name="Rectangle 26"/>
          <p:cNvSpPr/>
          <p:nvPr/>
        </p:nvSpPr>
        <p:spPr>
          <a:xfrm>
            <a:off x="777240" y="4867656"/>
            <a:ext cx="5180076" cy="1331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67656"/>
            <a:ext cx="91440" cy="1331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59096"/>
            <a:ext cx="3973068" cy="1185672"/>
          </a:xfrm>
          <a:prstGeom prst="rect">
            <a:avLst/>
          </a:prstGeom>
          <a:noFill/>
        </p:spPr>
        <p:txBody>
          <a:bodyPr wrap="square" anchor="ctr">
            <a:spAutoFit/>
          </a:bodyPr>
          <a:lstStyle/>
          <a:p>
            <a:pPr algn="l">
              <a:spcAft>
                <a:spcPts val="400"/>
              </a:spcAft>
            </a:pPr>
            <a:r>
              <a:rPr sz="1400" b="0">
                <a:solidFill>
                  <a:srgbClr val="161B26"/>
                </a:solidFill>
                <a:latin typeface="Arial"/>
              </a:rPr>
              <a:t>The finished analysis is delivered as a Streamlit capstone dashboard for stakeholders.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Hands-On Labs — Analyze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56816"/>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57–58</a:t>
            </a:r>
          </a:p>
        </p:txBody>
      </p:sp>
      <p:sp>
        <p:nvSpPr>
          <p:cNvPr id="10" name="TextBox 9"/>
          <p:cNvSpPr txBox="1"/>
          <p:nvPr/>
        </p:nvSpPr>
        <p:spPr>
          <a:xfrm>
            <a:off x="100584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Credit Risk Classification with .apply()</a:t>
            </a:r>
          </a:p>
          <a:p>
            <a:pPr>
              <a:spcAft>
                <a:spcPts val="900"/>
              </a:spcAft>
            </a:pPr>
            <a:r>
              <a:rPr sz="1400" b="0">
                <a:solidFill>
                  <a:srgbClr val="161B26"/>
                </a:solidFill>
                <a:latin typeface="Arial"/>
              </a:rPr>
              <a:t>•  Lambda versus Named Functions in .apply()</a:t>
            </a:r>
          </a:p>
        </p:txBody>
      </p:sp>
      <p:sp>
        <p:nvSpPr>
          <p:cNvPr id="11" name="Rectangle 10"/>
          <p:cNvSpPr/>
          <p:nvPr/>
        </p:nvSpPr>
        <p:spPr>
          <a:xfrm>
            <a:off x="457200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28216"/>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56816"/>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59–60</a:t>
            </a:r>
          </a:p>
        </p:txBody>
      </p:sp>
      <p:sp>
        <p:nvSpPr>
          <p:cNvPr id="14" name="TextBox 13"/>
          <p:cNvSpPr txBox="1"/>
          <p:nvPr/>
        </p:nvSpPr>
        <p:spPr>
          <a:xfrm>
            <a:off x="480060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Building a clean → enrich → score Pipeline with .pipe()</a:t>
            </a:r>
          </a:p>
          <a:p>
            <a:pPr>
              <a:spcAft>
                <a:spcPts val="900"/>
              </a:spcAft>
            </a:pPr>
            <a:r>
              <a:rPr sz="1400" b="0">
                <a:solidFill>
                  <a:srgbClr val="161B26"/>
                </a:solidFill>
                <a:latin typeface="Arial"/>
              </a:rPr>
              <a:t>•  Descriptive Statistics, Correlation and Tracking Change Over Time</a:t>
            </a:r>
          </a:p>
        </p:txBody>
      </p:sp>
      <p:sp>
        <p:nvSpPr>
          <p:cNvPr id="15" name="Rectangle 14"/>
          <p:cNvSpPr/>
          <p:nvPr/>
        </p:nvSpPr>
        <p:spPr>
          <a:xfrm>
            <a:off x="8366760" y="1728216"/>
            <a:ext cx="3337560" cy="44714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28216"/>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56816"/>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61–62</a:t>
            </a:r>
          </a:p>
        </p:txBody>
      </p:sp>
      <p:sp>
        <p:nvSpPr>
          <p:cNvPr id="18" name="TextBox 17"/>
          <p:cNvSpPr txBox="1"/>
          <p:nvPr/>
        </p:nvSpPr>
        <p:spPr>
          <a:xfrm>
            <a:off x="8595360" y="2642616"/>
            <a:ext cx="2926080" cy="3419856"/>
          </a:xfrm>
          <a:prstGeom prst="rect">
            <a:avLst/>
          </a:prstGeom>
          <a:noFill/>
        </p:spPr>
        <p:txBody>
          <a:bodyPr wrap="square">
            <a:normAutofit fontScale="60000" lnSpcReduction="10000"/>
          </a:bodyPr>
          <a:lstStyle/>
          <a:p>
            <a:pPr>
              <a:spcAft>
                <a:spcPts val="900"/>
              </a:spcAft>
            </a:pPr>
            <a:r>
              <a:rPr sz="1400" b="0">
                <a:solidFill>
                  <a:srgbClr val="161B26"/>
                </a:solidFill>
                <a:latin typeface="Arial"/>
              </a:rPr>
              <a:t>•  Streamlit Capstone Part 3 — Technical Analysis and Risk Scoring Pages</a:t>
            </a:r>
          </a:p>
          <a:p>
            <a:pPr>
              <a:spcAft>
                <a:spcPts val="900"/>
              </a:spcAft>
            </a:pPr>
            <a:r>
              <a:rPr sz="1400" b="0">
                <a:solidFill>
                  <a:srgbClr val="161B26"/>
                </a:solidFill>
                <a:latin typeface="Arial"/>
              </a:rPr>
              <a:t>•  Streamlit Capstone Finale — Test, Polish and Deploy the Analytics App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Credit Risk Classification with .apply()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57</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This is the reference slide 152 activity. The learner defines determine_loan_risk(row) computing a risk score as (Debt_to_Income_Ratio * 50) + (Missed_Payments_Last_2Y * 10) - (Credit_Score / 100), applies it with axis=1 to create Calculated_Risk_Score, then applies a lambda to that score to create a Risk_Profile column labelling scores above 60 as High, above 30 as Medium and the rest as Low. The lab contrasts .apply() with a manual for loop and shows why row-wise calculations that span several columns need axis=1.</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risk_apply.py script adding Calculated_Risk_Score and Risk_Profile columns to df_finance and exporting df_scored.csv.</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57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Credit Risk Classification with .apply()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pandas.</a:t>
            </a:r>
          </a:p>
        </p:txBody>
      </p:sp>
      <p:sp>
        <p:nvSpPr>
          <p:cNvPr id="11" name="Rectangle 10"/>
          <p:cNvSpPr/>
          <p:nvPr/>
        </p:nvSpPr>
        <p:spPr>
          <a:xfrm>
            <a:off x="7452360" y="178308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lab-57-credit-risk-apply &amp;&amp; cd lab-57-credit-risk-apply &amp;&amp; uv add pandas</a:t>
            </a:r>
          </a:p>
        </p:txBody>
      </p:sp>
      <p:sp>
        <p:nvSpPr>
          <p:cNvPr id="13" name="Rectangle 12"/>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df_finance.csv from lab 43.</a:t>
            </a:r>
          </a:p>
        </p:txBody>
      </p:sp>
      <p:sp>
        <p:nvSpPr>
          <p:cNvPr id="17" name="Rectangle 16"/>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a:t>
            </a:r>
          </a:p>
        </p:txBody>
      </p:sp>
      <p:sp>
        <p:nvSpPr>
          <p:cNvPr id="19" name="Rectangle 18"/>
          <p:cNvSpPr/>
          <p:nvPr/>
        </p:nvSpPr>
        <p:spPr>
          <a:xfrm>
            <a:off x="777240" y="2679192"/>
            <a:ext cx="10634472" cy="2093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5158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158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715768"/>
            <a:ext cx="9692640" cy="202082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with the slide-152 brief: "Write a pandas script demonstrating .apply() on a financial DataFrame named df_finance containing Credit_Score, Debt_to_Income_Ratio and Missed_Payments_Last_2Y. Define a function determine_loan_risk(row) returning (Debt_to_Income_Ratio * 50) + (Missed_Payments_Last_2Y * 10) - (Credit_Score / 100). Use .apply() with axis=1 to create a Calculated_Risk_Score column. Then use .apply() with a lambda on that new column to create a Risk_Profile column labelling scores above 60 as High, above 30 as Medium and the rest as Low. Display the first ten rows and the Risk_Profile value counts."</a:t>
            </a:r>
          </a:p>
        </p:txBody>
      </p:sp>
      <p:sp>
        <p:nvSpPr>
          <p:cNvPr id="23" name="Rectangle 22"/>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risk_apply.py and confirm axis=1 is present on the first apply — without it pandas would pass columns, not rows.</a:t>
            </a:r>
          </a:p>
        </p:txBody>
      </p:sp>
      <p:sp>
        <p:nvSpPr>
          <p:cNvPr id="27" name="Rectangle 26"/>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script.</a:t>
            </a:r>
          </a:p>
        </p:txBody>
      </p:sp>
      <p:sp>
        <p:nvSpPr>
          <p:cNvPr id="31" name="Rectangle 30"/>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risk_apply.py</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score by hand for row 0 and compare against the column value.</a:t>
            </a:r>
          </a:p>
        </p:txBody>
      </p:sp>
      <p:sp>
        <p:nvSpPr>
          <p:cNvPr id="37" name="Rectangle 36"/>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d=pd.read_csv('df_scored.csv'); r=d.iloc[0]; print(round(r.Debt_to_Income_Ratio*50 + r.Missed_Payments_Last_2Y*10 - r.Credit_Score/100, 6), round(r.Calculated_Risk_Score, 6))"</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57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Credit Risk Classification with .apply()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11991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11748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1748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112601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Check the banding boundaries: no High row may have a score at or below 60, and no Low row may exceed 30.</a:t>
            </a:r>
          </a:p>
        </p:txBody>
      </p:sp>
      <p:sp>
        <p:nvSpPr>
          <p:cNvPr id="11" name="Rectangle 10"/>
          <p:cNvSpPr/>
          <p:nvPr/>
        </p:nvSpPr>
        <p:spPr>
          <a:xfrm>
            <a:off x="7452360" y="204433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04433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d=pd.read_csv('df_scored.csv'); print(d.groupby('Risk_Profile')['Calculated_Risk_Score'].agg(['min','max','count']).round(2))"</a:t>
            </a:r>
          </a:p>
        </p:txBody>
      </p:sp>
      <p:sp>
        <p:nvSpPr>
          <p:cNvPr id="13" name="Rectangle 12"/>
          <p:cNvSpPr/>
          <p:nvPr/>
        </p:nvSpPr>
        <p:spPr>
          <a:xfrm>
            <a:off x="777240" y="3018826"/>
            <a:ext cx="10634472" cy="59958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10830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0830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3055402"/>
            <a:ext cx="9692640" cy="52643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equivalent logic as a manual for loop with iterrows() and time both approaches to see the difference.</a:t>
            </a:r>
          </a:p>
        </p:txBody>
      </p:sp>
      <p:sp>
        <p:nvSpPr>
          <p:cNvPr id="17" name="Rectangle 16"/>
          <p:cNvSpPr/>
          <p:nvPr/>
        </p:nvSpPr>
        <p:spPr>
          <a:xfrm>
            <a:off x="777240" y="3709851"/>
            <a:ext cx="10634472" cy="11991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09912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9912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746427"/>
            <a:ext cx="5806440" cy="112601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Cross-tabulate Risk_Profile against Loan_Status — does the bank's actual approval decision agree with the model's risk band?</a:t>
            </a:r>
          </a:p>
        </p:txBody>
      </p:sp>
      <p:sp>
        <p:nvSpPr>
          <p:cNvPr id="21" name="Rectangle 20"/>
          <p:cNvSpPr/>
          <p:nvPr/>
        </p:nvSpPr>
        <p:spPr>
          <a:xfrm>
            <a:off x="7452360" y="402597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02597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d=pd.read_csv('df_scored.csv'); print(pd.crosstab(d['Risk_Profile'], d['Loan_Status']))"</a:t>
            </a:r>
          </a:p>
        </p:txBody>
      </p:sp>
      <p:sp>
        <p:nvSpPr>
          <p:cNvPr id="23" name="Rectangle 22"/>
          <p:cNvSpPr/>
          <p:nvPr/>
        </p:nvSpPr>
        <p:spPr>
          <a:xfrm>
            <a:off x="777240" y="5000461"/>
            <a:ext cx="10634472" cy="11991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3897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38973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037037"/>
            <a:ext cx="9692640" cy="1126018"/>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this score is a linear rule with hard-coded weights. What must a credit-risk team document before such a model is used in a lending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57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Credit Risk Classification with .apply()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row's Calculated_Risk_Score matches the formula recomputed by hand; the Risk_Profile bands are mutually exclusive with min/max values that respect the 30 and 60 thresholds; the value counts sum to 500.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Lambda versus Named Functions in .apply()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58</a:t>
            </a:r>
          </a:p>
        </p:txBody>
      </p:sp>
      <p:sp>
        <p:nvSpPr>
          <p:cNvPr id="9" name="TextBox 8"/>
          <p:cNvSpPr txBox="1"/>
          <p:nvPr/>
        </p:nvSpPr>
        <p:spPr>
          <a:xfrm>
            <a:off x="777240" y="2276856"/>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learner takes the same classification logic and writes it three ways: a one-line lambda, a named function passed by reference, and a vectorised alternative using np.select. Each is benchmarked and, critically, assessed for testability — a named function can be unit-tested in isolation, a lambda buried in an apply cannot. The learner writes pytest cases for the named function, including the boundary values that the lambda version silently gets wrong.</a:t>
            </a:r>
          </a:p>
        </p:txBody>
      </p:sp>
      <p:sp>
        <p:nvSpPr>
          <p:cNvPr id="10" name="Rectangle 9"/>
          <p:cNvSpPr/>
          <p:nvPr/>
        </p:nvSpPr>
        <p:spPr>
          <a:xfrm>
            <a:off x="777240" y="3941064"/>
            <a:ext cx="1069848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453128"/>
            <a:ext cx="10241280" cy="120700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classify.py module with three implementations plus test_classify.py containing passing boundary-value tests.</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NumPy, pytest,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58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Lambda versus Named Functions in .apply()  (1/2)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3936"/>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3936"/>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libraries including pytest.</a:t>
            </a:r>
          </a:p>
        </p:txBody>
      </p:sp>
      <p:sp>
        <p:nvSpPr>
          <p:cNvPr id="11" name="Rectangle 10"/>
          <p:cNvSpPr/>
          <p:nvPr/>
        </p:nvSpPr>
        <p:spPr>
          <a:xfrm>
            <a:off x="7452360" y="1783080"/>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lab-58-lambda-vs-function &amp;&amp; cd lab-58-lambda-vs-function &amp;&amp; uv add pandas numpy pytest</a:t>
            </a:r>
          </a:p>
        </p:txBody>
      </p:sp>
      <p:sp>
        <p:nvSpPr>
          <p:cNvPr id="13" name="Rectangle 12"/>
          <p:cNvSpPr/>
          <p:nvPr/>
        </p:nvSpPr>
        <p:spPr>
          <a:xfrm>
            <a:off x="777240" y="2221077"/>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266797"/>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66797"/>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257653"/>
            <a:ext cx="58064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df_scored.csv from lab 57.</a:t>
            </a:r>
          </a:p>
        </p:txBody>
      </p:sp>
      <p:sp>
        <p:nvSpPr>
          <p:cNvPr id="17" name="Rectangle 16"/>
          <p:cNvSpPr/>
          <p:nvPr/>
        </p:nvSpPr>
        <p:spPr>
          <a:xfrm>
            <a:off x="7452360" y="2275941"/>
            <a:ext cx="3886200" cy="29169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275941"/>
            <a:ext cx="3648456" cy="29169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../lab-57-credit-risk-apply/df_scored.csv .</a:t>
            </a:r>
          </a:p>
        </p:txBody>
      </p:sp>
      <p:sp>
        <p:nvSpPr>
          <p:cNvPr id="19" name="Rectangle 18"/>
          <p:cNvSpPr/>
          <p:nvPr/>
        </p:nvSpPr>
        <p:spPr>
          <a:xfrm>
            <a:off x="777240" y="2713938"/>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2759658"/>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759658"/>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2750514"/>
            <a:ext cx="96926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version A by hand: a lambda inside .apply() banding Calculated_Risk_Score into High/Medium/Low.</a:t>
            </a:r>
          </a:p>
        </p:txBody>
      </p:sp>
      <p:sp>
        <p:nvSpPr>
          <p:cNvPr id="23" name="Rectangle 22"/>
          <p:cNvSpPr/>
          <p:nvPr/>
        </p:nvSpPr>
        <p:spPr>
          <a:xfrm>
            <a:off x="777240" y="3206799"/>
            <a:ext cx="10634472" cy="1605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379933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79933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3243375"/>
            <a:ext cx="9692640" cy="153253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"Refactor this pandas lambda apply into a named function classify_risk(score) with an explicit docstring stating the boundary behaviour at exactly 30 and exactly 60, and a third vectorised version using numpy.select with the same conditions. All three must produce identical output on the same column. Then write pytest tests for classify_risk covering scores of 0, 30, 30.01, 60, 60.01 and 100, plus a None input."</a:t>
            </a:r>
          </a:p>
        </p:txBody>
      </p:sp>
      <p:sp>
        <p:nvSpPr>
          <p:cNvPr id="27" name="Rectangle 26"/>
          <p:cNvSpPr/>
          <p:nvPr/>
        </p:nvSpPr>
        <p:spPr>
          <a:xfrm>
            <a:off x="777240" y="4903925"/>
            <a:ext cx="10634472" cy="4014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949645"/>
            <a:ext cx="309981" cy="30998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949645"/>
            <a:ext cx="309981" cy="309981"/>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4940501"/>
            <a:ext cx="9692640" cy="32826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the three implementations in classify.py and the tests in test_classify.py.</a:t>
            </a:r>
          </a:p>
        </p:txBody>
      </p:sp>
      <p:sp>
        <p:nvSpPr>
          <p:cNvPr id="31" name="Rectangle 30"/>
          <p:cNvSpPr/>
          <p:nvPr/>
        </p:nvSpPr>
        <p:spPr>
          <a:xfrm>
            <a:off x="777240" y="5396786"/>
            <a:ext cx="10634472" cy="8028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58789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587895"/>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433362"/>
            <a:ext cx="9692640" cy="72969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Assess the code for gaps: does the lambda handle a NaN score? Does it define whether exactly 60 is High or Medium? Note every ambiguity you find.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58 ·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Lambda versus Named Functions in .apply()  (2/2)</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10634472" cy="5132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77450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7450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1764792"/>
            <a:ext cx="5806440" cy="44005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tests — expect the boundary cases to expose the ambiguity.</a:t>
            </a:r>
          </a:p>
        </p:txBody>
      </p:sp>
      <p:sp>
        <p:nvSpPr>
          <p:cNvPr id="11" name="Rectangle 10"/>
          <p:cNvSpPr/>
          <p:nvPr/>
        </p:nvSpPr>
        <p:spPr>
          <a:xfrm>
            <a:off x="7452360" y="1783080"/>
            <a:ext cx="3886200" cy="40347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1783080"/>
            <a:ext cx="3648456" cy="40347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pytest test_classify.py -v</a:t>
            </a:r>
          </a:p>
        </p:txBody>
      </p:sp>
      <p:sp>
        <p:nvSpPr>
          <p:cNvPr id="13" name="Rectangle 12"/>
          <p:cNvSpPr/>
          <p:nvPr/>
        </p:nvSpPr>
        <p:spPr>
          <a:xfrm>
            <a:off x="777240" y="2332863"/>
            <a:ext cx="10634472" cy="102641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63575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63575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369439"/>
            <a:ext cx="5806440" cy="95326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Fix classify_risk so the documented boundary behaviour and the tests agree, then re-run until green.</a:t>
            </a:r>
          </a:p>
        </p:txBody>
      </p:sp>
      <p:sp>
        <p:nvSpPr>
          <p:cNvPr id="17" name="Rectangle 16"/>
          <p:cNvSpPr/>
          <p:nvPr/>
        </p:nvSpPr>
        <p:spPr>
          <a:xfrm>
            <a:off x="7452360" y="2562606"/>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562606"/>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pytest test_classify.py -v</a:t>
            </a:r>
          </a:p>
        </p:txBody>
      </p:sp>
      <p:sp>
        <p:nvSpPr>
          <p:cNvPr id="19" name="Rectangle 18"/>
          <p:cNvSpPr/>
          <p:nvPr/>
        </p:nvSpPr>
        <p:spPr>
          <a:xfrm>
            <a:off x="777240" y="3450717"/>
            <a:ext cx="10634472" cy="5132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49700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9700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487293"/>
            <a:ext cx="5806440" cy="440055"/>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all three versions agree on the real data.</a:t>
            </a:r>
          </a:p>
        </p:txBody>
      </p:sp>
      <p:sp>
        <p:nvSpPr>
          <p:cNvPr id="23" name="Rectangle 22"/>
          <p:cNvSpPr/>
          <p:nvPr/>
        </p:nvSpPr>
        <p:spPr>
          <a:xfrm>
            <a:off x="7452360" y="3505581"/>
            <a:ext cx="3886200" cy="40347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505581"/>
            <a:ext cx="3648456" cy="403479"/>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from classify import apply_lambda, apply_named, apply_vectorised; d=pd.read_csv('df_scored.csv'); a,b,c = apply_lambda(d), apply_named(d), apply_vectorised(d); print((a==b).all(), (b==c).all())"</a:t>
            </a:r>
          </a:p>
        </p:txBody>
      </p:sp>
      <p:sp>
        <p:nvSpPr>
          <p:cNvPr id="25" name="Rectangle 24"/>
          <p:cNvSpPr/>
          <p:nvPr/>
        </p:nvSpPr>
        <p:spPr>
          <a:xfrm>
            <a:off x="777240" y="4055364"/>
            <a:ext cx="10634472" cy="102641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35825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35825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091940"/>
            <a:ext cx="5806440" cy="95326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Time the three approaches on the 500-row frame and again on a 500,000-row frame to see where vectorisation wins.</a:t>
            </a:r>
          </a:p>
        </p:txBody>
      </p:sp>
      <p:sp>
        <p:nvSpPr>
          <p:cNvPr id="29" name="Rectangle 28"/>
          <p:cNvSpPr/>
          <p:nvPr/>
        </p:nvSpPr>
        <p:spPr>
          <a:xfrm>
            <a:off x="7452360" y="4285107"/>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4285107"/>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classify.py --benchmark</a:t>
            </a:r>
          </a:p>
        </p:txBody>
      </p:sp>
      <p:sp>
        <p:nvSpPr>
          <p:cNvPr id="31" name="Rectangle 30"/>
          <p:cNvSpPr/>
          <p:nvPr/>
        </p:nvSpPr>
        <p:spPr>
          <a:xfrm>
            <a:off x="777240" y="5173218"/>
            <a:ext cx="10634472" cy="102641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47611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7611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4" name="TextBox 33"/>
          <p:cNvSpPr txBox="1"/>
          <p:nvPr/>
        </p:nvSpPr>
        <p:spPr>
          <a:xfrm>
            <a:off x="1481328" y="5209794"/>
            <a:ext cx="9692640" cy="95326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when is a lambda the right choice, and why does a risk model that will face an auditor belong in a named, tested function?</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58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Lambda versus Named Functions in .apply()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pytest boundary tests pass; the lambda, named and vectorised outputs are element-wise identical on df_scored.csv; the benchmark shows np.select fastest at scale.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Building a clean → enrich → score Pipeline with .pipe()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36776"/>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82496"/>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59</a:t>
            </a:r>
          </a:p>
        </p:txBody>
      </p:sp>
      <p:sp>
        <p:nvSpPr>
          <p:cNvPr id="9" name="TextBox 8"/>
          <p:cNvSpPr txBox="1"/>
          <p:nvPr/>
        </p:nvSpPr>
        <p:spPr>
          <a:xfrm>
            <a:off x="777240" y="2276856"/>
            <a:ext cx="10698480" cy="175564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reference slide 155 activity, extended into a full three-stage pipeline. The learner writes small single-purpose functions — clean_data (drop duplicates, coerce dtypes, handle missing income), enrich_data (add Risk_Adjusted_Loan as Loan_Amount_Requested * Credit_Score / 850, plus an income band and a tenure band), and score_data (attach the lab 58 risk classification) — then chains them with .pipe(). A summarize_by_sector step produces the final table of mean Annual_Income, total Risk_Adjusted_Loan and applicant count. The lab contrasts the pipe chain with the unreadable nested-call equivalent.</a:t>
            </a:r>
          </a:p>
        </p:txBody>
      </p:sp>
      <p:sp>
        <p:nvSpPr>
          <p:cNvPr id="10" name="Rectangle 9"/>
          <p:cNvSpPr/>
          <p:nvPr/>
        </p:nvSpPr>
        <p:spPr>
          <a:xfrm>
            <a:off x="777240" y="4215384"/>
            <a:ext cx="10698480" cy="1984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79976"/>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727448"/>
            <a:ext cx="10241280" cy="932688"/>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pipeline.py module of four pipe-able functions and a single readable chained expression producing sector_pipeline_summary.csv.</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pytest,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Building a clean → enrich → score Pipeline with .pipe()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libraries.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lab-59-pipe-pipeline &amp;&amp; cd lab-59-pipe-pipeline &amp;&amp; uv add pandas pytest</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df_finance.csv and the classify module from lab 58.</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../lab-43-mock-loan-data/df_finance.csv . &amp;&amp; cp ../lab-58-lambda-vs-function/classify.py .</a:t>
            </a:r>
          </a:p>
        </p:txBody>
      </p:sp>
      <p:sp>
        <p:nvSpPr>
          <p:cNvPr id="19" name="Rectangle 18"/>
          <p:cNvSpPr/>
          <p:nvPr/>
        </p:nvSpPr>
        <p:spPr>
          <a:xfrm>
            <a:off x="777240" y="315468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0040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0040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Write the nested version first, deliberately: summarize_by_sector(score_data(enrich_data(clean_data(df)))). Note how you must read it inside-out.</a:t>
            </a:r>
          </a:p>
        </p:txBody>
      </p:sp>
      <p:sp>
        <p:nvSpPr>
          <p:cNvPr id="23" name="Rectangle 22"/>
          <p:cNvSpPr/>
          <p:nvPr/>
        </p:nvSpPr>
        <p:spPr>
          <a:xfrm>
            <a:off x="777240" y="3630168"/>
            <a:ext cx="10634472" cy="1618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22910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22910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3666744"/>
            <a:ext cx="9692640" cy="15453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"Using a pandas DataFrame named df_finance, build a .pipe() pipeline. Define clean_data(df) that drops duplicate Applicant_IDs, coerces numeric columns and fills missing Annual_Income with the sector median. Define filter_by_region(df, region='Central') that filters to a region. Define enrich_data(df) that adds Risk_Adjusted_Loan as Loan_Amount_Requested multiplied by Credit_Score divided by 850, plus Income_Band via pd.cut. Define score_data(df) that adds Calculated_Risk_Score and Risk_Profile. Define summarize_by_sector(df) aggregating by Employment_Sector into mean Annual_Income, total Risk_Adjusted_Loan and applicant count. Chain them all with .pipe() in one readable expression and round the final summary to 2 decimals. Every function must take a DataFrame as its first argument, return a new DataFrame, and never mutate its input."</a:t>
            </a:r>
          </a:p>
        </p:txBody>
      </p:sp>
      <p:sp>
        <p:nvSpPr>
          <p:cNvPr id="27" name="Rectangle 26"/>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76672"/>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pipeline.py and audit the no-mutation rule: each function must start with df = df.copy() or use non-mutating operations.</a:t>
            </a:r>
          </a:p>
        </p:txBody>
      </p:sp>
      <p:sp>
        <p:nvSpPr>
          <p:cNvPr id="31" name="Rectangle 30"/>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85216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Prove immutability — run the pipeline and confirm the original df_finance is byte-identical afterwards.</a:t>
            </a:r>
          </a:p>
        </p:txBody>
      </p:sp>
      <p:sp>
        <p:nvSpPr>
          <p:cNvPr id="35" name="Rectangle 34"/>
          <p:cNvSpPr/>
          <p:nvPr/>
        </p:nvSpPr>
        <p:spPr>
          <a:xfrm>
            <a:off x="7452360" y="587044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7044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from pipeline import run_pipeline; d=pd.read_csv('df_finance.csv'); before=d.copy(); run_pipeline(d); print(d.equals(before))"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59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Building a clean → enrich → score Pipeline with .pipe()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03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11912" cy="311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11912" cy="311912"/>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3020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full chain.</a:t>
            </a:r>
          </a:p>
        </p:txBody>
      </p:sp>
      <p:sp>
        <p:nvSpPr>
          <p:cNvPr id="11" name="Rectangle 10"/>
          <p:cNvSpPr/>
          <p:nvPr/>
        </p:nvSpPr>
        <p:spPr>
          <a:xfrm>
            <a:off x="7452360" y="2258568"/>
            <a:ext cx="3886200" cy="2936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93624"/>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pipeline.py</a:t>
            </a:r>
          </a:p>
        </p:txBody>
      </p:sp>
      <p:sp>
        <p:nvSpPr>
          <p:cNvPr id="13" name="Rectangle 12"/>
          <p:cNvSpPr/>
          <p:nvPr/>
        </p:nvSpPr>
        <p:spPr>
          <a:xfrm>
            <a:off x="777240" y="2698496"/>
            <a:ext cx="10634472" cy="806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8915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9153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35072"/>
            <a:ext cx="9692640" cy="7335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Show the parameterised pipe: pass a region argument through the chain with .pipe(filter_by_region, region='North') and confirm the summary changes.</a:t>
            </a:r>
          </a:p>
        </p:txBody>
      </p:sp>
      <p:sp>
        <p:nvSpPr>
          <p:cNvPr id="17" name="Rectangle 16"/>
          <p:cNvSpPr/>
          <p:nvPr/>
        </p:nvSpPr>
        <p:spPr>
          <a:xfrm>
            <a:off x="777240" y="3596640"/>
            <a:ext cx="10634472" cy="806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8968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8968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633216"/>
            <a:ext cx="5806440" cy="7335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Test each stage in isolation — a pipeline's value is that every stage is independently testable.</a:t>
            </a:r>
          </a:p>
        </p:txBody>
      </p:sp>
      <p:sp>
        <p:nvSpPr>
          <p:cNvPr id="21" name="Rectangle 20"/>
          <p:cNvSpPr/>
          <p:nvPr/>
        </p:nvSpPr>
        <p:spPr>
          <a:xfrm>
            <a:off x="7452360" y="3716528"/>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716528"/>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pytest test_pipeline.py -v</a:t>
            </a:r>
          </a:p>
        </p:txBody>
      </p:sp>
      <p:sp>
        <p:nvSpPr>
          <p:cNvPr id="23" name="Rectangle 22"/>
          <p:cNvSpPr/>
          <p:nvPr/>
        </p:nvSpPr>
        <p:spPr>
          <a:xfrm>
            <a:off x="777240" y="4494784"/>
            <a:ext cx="10634472" cy="806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68782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68782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31360"/>
            <a:ext cx="9692640" cy="7335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pipeline is order-safe: score_data before enrich_data must fail loudly rather than produce silent nulls. Add an assertion on the required columns at the top of each stage.</a:t>
            </a:r>
          </a:p>
        </p:txBody>
      </p:sp>
      <p:sp>
        <p:nvSpPr>
          <p:cNvPr id="27" name="Rectangle 26"/>
          <p:cNvSpPr/>
          <p:nvPr/>
        </p:nvSpPr>
        <p:spPr>
          <a:xfrm>
            <a:off x="777240" y="5392928"/>
            <a:ext cx="10634472" cy="806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58596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585968"/>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429504"/>
            <a:ext cx="9692640" cy="7335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compare the pipe chain against the nested version you wrote first — which would you rather hand to a colleague reviewing a credit model, and why?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59 · VERIFY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Building a clean → enrich → score Pipeline with .pipe()</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run_pipeline() leaves the input DataFrame unmodified; the sector summary has one row per Employment_Sector with three rounded metric columns; every stage passes its isolated pytest and mis-ordering the stages raises an assertion instead of returning nulls.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Descriptive Statistics, Correlation and Tracking Change Over Time</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60</a:t>
            </a:r>
          </a:p>
        </p:txBody>
      </p:sp>
      <p:sp>
        <p:nvSpPr>
          <p:cNvPr id="9" name="TextBox 8"/>
          <p:cNvSpPr txBox="1"/>
          <p:nvPr/>
        </p:nvSpPr>
        <p:spPr>
          <a:xfrm>
            <a:off x="777240" y="2752344"/>
            <a:ext cx="10698480" cy="148132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Two halves. First, cross-sectional statistics on the loan book: .describe(), mean, median, standard deviation and a correlation matrix of Credit_Score, Debt_to_Income_Ratio, Annual_Income and Calculated_Risk_Score, with the median-versus-mean gap exposing income skew. Second, time-series tracking on a price history: daily returns, a rolling 20-day annualised volatility, the cumulative return trend and the maximum drawdown computed from the running peak — the three numbers an investment committee asks for.</a:t>
            </a:r>
          </a:p>
        </p:txBody>
      </p:sp>
      <p:sp>
        <p:nvSpPr>
          <p:cNvPr id="10" name="Rectangle 9"/>
          <p:cNvSpPr/>
          <p:nvPr/>
        </p:nvSpPr>
        <p:spPr>
          <a:xfrm>
            <a:off x="777240" y="4416552"/>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8114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928616"/>
            <a:ext cx="10241280" cy="73152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stats_analysis.py script producing the loan-book statistics and correlation matrix, plus a drawdown/volatility report and chart.</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pandas, NumPy, matplotlib, yfinance,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Descriptive Statistics, Correlation and Tracking Change Over Time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Create the project and add the libraries.</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init lab-60-statistics-and-trend &amp;&amp; cd lab-60-statistics-and-trend &amp;&amp; uv add pandas numpy matplotlib yfinance</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Copy df_scored.csv from lab 57.</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cp ../lab-57-credit-risk-apply/df_scored.csv .</a:t>
            </a:r>
          </a:p>
        </p:txBody>
      </p:sp>
      <p:sp>
        <p:nvSpPr>
          <p:cNvPr id="19" name="Rectangle 18"/>
          <p:cNvSpPr/>
          <p:nvPr/>
        </p:nvSpPr>
        <p:spPr>
          <a:xfrm>
            <a:off x="777240" y="315468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20040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0040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Produce the baseline descriptive statistics for the numeric loan columns.</a:t>
            </a:r>
          </a:p>
        </p:txBody>
      </p:sp>
      <p:sp>
        <p:nvSpPr>
          <p:cNvPr id="23" name="Rectangle 22"/>
          <p:cNvSpPr/>
          <p:nvPr/>
        </p:nvSpPr>
        <p:spPr>
          <a:xfrm>
            <a:off x="7452360" y="3209544"/>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3209544"/>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d=pd.read_csv('df_scored.csv'); print(d[['Annual_Income','Credit_Score','Debt_to_Income_Ratio','Calculated_Risk_Score']].describe().round(2))"</a:t>
            </a:r>
          </a:p>
        </p:txBody>
      </p:sp>
      <p:sp>
        <p:nvSpPr>
          <p:cNvPr id="25" name="Rectangle 24"/>
          <p:cNvSpPr/>
          <p:nvPr/>
        </p:nvSpPr>
        <p:spPr>
          <a:xfrm>
            <a:off x="777240" y="3630168"/>
            <a:ext cx="10634472" cy="4325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3675888"/>
            <a:ext cx="341141" cy="34114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675888"/>
            <a:ext cx="341141" cy="341141"/>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3666744"/>
            <a:ext cx="9692640" cy="3594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Compare mean against median for Annual_Income and explain the gap — which one belongs in a board report on a skewed distribution?</a:t>
            </a:r>
          </a:p>
        </p:txBody>
      </p:sp>
      <p:sp>
        <p:nvSpPr>
          <p:cNvPr id="29" name="Rectangle 28"/>
          <p:cNvSpPr/>
          <p:nvPr/>
        </p:nvSpPr>
        <p:spPr>
          <a:xfrm>
            <a:off x="777240" y="4154189"/>
            <a:ext cx="10634472" cy="4325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4400" y="4199909"/>
            <a:ext cx="341141" cy="34114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199909"/>
            <a:ext cx="341141" cy="341141"/>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2" name="TextBox 31"/>
          <p:cNvSpPr txBox="1"/>
          <p:nvPr/>
        </p:nvSpPr>
        <p:spPr>
          <a:xfrm>
            <a:off x="1481328" y="4190765"/>
            <a:ext cx="5806440" cy="35942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Compute the correlation matrix and identify the strongest driver of the risk score.</a:t>
            </a:r>
          </a:p>
        </p:txBody>
      </p:sp>
      <p:sp>
        <p:nvSpPr>
          <p:cNvPr id="33" name="Rectangle 32"/>
          <p:cNvSpPr/>
          <p:nvPr/>
        </p:nvSpPr>
        <p:spPr>
          <a:xfrm>
            <a:off x="7452360" y="4209053"/>
            <a:ext cx="3886200" cy="3228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1231" y="4209053"/>
            <a:ext cx="3648456" cy="32285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d=pd.read_csv('df_scored.csv'); print(d[['Annual_Income','Credit_Score','Debt_to_Income_Ratio','Missed_Payments_Last_2Y','Calculated_Risk_Score']].corr().round(3))"</a:t>
            </a:r>
          </a:p>
        </p:txBody>
      </p:sp>
      <p:sp>
        <p:nvSpPr>
          <p:cNvPr id="35" name="Rectangle 34"/>
          <p:cNvSpPr/>
          <p:nvPr/>
        </p:nvSpPr>
        <p:spPr>
          <a:xfrm>
            <a:off x="777240" y="4678210"/>
            <a:ext cx="10634472" cy="15214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22860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22860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8" name="TextBox 37"/>
          <p:cNvSpPr txBox="1"/>
          <p:nvPr/>
        </p:nvSpPr>
        <p:spPr>
          <a:xfrm>
            <a:off x="1481328" y="4714786"/>
            <a:ext cx="9692640" cy="144827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"Write a Python script that downloads 2 years of daily prices for a ticker with yfinance and computes: daily returns from the close, annualised return, annualised volatility as the standard deviation of daily returns times the square root of 252, a rolling 20-day annualised volatility series, the cumulative return series, and the maximum drawdown computed as the minimum of (cumulative / cumulative.cummax() - 1) together with the peak and trough dates. Plot the cumulative return with the drawdown shaded underneath in a second matplotlib panel and save to PNG. Print all headline statistics."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60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Descriptive Statistics, Correlation and Tracking Change Over Time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447163"/>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47163"/>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Save as stats_analysis.py and check the volatility annualisation uses sqrt(252) on DAILY returns, a very common AI-generated error.</a:t>
            </a:r>
          </a:p>
        </p:txBody>
      </p:sp>
      <p:sp>
        <p:nvSpPr>
          <p:cNvPr id="11" name="Rectangle 10"/>
          <p:cNvSpPr/>
          <p:nvPr/>
        </p:nvSpPr>
        <p:spPr>
          <a:xfrm>
            <a:off x="777240" y="3202686"/>
            <a:ext cx="10634472" cy="4537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248406"/>
            <a:ext cx="362331" cy="36233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48406"/>
            <a:ext cx="362331" cy="362331"/>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239262"/>
            <a:ext cx="5806440" cy="38061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analysis.</a:t>
            </a:r>
          </a:p>
        </p:txBody>
      </p:sp>
      <p:sp>
        <p:nvSpPr>
          <p:cNvPr id="15" name="Rectangle 14"/>
          <p:cNvSpPr/>
          <p:nvPr/>
        </p:nvSpPr>
        <p:spPr>
          <a:xfrm>
            <a:off x="7452360" y="3257550"/>
            <a:ext cx="3886200" cy="34404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3257550"/>
            <a:ext cx="3648456" cy="34404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stats_analysis.py</a:t>
            </a:r>
          </a:p>
        </p:txBody>
      </p:sp>
      <p:sp>
        <p:nvSpPr>
          <p:cNvPr id="17" name="Rectangle 16"/>
          <p:cNvSpPr/>
          <p:nvPr/>
        </p:nvSpPr>
        <p:spPr>
          <a:xfrm>
            <a:off x="777240" y="3747897"/>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99135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91356"/>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784473"/>
            <a:ext cx="96926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Sanity-check the drawdown: it must be negative or zero, never positive, and the trough date must fall on or after the peak date.</a:t>
            </a:r>
          </a:p>
        </p:txBody>
      </p:sp>
      <p:sp>
        <p:nvSpPr>
          <p:cNvPr id="21" name="Rectangle 20"/>
          <p:cNvSpPr/>
          <p:nvPr/>
        </p:nvSpPr>
        <p:spPr>
          <a:xfrm>
            <a:off x="777240" y="4746879"/>
            <a:ext cx="10634472" cy="4537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792599"/>
            <a:ext cx="362331" cy="36233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792599"/>
            <a:ext cx="362331" cy="362331"/>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783455"/>
            <a:ext cx="9692640" cy="38061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Verify the correlation matrix is symmetric with a unit diagonal.</a:t>
            </a:r>
          </a:p>
        </p:txBody>
      </p:sp>
      <p:sp>
        <p:nvSpPr>
          <p:cNvPr id="25" name="Rectangle 24"/>
          <p:cNvSpPr/>
          <p:nvPr/>
        </p:nvSpPr>
        <p:spPr>
          <a:xfrm>
            <a:off x="777240" y="5292090"/>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5355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355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5328666"/>
            <a:ext cx="96926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Discuss: a portfolio with the same annualised return but half the maximum drawdown — why does the risk committee prefer it, and which statistic alone would have hidden that difference?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60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Descriptive Statistics, Correlation and Tracking Change Over Time</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correlation matrix is symmetric with 1.0 on the diagonal; maximum drawdown is &lt;= 0 with trough_date &gt;= peak_date; the rolling volatility series has exactly 19 leading NaN values for a 20-day window.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3 — Technical Analysis and Risk Scoring Pages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61</a:t>
            </a:r>
          </a:p>
        </p:txBody>
      </p:sp>
      <p:sp>
        <p:nvSpPr>
          <p:cNvPr id="9" name="TextBox 8"/>
          <p:cNvSpPr txBox="1"/>
          <p:nvPr/>
        </p:nvSpPr>
        <p:spPr>
          <a:xfrm>
            <a:off x="777240" y="2752344"/>
            <a:ext cx="10698480" cy="175564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capstone continues in the SAME loan-analytics-app/app.py from labs 49-50. The learner converts it to a multi-page app with an st.sidebar.radio navigation and adds two new pages. The Technical Analysis page imports StockTechnicalAnalyzer from lab 56, takes a ticker and period from user input, and renders the price/SMA and RSI charts plus the BUY/SELL signals table. The Risk Scoring page imports the lab 59 pipeline, runs clean → enrich → score on the filtered loan book, and shows the Risk_Profile distribution, the risk-versus-credit-score scatter and a downloadable scored CSV.</a:t>
            </a:r>
          </a:p>
        </p:txBody>
      </p:sp>
      <p:sp>
        <p:nvSpPr>
          <p:cNvPr id="10" name="Rectangle 9"/>
          <p:cNvSpPr/>
          <p:nvPr/>
        </p:nvSpPr>
        <p:spPr>
          <a:xfrm>
            <a:off x="777240" y="4690872"/>
            <a:ext cx="10698480"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85546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5202936"/>
            <a:ext cx="10241280" cy="45720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A multi-page app.py with Loan Analytics, Technical Analysis and Risk Scoring pages, importing analyzer.py and pipeline.py.</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Streamlit, pandas, matplotlib, yfinance,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3 — Technical Analysis and Risk Scoring Pages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Return to the capstone app folder from labs 49-50 — do NOT create a new project.</a:t>
            </a:r>
          </a:p>
        </p:txBody>
      </p:sp>
      <p:sp>
        <p:nvSpPr>
          <p:cNvPr id="11" name="Rectangle 10"/>
          <p:cNvSpPr/>
          <p:nvPr/>
        </p:nvSpPr>
        <p:spPr>
          <a:xfrm>
            <a:off x="7452360" y="2258568"/>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cd loan-analytics-app</a:t>
            </a:r>
          </a:p>
        </p:txBody>
      </p:sp>
      <p:sp>
        <p:nvSpPr>
          <p:cNvPr id="13" name="Rectangle 12"/>
          <p:cNvSpPr/>
          <p:nvPr/>
        </p:nvSpPr>
        <p:spPr>
          <a:xfrm>
            <a:off x="777240" y="2679192"/>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24912"/>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24912"/>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15768"/>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Add the market-data dependency and copy in the Topic 8 and Topic 9 modules the app will import.</a:t>
            </a:r>
          </a:p>
        </p:txBody>
      </p:sp>
      <p:sp>
        <p:nvSpPr>
          <p:cNvPr id="17" name="Rectangle 16"/>
          <p:cNvSpPr/>
          <p:nvPr/>
        </p:nvSpPr>
        <p:spPr>
          <a:xfrm>
            <a:off x="7452360" y="2734056"/>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2734056"/>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add yfinance &amp;&amp; cp ../lab-56-stock-analyzer/analyzer.py . &amp;&amp; cp ../lab-59-pipe-pipeline/pipeline.py . &amp;&amp; cp ../lab-58-lambda-vs-function/classify.py .</a:t>
            </a:r>
          </a:p>
        </p:txBody>
      </p:sp>
      <p:sp>
        <p:nvSpPr>
          <p:cNvPr id="19" name="Rectangle 18"/>
          <p:cNvSpPr/>
          <p:nvPr/>
        </p:nvSpPr>
        <p:spPr>
          <a:xfrm>
            <a:off x="777240" y="3154680"/>
            <a:ext cx="10634472" cy="1618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5361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5361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2" name="TextBox 21"/>
          <p:cNvSpPr txBox="1"/>
          <p:nvPr/>
        </p:nvSpPr>
        <p:spPr>
          <a:xfrm>
            <a:off x="1481328" y="3191256"/>
            <a:ext cx="9692640" cy="154533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"Convert this existing Streamlit app.py into a multi-page app using an st.sidebar.radio navigation with three pages: 'Loan Analytics', 'Technical Analysis' and 'Risk Scoring'. Move all the current KPI cards, filters and tabs under 'Loan Analytics' unchanged. On 'Technical Analysis', import StockTechnicalAnalyzer from analyzer.py, add a st.text_input for the ticker and a st.selectbox for the period, run the analysis on a button click inside a st.spinner, then render the price-with-SMA chart, the RSI chart with 30/70 reference lines, and the BUY/SELL signals table, showing st.error if fetch_data returns False. On 'Risk Scoring', import run_pipeline from pipeline.py, run it on the filtered loan book, and show the Risk_Profile distribution bar chart, a scatter of Credit_Score against Calculated_Risk_Score coloured by Risk_Profile, the sector summary table, and a st.download_button for the scored CSV. Cache the yfinance call with @st.cache_data."</a:t>
            </a:r>
          </a:p>
        </p:txBody>
      </p:sp>
      <p:sp>
        <p:nvSpPr>
          <p:cNvPr id="23" name="Rectangle 22"/>
          <p:cNvSpPr/>
          <p:nvPr/>
        </p:nvSpPr>
        <p:spPr>
          <a:xfrm>
            <a:off x="777240" y="4864608"/>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91032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10328"/>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901184"/>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changes to app.py and confirm the labs 49-50 Loan Analytics page still works exactly as before — a regression here means the refactor broke existing functionality.</a:t>
            </a:r>
          </a:p>
        </p:txBody>
      </p:sp>
      <p:sp>
        <p:nvSpPr>
          <p:cNvPr id="27" name="Rectangle 26"/>
          <p:cNvSpPr/>
          <p:nvPr/>
        </p:nvSpPr>
        <p:spPr>
          <a:xfrm>
            <a:off x="777240" y="5340096"/>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38581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85816"/>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76672"/>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app.</a:t>
            </a:r>
          </a:p>
        </p:txBody>
      </p:sp>
      <p:sp>
        <p:nvSpPr>
          <p:cNvPr id="31" name="Rectangle 30"/>
          <p:cNvSpPr/>
          <p:nvPr/>
        </p:nvSpPr>
        <p:spPr>
          <a:xfrm>
            <a:off x="7452360" y="5394960"/>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5394960"/>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streamlit run app.py</a:t>
            </a:r>
          </a:p>
        </p:txBody>
      </p:sp>
      <p:sp>
        <p:nvSpPr>
          <p:cNvPr id="33" name="Rectangle 32"/>
          <p:cNvSpPr/>
          <p:nvPr/>
        </p:nvSpPr>
        <p:spPr>
          <a:xfrm>
            <a:off x="777240" y="5815584"/>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0" y="5861304"/>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61304"/>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481328" y="5852160"/>
            <a:ext cx="96926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Navigate to Technical Analysis, enter a valid ticker and confirm both charts and the signals table render.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3 — Technical Analysis and Risk Scoring Pages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6136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366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Enter an invalid ticker and confirm the page shows an st.error message rather than a traceback — the Topic 5 error-handling discipline applied to a UI.</a:t>
            </a:r>
          </a:p>
        </p:txBody>
      </p:sp>
      <p:sp>
        <p:nvSpPr>
          <p:cNvPr id="11" name="Rectangle 10"/>
          <p:cNvSpPr/>
          <p:nvPr/>
        </p:nvSpPr>
        <p:spPr>
          <a:xfrm>
            <a:off x="777240" y="3535680"/>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63550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3550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3572256"/>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Navigate to Risk Scoring and confirm the Risk_Profile counts match the lab 57 value counts when no sidebar filters are applied.</a:t>
            </a:r>
          </a:p>
        </p:txBody>
      </p:sp>
      <p:sp>
        <p:nvSpPr>
          <p:cNvPr id="15" name="Rectangle 14"/>
          <p:cNvSpPr/>
          <p:nvPr/>
        </p:nvSpPr>
        <p:spPr>
          <a:xfrm>
            <a:off x="777240" y="4247388"/>
            <a:ext cx="10634472" cy="6202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34721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7210"/>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18" name="TextBox 17"/>
          <p:cNvSpPr txBox="1"/>
          <p:nvPr/>
        </p:nvSpPr>
        <p:spPr>
          <a:xfrm>
            <a:off x="1481328" y="4283964"/>
            <a:ext cx="9692640" cy="54711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Change a sidebar filter and confirm the Risk Scoring page recomputes on the filtered subset only.</a:t>
            </a:r>
          </a:p>
        </p:txBody>
      </p:sp>
      <p:sp>
        <p:nvSpPr>
          <p:cNvPr id="19" name="Rectangle 18"/>
          <p:cNvSpPr/>
          <p:nvPr/>
        </p:nvSpPr>
        <p:spPr>
          <a:xfrm>
            <a:off x="777240" y="4959096"/>
            <a:ext cx="10634472" cy="12405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53690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69052"/>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2" name="TextBox 21"/>
          <p:cNvSpPr txBox="1"/>
          <p:nvPr/>
        </p:nvSpPr>
        <p:spPr>
          <a:xfrm>
            <a:off x="1481328" y="4995672"/>
            <a:ext cx="5806440" cy="1167384"/>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Download the scored CSV from the app and verify it opens with the Calculated_Risk_Score and Risk_Profile columns present.</a:t>
            </a:r>
          </a:p>
        </p:txBody>
      </p:sp>
      <p:sp>
        <p:nvSpPr>
          <p:cNvPr id="23" name="Rectangle 22"/>
          <p:cNvSpPr/>
          <p:nvPr/>
        </p:nvSpPr>
        <p:spPr>
          <a:xfrm>
            <a:off x="7452360" y="5295900"/>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5295900"/>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python -c "import pandas as pd; print(pd.read_csv('~/Downloads/scored_loans.csv').columns.tolist())"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Part 3 — Technical Analysis and Risk Scoring Pages</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three pages load from the sidebar radio; the Loan Analytics page is unchanged from lab 50; an invalid ticker shows st.error not a traceback; the unfiltered Risk_Profile counts match lab 57 exactly.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Finale — Test, Polish and Deploy the Analytics App</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2264"/>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57984"/>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62</a:t>
            </a:r>
          </a:p>
        </p:txBody>
      </p:sp>
      <p:sp>
        <p:nvSpPr>
          <p:cNvPr id="9" name="TextBox 8"/>
          <p:cNvSpPr txBox="1"/>
          <p:nvPr/>
        </p:nvSpPr>
        <p:spPr>
          <a:xfrm>
            <a:off x="777240" y="2752344"/>
            <a:ext cx="10698480" cy="1755648"/>
          </a:xfrm>
          <a:prstGeom prst="rect">
            <a:avLst/>
          </a:prstGeom>
          <a:noFill/>
        </p:spPr>
        <p:txBody>
          <a:bodyPr wrap="square" anchor="t">
            <a:normAutofit fontScale="70000" lnSpcReduction="10000"/>
          </a:bodyPr>
          <a:lstStyle/>
          <a:p>
            <a:pPr algn="l">
              <a:spcAft>
                <a:spcPts val="400"/>
              </a:spcAft>
            </a:pPr>
            <a:r>
              <a:rPr sz="1500" b="0">
                <a:solidFill>
                  <a:srgbClr val="161B26"/>
                </a:solidFill>
                <a:latin typeface="Arial"/>
              </a:rPr>
              <a:t>The course finale. The learner completes the SAME app.py: adds an executive summary header with the headline KPIs, caching on every expensive computation, a data-refresh control, error guards on every empty-data path, and an About page documenting the data source, the risk-model formula and its limitations — the model-transparency the earlier labs argued for. The app is then assessed against a gap checklist, its outputs are regression-tested against the lab 47, 48 and 57 numbers, and it is deployed either locally on the network or to Streamlit Community Cloud.</a:t>
            </a:r>
          </a:p>
        </p:txBody>
      </p:sp>
      <p:sp>
        <p:nvSpPr>
          <p:cNvPr id="10" name="Rectangle 9"/>
          <p:cNvSpPr/>
          <p:nvPr/>
        </p:nvSpPr>
        <p:spPr>
          <a:xfrm>
            <a:off x="777240" y="4690872"/>
            <a:ext cx="10698480"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855464"/>
            <a:ext cx="10058400" cy="310896"/>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5202936"/>
            <a:ext cx="10241280" cy="457200"/>
          </a:xfrm>
          <a:prstGeom prst="rect">
            <a:avLst/>
          </a:prstGeom>
          <a:noFill/>
        </p:spPr>
        <p:txBody>
          <a:bodyPr wrap="square" anchor="t">
            <a:normAutofit fontScale="70000" lnSpcReduction="10000"/>
          </a:bodyPr>
          <a:lstStyle/>
          <a:p>
            <a:pPr algn="l">
              <a:spcAft>
                <a:spcPts val="400"/>
              </a:spcAft>
            </a:pPr>
            <a:r>
              <a:rPr sz="1600" b="1">
                <a:solidFill>
                  <a:srgbClr val="161B26"/>
                </a:solidFill>
                <a:latin typeface="Arial"/>
              </a:rPr>
              <a:t>The finished, tested and deployed Portfolio &amp; Loan Analytics application with a README and a passing test suite.</a:t>
            </a:r>
          </a:p>
        </p:txBody>
      </p:sp>
      <p:sp>
        <p:nvSpPr>
          <p:cNvPr id="13" name="TextBox 12"/>
          <p:cNvSpPr txBox="1"/>
          <p:nvPr/>
        </p:nvSpPr>
        <p:spPr>
          <a:xfrm>
            <a:off x="1005840" y="57424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uv, Streamlit, pandas, pytest, Git, Streamlit Community Cloud, VS Code / Cursor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Finale — Test, Polish and Deploy the Analytics App  (1/2)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4220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50763" cy="350763"/>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50763" cy="350763"/>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5806440" cy="369051"/>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Return to the capstone app folder — this is the final edit of the same app.py.</a:t>
            </a:r>
          </a:p>
        </p:txBody>
      </p:sp>
      <p:sp>
        <p:nvSpPr>
          <p:cNvPr id="11" name="Rectangle 10"/>
          <p:cNvSpPr/>
          <p:nvPr/>
        </p:nvSpPr>
        <p:spPr>
          <a:xfrm>
            <a:off x="7452360" y="2258568"/>
            <a:ext cx="3886200" cy="332475"/>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2258568"/>
            <a:ext cx="3648456" cy="332475"/>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cd loan-analytics-app</a:t>
            </a:r>
          </a:p>
        </p:txBody>
      </p:sp>
      <p:sp>
        <p:nvSpPr>
          <p:cNvPr id="13" name="Rectangle 12"/>
          <p:cNvSpPr/>
          <p:nvPr/>
        </p:nvSpPr>
        <p:spPr>
          <a:xfrm>
            <a:off x="777240" y="2737347"/>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83067"/>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83067"/>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73923"/>
            <a:ext cx="96926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Assess the app against a gap checklist and write down every failure: does every page handle an empty filtered frame? Is every expensive call cached? Does any number appear without units or a currency? Is the risk formula documented anywhere in the UI?</a:t>
            </a:r>
          </a:p>
        </p:txBody>
      </p:sp>
      <p:sp>
        <p:nvSpPr>
          <p:cNvPr id="17" name="Rectangle 16"/>
          <p:cNvSpPr/>
          <p:nvPr/>
        </p:nvSpPr>
        <p:spPr>
          <a:xfrm>
            <a:off x="777240" y="3270991"/>
            <a:ext cx="10634472" cy="13858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5361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53611"/>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307567"/>
            <a:ext cx="9692640" cy="1312713"/>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Prompt your AI assistant: "Review and complete this Streamlit app. Add an executive summary banner at the top of every page showing total applications, approval rate and total risk-adjusted exposure. Add @st.cache_data to every expensive computation with a Refresh Data button calling st.cache_data.clear(). Add an 'About &amp; Methodology' page documenting the data source, the exact risk-score formula, the Risk_Profile band thresholds, the SMA and RSI parameters and a plain-English limitations section. Add empty-state guards so every chart shows an informative message instead of raising when the filtered DataFrame is empty. Finally write a requirements.txt and a README.md with run instructions."</a:t>
            </a:r>
          </a:p>
        </p:txBody>
      </p:sp>
      <p:sp>
        <p:nvSpPr>
          <p:cNvPr id="21" name="Rectangle 20"/>
          <p:cNvSpPr/>
          <p:nvPr/>
        </p:nvSpPr>
        <p:spPr>
          <a:xfrm>
            <a:off x="777240" y="4748296"/>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794016"/>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794016"/>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4" name="TextBox 23"/>
          <p:cNvSpPr txBox="1"/>
          <p:nvPr/>
        </p:nvSpPr>
        <p:spPr>
          <a:xfrm>
            <a:off x="1481328" y="4784872"/>
            <a:ext cx="96926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Apply the changes, then write regression tests asserting the app's helper functions reproduce the known numbers from labs 47, 48 and 57.</a:t>
            </a:r>
          </a:p>
        </p:txBody>
      </p:sp>
      <p:sp>
        <p:nvSpPr>
          <p:cNvPr id="25" name="Rectangle 24"/>
          <p:cNvSpPr/>
          <p:nvPr/>
        </p:nvSpPr>
        <p:spPr>
          <a:xfrm>
            <a:off x="777240" y="528194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327660"/>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27660"/>
            <a:ext cx="292608" cy="29260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28" name="TextBox 27"/>
          <p:cNvSpPr txBox="1"/>
          <p:nvPr/>
        </p:nvSpPr>
        <p:spPr>
          <a:xfrm>
            <a:off x="1481328" y="5318516"/>
            <a:ext cx="5806440" cy="310896"/>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regression suite.</a:t>
            </a:r>
          </a:p>
        </p:txBody>
      </p:sp>
      <p:sp>
        <p:nvSpPr>
          <p:cNvPr id="29" name="Rectangle 28"/>
          <p:cNvSpPr/>
          <p:nvPr/>
        </p:nvSpPr>
        <p:spPr>
          <a:xfrm>
            <a:off x="7452360" y="5336804"/>
            <a:ext cx="3886200" cy="2743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5336804"/>
            <a:ext cx="3648456" cy="274320"/>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pytest -v</a:t>
            </a:r>
          </a:p>
        </p:txBody>
      </p:sp>
      <p:sp>
        <p:nvSpPr>
          <p:cNvPr id="31" name="Rectangle 30"/>
          <p:cNvSpPr/>
          <p:nvPr/>
        </p:nvSpPr>
        <p:spPr>
          <a:xfrm>
            <a:off x="777240" y="5757428"/>
            <a:ext cx="10634472" cy="4422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803148"/>
            <a:ext cx="350764" cy="3507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03148"/>
            <a:ext cx="350764" cy="350764"/>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4" name="TextBox 33"/>
          <p:cNvSpPr txBox="1"/>
          <p:nvPr/>
        </p:nvSpPr>
        <p:spPr>
          <a:xfrm>
            <a:off x="1481328" y="5794004"/>
            <a:ext cx="5806440" cy="369052"/>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Run the app and click through all four pages under three different filter combinations, including one that yields zero rows.</a:t>
            </a:r>
          </a:p>
        </p:txBody>
      </p:sp>
      <p:sp>
        <p:nvSpPr>
          <p:cNvPr id="35" name="Rectangle 34"/>
          <p:cNvSpPr/>
          <p:nvPr/>
        </p:nvSpPr>
        <p:spPr>
          <a:xfrm>
            <a:off x="7452360" y="5812292"/>
            <a:ext cx="3886200" cy="3324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231" y="5812292"/>
            <a:ext cx="3648456" cy="332476"/>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streamlit run app.py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STEPS</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Finale — Test, Polish and Deploy the Analytics App  (2/2)</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03704"/>
            <a:ext cx="10634472" cy="4537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249424"/>
            <a:ext cx="362331" cy="36233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362331" cy="362331"/>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0" name="TextBox 9"/>
          <p:cNvSpPr txBox="1"/>
          <p:nvPr/>
        </p:nvSpPr>
        <p:spPr>
          <a:xfrm>
            <a:off x="1481328" y="2240280"/>
            <a:ext cx="9692640" cy="38061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Confirm the zero-row case shows informative messages on every page with no traceback in the terminal.</a:t>
            </a:r>
          </a:p>
        </p:txBody>
      </p:sp>
      <p:sp>
        <p:nvSpPr>
          <p:cNvPr id="11" name="Rectangle 10"/>
          <p:cNvSpPr/>
          <p:nvPr/>
        </p:nvSpPr>
        <p:spPr>
          <a:xfrm>
            <a:off x="777240" y="2748915"/>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99237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92374"/>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4" name="TextBox 13"/>
          <p:cNvSpPr txBox="1"/>
          <p:nvPr/>
        </p:nvSpPr>
        <p:spPr>
          <a:xfrm>
            <a:off x="1481328" y="2785491"/>
            <a:ext cx="58064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Serve the app on the local network so a colleague can open it from their own machine.</a:t>
            </a:r>
          </a:p>
        </p:txBody>
      </p:sp>
      <p:sp>
        <p:nvSpPr>
          <p:cNvPr id="15" name="Rectangle 14"/>
          <p:cNvSpPr/>
          <p:nvPr/>
        </p:nvSpPr>
        <p:spPr>
          <a:xfrm>
            <a:off x="7452360" y="2919222"/>
            <a:ext cx="38862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1" y="2919222"/>
            <a:ext cx="3648456" cy="566928"/>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run streamlit run app.py --server.address 0.0.0.0 --server.port 8501</a:t>
            </a:r>
          </a:p>
        </p:txBody>
      </p:sp>
      <p:sp>
        <p:nvSpPr>
          <p:cNvPr id="17" name="Rectangle 16"/>
          <p:cNvSpPr/>
          <p:nvPr/>
        </p:nvSpPr>
        <p:spPr>
          <a:xfrm>
            <a:off x="777240" y="3747897"/>
            <a:ext cx="10634472" cy="4537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3793617"/>
            <a:ext cx="362331" cy="362331"/>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93617"/>
            <a:ext cx="362331" cy="362331"/>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81328" y="3784473"/>
            <a:ext cx="5806440" cy="380619"/>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Export the dependency list and initialise a Git repository for deployment.</a:t>
            </a:r>
          </a:p>
        </p:txBody>
      </p:sp>
      <p:sp>
        <p:nvSpPr>
          <p:cNvPr id="21" name="Rectangle 20"/>
          <p:cNvSpPr/>
          <p:nvPr/>
        </p:nvSpPr>
        <p:spPr>
          <a:xfrm>
            <a:off x="7452360" y="3802761"/>
            <a:ext cx="3886200" cy="34404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3802761"/>
            <a:ext cx="3648456" cy="344043"/>
          </a:xfrm>
          <a:prstGeom prst="rect">
            <a:avLst/>
          </a:prstGeom>
          <a:noFill/>
        </p:spPr>
        <p:txBody>
          <a:bodyPr wrap="square" anchor="ctr">
            <a:normAutofit fontScale="55000" lnSpcReduction="10000"/>
          </a:bodyPr>
          <a:lstStyle/>
          <a:p>
            <a:pPr algn="l">
              <a:spcAft>
                <a:spcPts val="400"/>
              </a:spcAft>
            </a:pPr>
            <a:r>
              <a:rPr sz="1000" b="0">
                <a:solidFill>
                  <a:srgbClr val="9CDCFE"/>
                </a:solidFill>
                <a:latin typeface="Arial"/>
              </a:rPr>
              <a:t>$ uv export --no-hashes --format requirements-txt &gt; requirements.txt &amp;&amp; git init &amp;&amp; git add . &amp;&amp; git commit -m 'Portfolio &amp; Loan Analytics capstone'</a:t>
            </a:r>
          </a:p>
        </p:txBody>
      </p:sp>
      <p:sp>
        <p:nvSpPr>
          <p:cNvPr id="23" name="Rectangle 22"/>
          <p:cNvSpPr/>
          <p:nvPr/>
        </p:nvSpPr>
        <p:spPr>
          <a:xfrm>
            <a:off x="777240" y="4293108"/>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453656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36567"/>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329684"/>
            <a:ext cx="96926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Deploy: push to GitHub and connect the repository at share.streamlit.io, selecting app.py as the entry point, then open the public URL and verify every page works in the cloud.</a:t>
            </a:r>
          </a:p>
        </p:txBody>
      </p:sp>
      <p:sp>
        <p:nvSpPr>
          <p:cNvPr id="27" name="Rectangle 26"/>
          <p:cNvSpPr/>
          <p:nvPr/>
        </p:nvSpPr>
        <p:spPr>
          <a:xfrm>
            <a:off x="777240" y="5292090"/>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553554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535549"/>
            <a:ext cx="420624" cy="420624"/>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81328" y="5328666"/>
            <a:ext cx="9692640" cy="834390"/>
          </a:xfrm>
          <a:prstGeom prst="rect">
            <a:avLst/>
          </a:prstGeom>
          <a:noFill/>
        </p:spPr>
        <p:txBody>
          <a:bodyPr wrap="square" anchor="ctr">
            <a:normAutofit fontScale="62000" lnSpcReduction="10000"/>
          </a:bodyPr>
          <a:lstStyle/>
          <a:p>
            <a:pPr algn="l">
              <a:spcAft>
                <a:spcPts val="400"/>
              </a:spcAft>
            </a:pPr>
            <a:r>
              <a:rPr sz="1200" b="0">
                <a:solidFill>
                  <a:srgbClr val="161B26"/>
                </a:solidFill>
                <a:latin typeface="Arial"/>
              </a:rPr>
              <a:t>Present your app: walk through one business question — for example 'which employment sector carries our highest risk-adjusted exposure?' — and answer it live using only the dashboard, without touching Python.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929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VERIFY</a:t>
            </a:r>
          </a:p>
        </p:txBody>
      </p:sp>
      <p:sp>
        <p:nvSpPr>
          <p:cNvPr id="5" name="TextBox 4"/>
          <p:cNvSpPr txBox="1"/>
          <p:nvPr/>
        </p:nvSpPr>
        <p:spPr>
          <a:xfrm>
            <a:off x="777240" y="822960"/>
            <a:ext cx="10744200" cy="1097280"/>
          </a:xfrm>
          <a:prstGeom prst="rect">
            <a:avLst/>
          </a:prstGeom>
          <a:noFill/>
        </p:spPr>
        <p:txBody>
          <a:bodyPr wrap="square" anchor="t">
            <a:spAutoFit/>
          </a:bodyPr>
          <a:lstStyle/>
          <a:p>
            <a:pPr algn="l">
              <a:spcAft>
                <a:spcPts val="400"/>
              </a:spcAft>
            </a:pPr>
            <a:r>
              <a:rPr sz="2900" b="1">
                <a:solidFill>
                  <a:srgbClr val="161B26"/>
                </a:solidFill>
                <a:latin typeface="Arial"/>
              </a:rPr>
              <a:t>Streamlit Capstone Finale — Test, Polish and Deploy the Analytics App</a:t>
            </a:r>
          </a:p>
        </p:txBody>
      </p:sp>
      <p:sp>
        <p:nvSpPr>
          <p:cNvPr id="6" name="Rectangle 5"/>
          <p:cNvSpPr/>
          <p:nvPr/>
        </p:nvSpPr>
        <p:spPr>
          <a:xfrm>
            <a:off x="777240" y="1975104"/>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pytest passes; all four pages render under every filter combination including the empty case; the deployed URL loads and reproduces the same KPI values as the local app; a non-programmer can answer a business question using only the UI.</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Recap — Analyze Finance Data</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1700" b="0">
                <a:solidFill>
                  <a:srgbClr val="161B26"/>
                </a:solidFill>
                <a:latin typeface="Arial"/>
              </a:rPr>
              <a:t>•  You can now: LO8: Use .apply() with axis=1 to run a multi-column risk calculation across every row of a finance DataFrame.</a:t>
            </a:r>
          </a:p>
          <a:p>
            <a:pPr>
              <a:spcAft>
                <a:spcPts val="1000"/>
              </a:spcAft>
            </a:pPr>
            <a:r>
              <a:rPr sz="1700" b="0">
                <a:solidFill>
                  <a:srgbClr val="161B26"/>
                </a:solidFill>
                <a:latin typeface="Arial"/>
              </a:rPr>
              <a:t>•  You can now: LO8: Choose between lambda and named functions in apply, and assess code to identify readability and testability gaps.</a:t>
            </a:r>
          </a:p>
          <a:p>
            <a:pPr>
              <a:spcAft>
                <a:spcPts val="1000"/>
              </a:spcAft>
            </a:pPr>
            <a:r>
              <a:rPr sz="1700" b="0">
                <a:solidFill>
                  <a:srgbClr val="161B26"/>
                </a:solidFill>
                <a:latin typeface="Arial"/>
              </a:rPr>
              <a:t>•  You can now: LO8: Chain transformations into a readable, testable data pipeline using .pipe().</a:t>
            </a:r>
          </a:p>
          <a:p>
            <a:pPr>
              <a:spcAft>
                <a:spcPts val="1000"/>
              </a:spcAft>
            </a:pPr>
            <a:r>
              <a:rPr sz="1700" b="0">
                <a:solidFill>
                  <a:srgbClr val="161B26"/>
                </a:solidFill>
                <a:latin typeface="Arial"/>
              </a:rPr>
              <a:t>•  You can now: LO8: Apply descriptive statistics to summarise risk and return, and track trend, volatility and drawdown over time.</a:t>
            </a:r>
          </a:p>
          <a:p>
            <a:pPr>
              <a:spcAft>
                <a:spcPts val="1000"/>
              </a:spcAft>
            </a:pPr>
            <a:r>
              <a:rPr sz="1700" b="0">
                <a:solidFill>
                  <a:srgbClr val="161B26"/>
                </a:solidFill>
                <a:latin typeface="Arial"/>
              </a:rPr>
              <a:t>•  You can now: LO8: Integrate the OOP analyzer and the apply/pipe pipeline into the Streamlit application as new interactive pages.</a:t>
            </a:r>
          </a:p>
          <a:p>
            <a:pPr>
              <a:spcAft>
                <a:spcPts val="1000"/>
              </a:spcAft>
            </a:pPr>
            <a:r>
              <a:rPr sz="1700" b="0">
                <a:solidFill>
                  <a:srgbClr val="161B26"/>
                </a:solidFill>
                <a:latin typeface="Arial"/>
              </a:rPr>
              <a:t>•  You can now: LO8: Assess the completed application to identify gaps, test the results, and deploy the finished capstone.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9395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23669"/>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2366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LO1</a:t>
            </a:r>
          </a:p>
          <a:p>
            <a:pPr algn="l">
              <a:spcAft>
                <a:spcPts val="300"/>
              </a:spcAft>
            </a:pPr>
            <a:r>
              <a:rPr sz="900" b="0">
                <a:solidFill>
                  <a:srgbClr val="5B6372"/>
                </a:solidFill>
                <a:latin typeface="Arial"/>
              </a:rPr>
              <a:t>Translate business requirements in financial services into Python programming objectives, and set up an AI-assisted…</a:t>
            </a:r>
          </a:p>
        </p:txBody>
      </p:sp>
      <p:sp>
        <p:nvSpPr>
          <p:cNvPr id="12" name="Rectangle 11"/>
          <p:cNvSpPr/>
          <p:nvPr/>
        </p:nvSpPr>
        <p:spPr>
          <a:xfrm>
            <a:off x="6231636" y="172821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9395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23669"/>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2366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LO2</a:t>
            </a:r>
          </a:p>
          <a:p>
            <a:pPr algn="l">
              <a:spcAft>
                <a:spcPts val="300"/>
              </a:spcAft>
            </a:pPr>
            <a:r>
              <a:rPr sz="900" b="0">
                <a:solidFill>
                  <a:srgbClr val="5B6372"/>
                </a:solidFill>
                <a:latin typeface="Arial"/>
              </a:rPr>
              <a:t>Apply Python data types, operators and control structures to solve financial calculation and classification problems.</a:t>
            </a:r>
          </a:p>
        </p:txBody>
      </p:sp>
      <p:sp>
        <p:nvSpPr>
          <p:cNvPr id="17" name="Rectangle 16"/>
          <p:cNvSpPr/>
          <p:nvPr/>
        </p:nvSpPr>
        <p:spPr>
          <a:xfrm>
            <a:off x="777240" y="290550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05506"/>
            <a:ext cx="91440" cy="9395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00959"/>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0095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3352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LO3</a:t>
            </a:r>
          </a:p>
          <a:p>
            <a:pPr algn="l">
              <a:spcAft>
                <a:spcPts val="300"/>
              </a:spcAft>
            </a:pPr>
            <a:r>
              <a:rPr sz="900" b="0">
                <a:solidFill>
                  <a:srgbClr val="5B6372"/>
                </a:solidFill>
                <a:latin typeface="Arial"/>
              </a:rPr>
              <a:t>Construct reusable functions and lambda expressions to compute financial ratios and metrics for business use cases.</a:t>
            </a:r>
          </a:p>
        </p:txBody>
      </p:sp>
      <p:sp>
        <p:nvSpPr>
          <p:cNvPr id="22" name="Rectangle 21"/>
          <p:cNvSpPr/>
          <p:nvPr/>
        </p:nvSpPr>
        <p:spPr>
          <a:xfrm>
            <a:off x="6231636" y="290550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05506"/>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00959"/>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0095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3352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LO4</a:t>
            </a:r>
          </a:p>
          <a:p>
            <a:pPr algn="l">
              <a:spcAft>
                <a:spcPts val="300"/>
              </a:spcAft>
            </a:pPr>
            <a:r>
              <a:rPr sz="900" b="0">
                <a:solidFill>
                  <a:srgbClr val="5B6372"/>
                </a:solidFill>
                <a:latin typeface="Arial"/>
              </a:rPr>
              <a:t>Implement error handling to build robust financial programs that survive missing, zero or malformed market data.</a:t>
            </a:r>
          </a:p>
        </p:txBody>
      </p:sp>
      <p:sp>
        <p:nvSpPr>
          <p:cNvPr id="27" name="Rectangle 26"/>
          <p:cNvSpPr/>
          <p:nvPr/>
        </p:nvSpPr>
        <p:spPr>
          <a:xfrm>
            <a:off x="777240" y="408279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2796"/>
            <a:ext cx="91440" cy="9395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8249"/>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824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081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LO5</a:t>
            </a:r>
          </a:p>
          <a:p>
            <a:pPr algn="l">
              <a:spcAft>
                <a:spcPts val="300"/>
              </a:spcAft>
            </a:pPr>
            <a:r>
              <a:rPr sz="900" b="0">
                <a:solidFill>
                  <a:srgbClr val="5B6372"/>
                </a:solidFill>
                <a:latin typeface="Arial"/>
              </a:rPr>
              <a:t>Import, clean, filter and process financial data using the pandas package.</a:t>
            </a:r>
          </a:p>
        </p:txBody>
      </p:sp>
      <p:sp>
        <p:nvSpPr>
          <p:cNvPr id="32" name="Rectangle 31"/>
          <p:cNvSpPr/>
          <p:nvPr/>
        </p:nvSpPr>
        <p:spPr>
          <a:xfrm>
            <a:off x="6231636" y="408279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2796"/>
            <a:ext cx="91440" cy="9395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8249"/>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824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081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LO6</a:t>
            </a:r>
          </a:p>
          <a:p>
            <a:pPr algn="l">
              <a:spcAft>
                <a:spcPts val="300"/>
              </a:spcAft>
            </a:pPr>
            <a:r>
              <a:rPr sz="900" b="0">
                <a:solidFill>
                  <a:srgbClr val="5B6372"/>
                </a:solidFill>
                <a:latin typeface="Arial"/>
              </a:rPr>
              <a:t>Aggregate and visualise financial data with groupby, pivot tables and charts, and publish the results as an…</a:t>
            </a:r>
          </a:p>
        </p:txBody>
      </p:sp>
      <p:sp>
        <p:nvSpPr>
          <p:cNvPr id="37" name="Rectangle 36"/>
          <p:cNvSpPr/>
          <p:nvPr/>
        </p:nvSpPr>
        <p:spPr>
          <a:xfrm>
            <a:off x="777240" y="526008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60086"/>
            <a:ext cx="91440" cy="9395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55539"/>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5553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8810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LO7</a:t>
            </a:r>
          </a:p>
          <a:p>
            <a:pPr algn="l">
              <a:spcAft>
                <a:spcPts val="300"/>
              </a:spcAft>
            </a:pPr>
            <a:r>
              <a:rPr sz="900" b="0">
                <a:solidFill>
                  <a:srgbClr val="5B6372"/>
                </a:solidFill>
                <a:latin typeface="Arial"/>
              </a:rPr>
              <a:t>Apply object-oriented programming to model financial instruments and analysers.</a:t>
            </a:r>
          </a:p>
        </p:txBody>
      </p:sp>
      <p:sp>
        <p:nvSpPr>
          <p:cNvPr id="42" name="Rectangle 41"/>
          <p:cNvSpPr/>
          <p:nvPr/>
        </p:nvSpPr>
        <p:spPr>
          <a:xfrm>
            <a:off x="6231636" y="5260086"/>
            <a:ext cx="5180076" cy="9395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60086"/>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55539"/>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55539"/>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88102"/>
            <a:ext cx="3973068" cy="756666"/>
          </a:xfrm>
          <a:prstGeom prst="rect">
            <a:avLst/>
          </a:prstGeom>
          <a:noFill/>
        </p:spPr>
        <p:txBody>
          <a:bodyPr wrap="square" anchor="ctr">
            <a:spAutoFit/>
          </a:bodyPr>
          <a:lstStyle/>
          <a:p>
            <a:pPr algn="l">
              <a:spcAft>
                <a:spcPts val="300"/>
              </a:spcAft>
            </a:pPr>
            <a:r>
              <a:rPr sz="1300" b="1">
                <a:solidFill>
                  <a:srgbClr val="161B26"/>
                </a:solidFill>
                <a:latin typeface="Arial"/>
              </a:rPr>
              <a:t>LO8</a:t>
            </a:r>
          </a:p>
          <a:p>
            <a:pPr algn="l">
              <a:spcAft>
                <a:spcPts val="300"/>
              </a:spcAft>
            </a:pPr>
            <a:r>
              <a:rPr sz="900" b="0">
                <a:solidFill>
                  <a:srgbClr val="5B6372"/>
                </a:solidFill>
                <a:latin typeface="Arial"/>
              </a:rPr>
              <a:t>Analyse financial data using apply and pipe pipelines, assess code to identify gaps, and test the results.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Continuing Your Python Journey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2821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28216"/>
            <a:ext cx="91440"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1231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123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5623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lab from a blank folder until uv init, uv add and the pandas workflow are automatic.</a:t>
            </a:r>
          </a:p>
        </p:txBody>
      </p:sp>
      <p:sp>
        <p:nvSpPr>
          <p:cNvPr id="12" name="Rectangle 11"/>
          <p:cNvSpPr/>
          <p:nvPr/>
        </p:nvSpPr>
        <p:spPr>
          <a:xfrm>
            <a:off x="6231636" y="172821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28216"/>
            <a:ext cx="91440"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1231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123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5623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Extend the capstone</a:t>
            </a:r>
          </a:p>
          <a:p>
            <a:pPr algn="l">
              <a:spcAft>
                <a:spcPts val="300"/>
              </a:spcAft>
            </a:pPr>
            <a:r>
              <a:rPr sz="1200" b="0">
                <a:solidFill>
                  <a:srgbClr val="5B6372"/>
                </a:solidFill>
                <a:latin typeface="Arial"/>
              </a:rPr>
              <a:t>Add your own data source, metric or page to the Streamlit dashboard you built.</a:t>
            </a:r>
          </a:p>
        </p:txBody>
      </p:sp>
      <p:sp>
        <p:nvSpPr>
          <p:cNvPr id="17" name="Rectangle 16"/>
          <p:cNvSpPr/>
          <p:nvPr/>
        </p:nvSpPr>
        <p:spPr>
          <a:xfrm>
            <a:off x="777240" y="408279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2796"/>
            <a:ext cx="91440"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6689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6689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081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Automate one real task</a:t>
            </a:r>
          </a:p>
          <a:p>
            <a:pPr algn="l">
              <a:spcAft>
                <a:spcPts val="300"/>
              </a:spcAft>
            </a:pPr>
            <a:r>
              <a:rPr sz="1200" b="0">
                <a:solidFill>
                  <a:srgbClr val="5B6372"/>
                </a:solidFill>
                <a:latin typeface="Arial"/>
              </a:rPr>
              <a:t>Pick a manual spreadsheet task in your own role and replace it with a documented script.</a:t>
            </a:r>
          </a:p>
        </p:txBody>
      </p:sp>
      <p:sp>
        <p:nvSpPr>
          <p:cNvPr id="22" name="Rectangle 21"/>
          <p:cNvSpPr/>
          <p:nvPr/>
        </p:nvSpPr>
        <p:spPr>
          <a:xfrm>
            <a:off x="6231636" y="4082796"/>
            <a:ext cx="5180076"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2796"/>
            <a:ext cx="91440"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6689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6689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0812"/>
            <a:ext cx="3973068" cy="1933956"/>
          </a:xfrm>
          <a:prstGeom prst="rect">
            <a:avLst/>
          </a:prstGeom>
          <a:noFill/>
        </p:spPr>
        <p:txBody>
          <a:bodyPr wrap="square" anchor="ctr">
            <a:spAutoFit/>
          </a:bodyPr>
          <a:lstStyle/>
          <a:p>
            <a:pPr algn="l">
              <a:spcAft>
                <a:spcPts val="300"/>
              </a:spcAft>
            </a:pPr>
            <a:r>
              <a:rPr sz="1600" b="1">
                <a:solidFill>
                  <a:srgbClr val="161B26"/>
                </a:solidFill>
                <a:latin typeface="Arial"/>
              </a:rPr>
              <a:t>Keep the AI honest</a:t>
            </a:r>
          </a:p>
          <a:p>
            <a:pPr algn="l">
              <a:spcAft>
                <a:spcPts val="300"/>
              </a:spcAft>
            </a:pPr>
            <a:r>
              <a:rPr sz="1200" b="0">
                <a:solidFill>
                  <a:srgbClr val="5B6372"/>
                </a:solidFill>
                <a:latin typeface="Arial"/>
              </a:rPr>
              <a:t>Continue prompting AI tools for first drafts — and continue testing every line they produce.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TEST YOURSELF</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Sharpen your readiness with the Tertiary Infotech practice exams.</a:t>
            </a:r>
          </a:p>
          <a:p>
            <a:pPr>
              <a:spcAft>
                <a:spcPts val="1000"/>
              </a:spcAft>
            </a:pPr>
            <a:r>
              <a:rPr sz="2000" b="0">
                <a:solidFill>
                  <a:srgbClr val="161B26"/>
                </a:solidFill>
                <a:latin typeface="Arial"/>
              </a:rPr>
              <a:t>•  Practice exams: https://exams.tertiaryinfotech.com</a:t>
            </a:r>
          </a:p>
          <a:p>
            <a:pPr>
              <a:spcAft>
                <a:spcPts val="1000"/>
              </a:spcAft>
            </a:pPr>
            <a:r>
              <a:rPr sz="2000" b="0">
                <a:solidFill>
                  <a:srgbClr val="161B26"/>
                </a:solidFill>
                <a:latin typeface="Arial"/>
              </a:rPr>
              <a:t>•  Attempt the questions under timed conditions and review every explanation.</a:t>
            </a:r>
          </a:p>
          <a:p>
            <a:pPr>
              <a:spcAft>
                <a:spcPts val="1000"/>
              </a:spcAft>
            </a:pPr>
            <a:r>
              <a:rPr sz="2000" b="0">
                <a:solidFill>
                  <a:srgbClr val="161B26"/>
                </a:solidFill>
                <a:latin typeface="Arial"/>
              </a:rPr>
              <a:t>•  Revisit any lab whose topic you miss, then re-take the practice questions.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Written Assessment (WA) — Short-Answer Questions (SAQ), open-ended, 1 hour, open book.</a:t>
            </a:r>
          </a:p>
          <a:p>
            <a:pPr>
              <a:spcAft>
                <a:spcPts val="1000"/>
              </a:spcAft>
            </a:pPr>
            <a:r>
              <a:rPr sz="2000" b="0">
                <a:solidFill>
                  <a:srgbClr val="161B26"/>
                </a:solidFill>
                <a:latin typeface="Arial"/>
              </a:rPr>
              <a:t>•  Practical Test (PP) — 7 open-ended practical tasks based on the Financial Data Solutions Inc. scenario, mapped to abilities A1.1–A1.9, 120 minutes, open book.</a:t>
            </a:r>
          </a:p>
          <a:p>
            <a:pPr>
              <a:spcAft>
                <a:spcPts val="1000"/>
              </a:spcAft>
            </a:pPr>
            <a:r>
              <a:rPr sz="2000" b="0">
                <a:solidFill>
                  <a:srgbClr val="161B26"/>
                </a:solidFill>
                <a:latin typeface="Arial"/>
              </a:rPr>
              <a:t>•  Passing score: 80%.</a:t>
            </a:r>
          </a:p>
          <a:p>
            <a:pPr>
              <a:spcAft>
                <a:spcPts val="1000"/>
              </a:spcAft>
            </a:pPr>
            <a:r>
              <a:rPr sz="2000" b="0">
                <a:solidFill>
                  <a:srgbClr val="161B26"/>
                </a:solidFill>
                <a:latin typeface="Arial"/>
              </a:rPr>
              <a:t>•  Open book: slides, Learner Guide and lab files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QR code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the Practical Test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and code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53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DIGITAL ATTENDANCE</a:t>
            </a:r>
          </a:p>
        </p:txBody>
      </p:sp>
      <p:sp>
        <p:nvSpPr>
          <p:cNvPr id="5" name="TextBox 4"/>
          <p:cNvSpPr txBox="1"/>
          <p:nvPr/>
        </p:nvSpPr>
        <p:spPr>
          <a:xfrm>
            <a:off x="777240" y="822960"/>
            <a:ext cx="10744200" cy="62179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499616"/>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0607040" cy="4471416"/>
          </a:xfrm>
          <a:prstGeom prst="rect">
            <a:avLst/>
          </a:prstGeom>
          <a:noFill/>
        </p:spPr>
        <p:txBody>
          <a:bodyPr wrap="square">
            <a:normAutofit fontScale="62000" lnSpcReduction="10000"/>
          </a:bodyPr>
          <a:lstStyle/>
          <a:p>
            <a:pPr>
              <a:spcAft>
                <a:spcPts val="1000"/>
              </a:spcAft>
            </a:pPr>
            <a:r>
              <a:rPr sz="2000" b="0">
                <a:solidFill>
                  <a:srgbClr val="161B26"/>
                </a:solidFill>
                <a:latin typeface="Arial"/>
              </a:rPr>
              <a:t>•  It is mandatory to take the AM, PM and Assessment digital attendance for this funded course.</a:t>
            </a:r>
          </a:p>
          <a:p>
            <a:pPr>
              <a:spcAft>
                <a:spcPts val="1000"/>
              </a:spcAft>
            </a:pPr>
            <a:r>
              <a:rPr sz="2000" b="0">
                <a:solidFill>
                  <a:srgbClr val="161B26"/>
                </a:solidFill>
                <a:latin typeface="Arial"/>
              </a:rPr>
              <a:t>•  The trainer/administrator displays the digital attendance QR code from the training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IBF-STS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WELL DONE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test and deploy AI-assisted Python programs for financial analysis — from a business requirement to a working Streamlit application.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Assisted Python Programming for Finance  ·  TGS-2025052659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